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Now Bold" charset="1" panose="00000800000000000000"/>
      <p:regular r:id="rId45"/>
    </p:embeddedFont>
    <p:embeddedFont>
      <p:font typeface="Canva Sans" charset="1" panose="020B0503030501040103"/>
      <p:regular r:id="rId46"/>
    </p:embeddedFont>
    <p:embeddedFont>
      <p:font typeface="DM Sans" charset="1" panose="00000000000000000000"/>
      <p:regular r:id="rId47"/>
    </p:embeddedFont>
    <p:embeddedFont>
      <p:font typeface="DM Sans Bold" charset="1" panose="00000000000000000000"/>
      <p:regular r:id="rId48"/>
    </p:embeddedFont>
    <p:embeddedFont>
      <p:font typeface="Canva Sans Bold" charset="1" panose="020B0803030501040103"/>
      <p:regular r:id="rId52"/>
    </p:embeddedFont>
    <p:embeddedFont>
      <p:font typeface="Open Sauce" charset="1" panose="0000050000000000000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notesMasters/notesMaster1.xml" Type="http://schemas.openxmlformats.org/officeDocument/2006/relationships/notesMaster"/><Relationship Id="rId5" Target="tableStyles.xml" Type="http://schemas.openxmlformats.org/officeDocument/2006/relationships/tableStyles"/><Relationship Id="rId50" Target="theme/theme2.xml" Type="http://schemas.openxmlformats.org/officeDocument/2006/relationships/theme"/><Relationship Id="rId51" Target="notesSlides/notesSlide1.xml" Type="http://schemas.openxmlformats.org/officeDocument/2006/relationships/notesSlide"/><Relationship Id="rId52" Target="fonts/font52.fntdata" Type="http://schemas.openxmlformats.org/officeDocument/2006/relationships/font"/><Relationship Id="rId53" Target="notesSlides/notesSlide2.xml" Type="http://schemas.openxmlformats.org/officeDocument/2006/relationships/notesSlide"/><Relationship Id="rId54" Target="notesSlides/notesSlide3.xml" Type="http://schemas.openxmlformats.org/officeDocument/2006/relationships/notesSlide"/><Relationship Id="rId55" Target="fonts/font55.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Reprocess All Participants field defaults to No, so that the process affects only those plan participants not previously processed for this accrual term. To process all participants regardless of any previous processing, select Yes in this field.</a:t>
            </a:r>
          </a:p>
          <a:p>
            <a:r>
              <a:rPr lang="en-US"/>
              <a:t/>
            </a:r>
          </a:p>
          <a:p>
            <a:r>
              <a:rPr lang="en-US"/>
              <a:t>Important: Select Yes if any employees have retrospective absences or other entries that might affect net entitlement.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Carryover Validation </a:t>
            </a:r>
          </a:p>
          <a:p>
            <a:r>
              <a:rPr lang="en-US"/>
              <a:t/>
            </a:r>
          </a:p>
          <a:p>
            <a:r>
              <a:rPr lang="en-US"/>
              <a:t>find the element</a:t>
            </a:r>
          </a:p>
          <a:p>
            <a:r>
              <a:rPr lang="en-US"/>
              <a:t>at date 1/1/25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4.jpeg" Type="http://schemas.openxmlformats.org/officeDocument/2006/relationships/image"/><Relationship Id="rId12" Target="../media/image15.jpeg" Type="http://schemas.openxmlformats.org/officeDocument/2006/relationships/image"/><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1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2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2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2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2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3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8.png" Type="http://schemas.openxmlformats.org/officeDocument/2006/relationships/image"/><Relationship Id="rId4" Target="../media/image3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2.png" Type="http://schemas.openxmlformats.org/officeDocument/2006/relationships/image"/><Relationship Id="rId5" Target="../media/image4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png" Type="http://schemas.openxmlformats.org/officeDocument/2006/relationships/image"/><Relationship Id="rId4" Target="../media/image50.pn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 Id="rId4" Target="../media/image51.jpe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52.jpeg" Type="http://schemas.openxmlformats.org/officeDocument/2006/relationships/image"/><Relationship Id="rId8" Target="../media/image5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51.jpeg" Type="http://schemas.openxmlformats.org/officeDocument/2006/relationships/image"/><Relationship Id="rId6" Target="../media/image5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8.png" Type="http://schemas.openxmlformats.org/officeDocument/2006/relationships/image"/><Relationship Id="rId5" Target="../media/image5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svg" Type="http://schemas.openxmlformats.org/officeDocument/2006/relationships/image"/><Relationship Id="rId4" Target="../media/image8.pn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1392544" y="4154952"/>
            <a:ext cx="11958151" cy="1929323"/>
            <a:chOff x="0" y="0"/>
            <a:chExt cx="3149472" cy="508135"/>
          </a:xfrm>
        </p:grpSpPr>
        <p:sp>
          <p:nvSpPr>
            <p:cNvPr name="Freeform 3" id="3"/>
            <p:cNvSpPr/>
            <p:nvPr/>
          </p:nvSpPr>
          <p:spPr>
            <a:xfrm flipH="false" flipV="false" rot="0">
              <a:off x="0" y="0"/>
              <a:ext cx="3149472" cy="508135"/>
            </a:xfrm>
            <a:custGeom>
              <a:avLst/>
              <a:gdLst/>
              <a:ahLst/>
              <a:cxnLst/>
              <a:rect r="r" b="b" t="t" l="l"/>
              <a:pathLst>
                <a:path h="508135" w="3149472">
                  <a:moveTo>
                    <a:pt x="0" y="0"/>
                  </a:moveTo>
                  <a:lnTo>
                    <a:pt x="3149472" y="0"/>
                  </a:lnTo>
                  <a:lnTo>
                    <a:pt x="3149472" y="508135"/>
                  </a:lnTo>
                  <a:lnTo>
                    <a:pt x="0" y="508135"/>
                  </a:lnTo>
                  <a:close/>
                </a:path>
              </a:pathLst>
            </a:custGeom>
            <a:solidFill>
              <a:srgbClr val="145DA0"/>
            </a:solidFill>
          </p:spPr>
        </p:sp>
        <p:sp>
          <p:nvSpPr>
            <p:cNvPr name="TextBox 4" id="4"/>
            <p:cNvSpPr txBox="true"/>
            <p:nvPr/>
          </p:nvSpPr>
          <p:spPr>
            <a:xfrm>
              <a:off x="0" y="-28575"/>
              <a:ext cx="3149472" cy="536710"/>
            </a:xfrm>
            <a:prstGeom prst="rect">
              <a:avLst/>
            </a:prstGeom>
          </p:spPr>
          <p:txBody>
            <a:bodyPr anchor="ctr" rtlCol="false" tIns="50800" lIns="50800" bIns="50800" rIns="50800"/>
            <a:lstStyle/>
            <a:p>
              <a:pPr algn="ctr">
                <a:lnSpc>
                  <a:spcPts val="2590"/>
                </a:lnSpc>
              </a:pPr>
            </a:p>
          </p:txBody>
        </p:sp>
      </p:grpSp>
      <p:sp>
        <p:nvSpPr>
          <p:cNvPr name="Freeform 5" id="5"/>
          <p:cNvSpPr/>
          <p:nvPr/>
        </p:nvSpPr>
        <p:spPr>
          <a:xfrm flipH="false" flipV="false" rot="0">
            <a:off x="11208957" y="-1011147"/>
            <a:ext cx="2647750" cy="2647750"/>
          </a:xfrm>
          <a:custGeom>
            <a:avLst/>
            <a:gdLst/>
            <a:ahLst/>
            <a:cxnLst/>
            <a:rect r="r" b="b" t="t" l="l"/>
            <a:pathLst>
              <a:path h="2647750" w="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a:grpSpLocks noChangeAspect="true"/>
          </p:cNvGrpSpPr>
          <p:nvPr/>
        </p:nvGrpSpPr>
        <p:grpSpPr>
          <a:xfrm rot="0">
            <a:off x="10380940" y="649592"/>
            <a:ext cx="7516996" cy="8987817"/>
            <a:chOff x="0" y="0"/>
            <a:chExt cx="8603361" cy="10286746"/>
          </a:xfrm>
        </p:grpSpPr>
        <p:sp>
          <p:nvSpPr>
            <p:cNvPr name="Freeform 7" id="7"/>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a:blip r:embed="rId4"/>
              <a:stretch>
                <a:fillRect l="0" t="-12765" r="0" b="-12765"/>
              </a:stretch>
            </a:blipFill>
          </p:spPr>
        </p:sp>
      </p:grpSp>
      <p:sp>
        <p:nvSpPr>
          <p:cNvPr name="TextBox 8" id="8"/>
          <p:cNvSpPr txBox="true"/>
          <p:nvPr/>
        </p:nvSpPr>
        <p:spPr>
          <a:xfrm rot="0">
            <a:off x="1573748" y="3817948"/>
            <a:ext cx="10959085" cy="2038350"/>
          </a:xfrm>
          <a:prstGeom prst="rect">
            <a:avLst/>
          </a:prstGeom>
        </p:spPr>
        <p:txBody>
          <a:bodyPr anchor="t" rtlCol="false" tIns="0" lIns="0" bIns="0" rIns="0">
            <a:spAutoFit/>
          </a:bodyPr>
          <a:lstStyle/>
          <a:p>
            <a:pPr algn="l">
              <a:lnSpc>
                <a:spcPts val="5649"/>
              </a:lnSpc>
            </a:pPr>
            <a:r>
              <a:rPr lang="en-US" sz="4707" b="true">
                <a:solidFill>
                  <a:srgbClr val="FFFBFB"/>
                </a:solidFill>
                <a:latin typeface="Now Bold"/>
                <a:ea typeface="Now Bold"/>
                <a:cs typeface="Now Bold"/>
                <a:sym typeface="Now Bold"/>
              </a:rPr>
              <a:t>ABSENCE MANAGEMENT SETUP AND OPERATIONS </a:t>
            </a:r>
          </a:p>
          <a:p>
            <a:pPr algn="l">
              <a:lnSpc>
                <a:spcPts val="4809"/>
              </a:lnSpc>
            </a:pPr>
          </a:p>
        </p:txBody>
      </p:sp>
      <p:sp>
        <p:nvSpPr>
          <p:cNvPr name="Freeform 9" id="9"/>
          <p:cNvSpPr/>
          <p:nvPr/>
        </p:nvSpPr>
        <p:spPr>
          <a:xfrm flipH="false" flipV="false" rot="0">
            <a:off x="-295175" y="8630507"/>
            <a:ext cx="2647750" cy="2647750"/>
          </a:xfrm>
          <a:custGeom>
            <a:avLst/>
            <a:gdLst/>
            <a:ahLst/>
            <a:cxnLst/>
            <a:rect r="r" b="b" t="t" l="l"/>
            <a:pathLst>
              <a:path h="2647750" w="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573748" y="5327661"/>
            <a:ext cx="9659937" cy="1009650"/>
          </a:xfrm>
          <a:prstGeom prst="rect">
            <a:avLst/>
          </a:prstGeom>
        </p:spPr>
        <p:txBody>
          <a:bodyPr anchor="t" rtlCol="false" tIns="0" lIns="0" bIns="0" rIns="0">
            <a:spAutoFit/>
          </a:bodyPr>
          <a:lstStyle/>
          <a:p>
            <a:pPr algn="l">
              <a:lnSpc>
                <a:spcPts val="7809"/>
              </a:lnSpc>
            </a:pPr>
            <a:r>
              <a:rPr lang="en-US" sz="6507" b="true">
                <a:solidFill>
                  <a:srgbClr val="56AEFF"/>
                </a:solidFill>
                <a:latin typeface="Now Bold"/>
                <a:ea typeface="Now Bold"/>
                <a:cs typeface="Now Bold"/>
                <a:sym typeface="Now Bold"/>
              </a:rPr>
              <a:t>IN ORACLE ERP</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2986667" y="3084143"/>
            <a:ext cx="2613061" cy="2273181"/>
            <a:chOff x="0" y="0"/>
            <a:chExt cx="991873" cy="862860"/>
          </a:xfrm>
        </p:grpSpPr>
        <p:sp>
          <p:nvSpPr>
            <p:cNvPr name="Freeform 3" id="3"/>
            <p:cNvSpPr/>
            <p:nvPr/>
          </p:nvSpPr>
          <p:spPr>
            <a:xfrm flipH="false" flipV="false" rot="0">
              <a:off x="0" y="0"/>
              <a:ext cx="991873" cy="862860"/>
            </a:xfrm>
            <a:custGeom>
              <a:avLst/>
              <a:gdLst/>
              <a:ahLst/>
              <a:cxnLst/>
              <a:rect r="r" b="b" t="t" l="l"/>
              <a:pathLst>
                <a:path h="862860" w="991873">
                  <a:moveTo>
                    <a:pt x="0" y="0"/>
                  </a:moveTo>
                  <a:lnTo>
                    <a:pt x="991873" y="0"/>
                  </a:lnTo>
                  <a:lnTo>
                    <a:pt x="991873" y="862860"/>
                  </a:lnTo>
                  <a:lnTo>
                    <a:pt x="0" y="862860"/>
                  </a:lnTo>
                  <a:close/>
                </a:path>
              </a:pathLst>
            </a:custGeom>
            <a:solidFill>
              <a:srgbClr val="145DA0"/>
            </a:solidFill>
            <a:ln w="9525" cap="sq">
              <a:solidFill>
                <a:srgbClr val="FFFFFF"/>
              </a:solidFill>
              <a:prstDash val="solid"/>
              <a:miter/>
            </a:ln>
          </p:spPr>
        </p:sp>
        <p:sp>
          <p:nvSpPr>
            <p:cNvPr name="TextBox 4" id="4"/>
            <p:cNvSpPr txBox="true"/>
            <p:nvPr/>
          </p:nvSpPr>
          <p:spPr>
            <a:xfrm>
              <a:off x="0" y="-38100"/>
              <a:ext cx="991873" cy="900960"/>
            </a:xfrm>
            <a:prstGeom prst="rect">
              <a:avLst/>
            </a:prstGeom>
          </p:spPr>
          <p:txBody>
            <a:bodyPr anchor="ctr" rtlCol="false" tIns="50800" lIns="50800" bIns="50800" rIns="50800"/>
            <a:lstStyle/>
            <a:p>
              <a:pPr algn="ctr">
                <a:lnSpc>
                  <a:spcPts val="3483"/>
                </a:lnSpc>
              </a:pPr>
            </a:p>
          </p:txBody>
        </p:sp>
      </p:grpSp>
      <p:sp>
        <p:nvSpPr>
          <p:cNvPr name="AutoShape 5" id="5"/>
          <p:cNvSpPr/>
          <p:nvPr/>
        </p:nvSpPr>
        <p:spPr>
          <a:xfrm flipV="true">
            <a:off x="3133964" y="4516826"/>
            <a:ext cx="2203125" cy="0"/>
          </a:xfrm>
          <a:prstGeom prst="line">
            <a:avLst/>
          </a:prstGeom>
          <a:ln cap="flat" w="38100">
            <a:solidFill>
              <a:srgbClr val="FFFFFF"/>
            </a:solidFill>
            <a:prstDash val="solid"/>
            <a:headEnd type="none" len="sm" w="sm"/>
            <a:tailEnd type="none" len="sm" w="sm"/>
          </a:ln>
        </p:spPr>
      </p:sp>
      <p:grpSp>
        <p:nvGrpSpPr>
          <p:cNvPr name="Group 6" id="6"/>
          <p:cNvGrpSpPr/>
          <p:nvPr/>
        </p:nvGrpSpPr>
        <p:grpSpPr>
          <a:xfrm rot="0">
            <a:off x="5844564" y="3084143"/>
            <a:ext cx="2613061" cy="2273181"/>
            <a:chOff x="0" y="0"/>
            <a:chExt cx="991873" cy="862860"/>
          </a:xfrm>
        </p:grpSpPr>
        <p:sp>
          <p:nvSpPr>
            <p:cNvPr name="Freeform 7" id="7"/>
            <p:cNvSpPr/>
            <p:nvPr/>
          </p:nvSpPr>
          <p:spPr>
            <a:xfrm flipH="false" flipV="false" rot="0">
              <a:off x="0" y="0"/>
              <a:ext cx="991873" cy="862860"/>
            </a:xfrm>
            <a:custGeom>
              <a:avLst/>
              <a:gdLst/>
              <a:ahLst/>
              <a:cxnLst/>
              <a:rect r="r" b="b" t="t" l="l"/>
              <a:pathLst>
                <a:path h="862860" w="991873">
                  <a:moveTo>
                    <a:pt x="0" y="0"/>
                  </a:moveTo>
                  <a:lnTo>
                    <a:pt x="991873" y="0"/>
                  </a:lnTo>
                  <a:lnTo>
                    <a:pt x="991873" y="862860"/>
                  </a:lnTo>
                  <a:lnTo>
                    <a:pt x="0" y="862860"/>
                  </a:lnTo>
                  <a:close/>
                </a:path>
              </a:pathLst>
            </a:custGeom>
            <a:solidFill>
              <a:srgbClr val="145DA0"/>
            </a:solidFill>
            <a:ln w="9525" cap="sq">
              <a:solidFill>
                <a:srgbClr val="FFFFFF"/>
              </a:solidFill>
              <a:prstDash val="solid"/>
              <a:miter/>
            </a:ln>
          </p:spPr>
        </p:sp>
        <p:sp>
          <p:nvSpPr>
            <p:cNvPr name="TextBox 8" id="8"/>
            <p:cNvSpPr txBox="true"/>
            <p:nvPr/>
          </p:nvSpPr>
          <p:spPr>
            <a:xfrm>
              <a:off x="0" y="-38100"/>
              <a:ext cx="991873" cy="900960"/>
            </a:xfrm>
            <a:prstGeom prst="rect">
              <a:avLst/>
            </a:prstGeom>
          </p:spPr>
          <p:txBody>
            <a:bodyPr anchor="ctr" rtlCol="false" tIns="50800" lIns="50800" bIns="50800" rIns="50800"/>
            <a:lstStyle/>
            <a:p>
              <a:pPr algn="ctr">
                <a:lnSpc>
                  <a:spcPts val="3483"/>
                </a:lnSpc>
              </a:pPr>
            </a:p>
          </p:txBody>
        </p:sp>
      </p:grpSp>
      <p:sp>
        <p:nvSpPr>
          <p:cNvPr name="AutoShape 9" id="9"/>
          <p:cNvSpPr/>
          <p:nvPr/>
        </p:nvSpPr>
        <p:spPr>
          <a:xfrm flipV="true">
            <a:off x="5991861" y="4535876"/>
            <a:ext cx="2203125" cy="0"/>
          </a:xfrm>
          <a:prstGeom prst="line">
            <a:avLst/>
          </a:prstGeom>
          <a:ln cap="flat" w="38100">
            <a:solidFill>
              <a:srgbClr val="FFFFFF"/>
            </a:solidFill>
            <a:prstDash val="solid"/>
            <a:headEnd type="none" len="sm" w="sm"/>
            <a:tailEnd type="none" len="sm" w="sm"/>
          </a:ln>
        </p:spPr>
      </p:sp>
      <p:grpSp>
        <p:nvGrpSpPr>
          <p:cNvPr name="Group 10" id="10"/>
          <p:cNvGrpSpPr/>
          <p:nvPr/>
        </p:nvGrpSpPr>
        <p:grpSpPr>
          <a:xfrm rot="0">
            <a:off x="4293198" y="5995498"/>
            <a:ext cx="2514997" cy="2252658"/>
            <a:chOff x="0" y="0"/>
            <a:chExt cx="954649" cy="855070"/>
          </a:xfrm>
        </p:grpSpPr>
        <p:sp>
          <p:nvSpPr>
            <p:cNvPr name="Freeform 11" id="11"/>
            <p:cNvSpPr/>
            <p:nvPr/>
          </p:nvSpPr>
          <p:spPr>
            <a:xfrm flipH="false" flipV="false" rot="0">
              <a:off x="0" y="0"/>
              <a:ext cx="954649" cy="855070"/>
            </a:xfrm>
            <a:custGeom>
              <a:avLst/>
              <a:gdLst/>
              <a:ahLst/>
              <a:cxnLst/>
              <a:rect r="r" b="b" t="t" l="l"/>
              <a:pathLst>
                <a:path h="855070" w="954649">
                  <a:moveTo>
                    <a:pt x="0" y="0"/>
                  </a:moveTo>
                  <a:lnTo>
                    <a:pt x="954649" y="0"/>
                  </a:lnTo>
                  <a:lnTo>
                    <a:pt x="954649" y="855070"/>
                  </a:lnTo>
                  <a:lnTo>
                    <a:pt x="0" y="855070"/>
                  </a:lnTo>
                  <a:close/>
                </a:path>
              </a:pathLst>
            </a:custGeom>
            <a:solidFill>
              <a:srgbClr val="145DA0"/>
            </a:solidFill>
            <a:ln w="9525" cap="sq">
              <a:solidFill>
                <a:srgbClr val="FFFFFF"/>
              </a:solidFill>
              <a:prstDash val="solid"/>
              <a:miter/>
            </a:ln>
          </p:spPr>
        </p:sp>
        <p:sp>
          <p:nvSpPr>
            <p:cNvPr name="TextBox 12" id="12"/>
            <p:cNvSpPr txBox="true"/>
            <p:nvPr/>
          </p:nvSpPr>
          <p:spPr>
            <a:xfrm>
              <a:off x="0" y="-38100"/>
              <a:ext cx="954649" cy="893170"/>
            </a:xfrm>
            <a:prstGeom prst="rect">
              <a:avLst/>
            </a:prstGeom>
          </p:spPr>
          <p:txBody>
            <a:bodyPr anchor="ctr" rtlCol="false" tIns="50800" lIns="50800" bIns="50800" rIns="50800"/>
            <a:lstStyle/>
            <a:p>
              <a:pPr algn="ctr">
                <a:lnSpc>
                  <a:spcPts val="3483"/>
                </a:lnSpc>
              </a:pPr>
            </a:p>
          </p:txBody>
        </p:sp>
      </p:grpSp>
      <p:sp>
        <p:nvSpPr>
          <p:cNvPr name="AutoShape 13" id="13"/>
          <p:cNvSpPr/>
          <p:nvPr/>
        </p:nvSpPr>
        <p:spPr>
          <a:xfrm flipV="true">
            <a:off x="4449134" y="7300511"/>
            <a:ext cx="2203125" cy="0"/>
          </a:xfrm>
          <a:prstGeom prst="line">
            <a:avLst/>
          </a:prstGeom>
          <a:ln cap="flat" w="38100">
            <a:solidFill>
              <a:srgbClr val="FFFFFF"/>
            </a:solidFill>
            <a:prstDash val="solid"/>
            <a:headEnd type="none" len="sm" w="sm"/>
            <a:tailEnd type="none" len="sm" w="sm"/>
          </a:ln>
        </p:spPr>
      </p:sp>
      <p:grpSp>
        <p:nvGrpSpPr>
          <p:cNvPr name="Group 14" id="14"/>
          <p:cNvGrpSpPr>
            <a:grpSpLocks noChangeAspect="true"/>
          </p:cNvGrpSpPr>
          <p:nvPr/>
        </p:nvGrpSpPr>
        <p:grpSpPr>
          <a:xfrm rot="0">
            <a:off x="10000675" y="1509629"/>
            <a:ext cx="6992751" cy="8074770"/>
            <a:chOff x="0" y="0"/>
            <a:chExt cx="5499100" cy="6350000"/>
          </a:xfrm>
        </p:grpSpPr>
        <p:sp>
          <p:nvSpPr>
            <p:cNvPr name="Freeform 15" id="15"/>
            <p:cNvSpPr/>
            <p:nvPr/>
          </p:nvSpPr>
          <p:spPr>
            <a:xfrm flipH="false" flipV="false" rot="0">
              <a:off x="0" y="0"/>
              <a:ext cx="5499100" cy="6350000"/>
            </a:xfrm>
            <a:custGeom>
              <a:avLst/>
              <a:gdLst/>
              <a:ahLst/>
              <a:cxnLst/>
              <a:rect r="r" b="b" t="t" l="l"/>
              <a:pathLst>
                <a:path h="6350000" w="5499100">
                  <a:moveTo>
                    <a:pt x="2749550" y="6350000"/>
                  </a:moveTo>
                  <a:lnTo>
                    <a:pt x="0" y="4762500"/>
                  </a:lnTo>
                  <a:lnTo>
                    <a:pt x="0" y="1587500"/>
                  </a:lnTo>
                  <a:lnTo>
                    <a:pt x="2749550" y="0"/>
                  </a:lnTo>
                  <a:lnTo>
                    <a:pt x="5499100" y="1587500"/>
                  </a:lnTo>
                  <a:lnTo>
                    <a:pt x="5499100" y="4762500"/>
                  </a:lnTo>
                  <a:lnTo>
                    <a:pt x="2749550" y="6350000"/>
                  </a:lnTo>
                  <a:close/>
                </a:path>
              </a:pathLst>
            </a:custGeom>
            <a:solidFill>
              <a:srgbClr val="FFFFFF"/>
            </a:solidFill>
            <a:ln w="12700">
              <a:solidFill>
                <a:srgbClr val="000000"/>
              </a:solidFill>
            </a:ln>
          </p:spPr>
        </p:sp>
      </p:grpSp>
      <p:grpSp>
        <p:nvGrpSpPr>
          <p:cNvPr name="Group 16" id="16"/>
          <p:cNvGrpSpPr>
            <a:grpSpLocks noChangeAspect="true"/>
          </p:cNvGrpSpPr>
          <p:nvPr/>
        </p:nvGrpSpPr>
        <p:grpSpPr>
          <a:xfrm rot="0">
            <a:off x="10143550" y="1698193"/>
            <a:ext cx="6697476" cy="7733806"/>
            <a:chOff x="0" y="0"/>
            <a:chExt cx="5499100" cy="6350000"/>
          </a:xfrm>
        </p:grpSpPr>
        <p:sp>
          <p:nvSpPr>
            <p:cNvPr name="Freeform 17" id="17"/>
            <p:cNvSpPr/>
            <p:nvPr/>
          </p:nvSpPr>
          <p:spPr>
            <a:xfrm flipH="false" flipV="false" rot="0">
              <a:off x="0" y="0"/>
              <a:ext cx="5499100" cy="6350000"/>
            </a:xfrm>
            <a:custGeom>
              <a:avLst/>
              <a:gdLst/>
              <a:ahLst/>
              <a:cxnLst/>
              <a:rect r="r" b="b" t="t" l="l"/>
              <a:pathLst>
                <a:path h="6350000" w="54991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2"/>
              <a:stretch>
                <a:fillRect l="-36659" t="0" r="-36659" b="0"/>
              </a:stretch>
            </a:blipFill>
          </p:spPr>
        </p:sp>
      </p:grpSp>
      <p:grpSp>
        <p:nvGrpSpPr>
          <p:cNvPr name="Group 18" id="18"/>
          <p:cNvGrpSpPr/>
          <p:nvPr/>
        </p:nvGrpSpPr>
        <p:grpSpPr>
          <a:xfrm rot="0">
            <a:off x="8705275" y="3084143"/>
            <a:ext cx="2613061" cy="2273181"/>
            <a:chOff x="0" y="0"/>
            <a:chExt cx="991873" cy="862860"/>
          </a:xfrm>
        </p:grpSpPr>
        <p:sp>
          <p:nvSpPr>
            <p:cNvPr name="Freeform 19" id="19"/>
            <p:cNvSpPr/>
            <p:nvPr/>
          </p:nvSpPr>
          <p:spPr>
            <a:xfrm flipH="false" flipV="false" rot="0">
              <a:off x="0" y="0"/>
              <a:ext cx="991873" cy="862860"/>
            </a:xfrm>
            <a:custGeom>
              <a:avLst/>
              <a:gdLst/>
              <a:ahLst/>
              <a:cxnLst/>
              <a:rect r="r" b="b" t="t" l="l"/>
              <a:pathLst>
                <a:path h="862860" w="991873">
                  <a:moveTo>
                    <a:pt x="0" y="0"/>
                  </a:moveTo>
                  <a:lnTo>
                    <a:pt x="991873" y="0"/>
                  </a:lnTo>
                  <a:lnTo>
                    <a:pt x="991873" y="862860"/>
                  </a:lnTo>
                  <a:lnTo>
                    <a:pt x="0" y="862860"/>
                  </a:lnTo>
                  <a:close/>
                </a:path>
              </a:pathLst>
            </a:custGeom>
            <a:solidFill>
              <a:srgbClr val="145DA0"/>
            </a:solidFill>
            <a:ln w="9525" cap="sq">
              <a:solidFill>
                <a:srgbClr val="FFFFFF"/>
              </a:solidFill>
              <a:prstDash val="solid"/>
              <a:miter/>
            </a:ln>
          </p:spPr>
        </p:sp>
        <p:sp>
          <p:nvSpPr>
            <p:cNvPr name="TextBox 20" id="20"/>
            <p:cNvSpPr txBox="true"/>
            <p:nvPr/>
          </p:nvSpPr>
          <p:spPr>
            <a:xfrm>
              <a:off x="0" y="-38100"/>
              <a:ext cx="991873" cy="900960"/>
            </a:xfrm>
            <a:prstGeom prst="rect">
              <a:avLst/>
            </a:prstGeom>
          </p:spPr>
          <p:txBody>
            <a:bodyPr anchor="ctr" rtlCol="false" tIns="50800" lIns="50800" bIns="50800" rIns="50800"/>
            <a:lstStyle/>
            <a:p>
              <a:pPr algn="ctr">
                <a:lnSpc>
                  <a:spcPts val="3483"/>
                </a:lnSpc>
              </a:pPr>
            </a:p>
          </p:txBody>
        </p:sp>
      </p:grpSp>
      <p:sp>
        <p:nvSpPr>
          <p:cNvPr name="AutoShape 21" id="21"/>
          <p:cNvSpPr/>
          <p:nvPr/>
        </p:nvSpPr>
        <p:spPr>
          <a:xfrm flipV="true">
            <a:off x="8852572" y="4554926"/>
            <a:ext cx="2203125" cy="0"/>
          </a:xfrm>
          <a:prstGeom prst="line">
            <a:avLst/>
          </a:prstGeom>
          <a:ln cap="flat" w="38100">
            <a:solidFill>
              <a:srgbClr val="FFFFFF"/>
            </a:solidFill>
            <a:prstDash val="solid"/>
            <a:headEnd type="none" len="sm" w="sm"/>
            <a:tailEnd type="none" len="sm" w="sm"/>
          </a:ln>
        </p:spPr>
      </p:sp>
      <p:sp>
        <p:nvSpPr>
          <p:cNvPr name="Freeform 22" id="22"/>
          <p:cNvSpPr/>
          <p:nvPr/>
        </p:nvSpPr>
        <p:spPr>
          <a:xfrm flipH="false" flipV="false" rot="0">
            <a:off x="-7631327" y="597505"/>
            <a:ext cx="9077445" cy="9077445"/>
          </a:xfrm>
          <a:custGeom>
            <a:avLst/>
            <a:gdLst/>
            <a:ahLst/>
            <a:cxnLst/>
            <a:rect r="r" b="b" t="t" l="l"/>
            <a:pathLst>
              <a:path h="9077445" w="9077445">
                <a:moveTo>
                  <a:pt x="0" y="0"/>
                </a:moveTo>
                <a:lnTo>
                  <a:pt x="9077444" y="0"/>
                </a:lnTo>
                <a:lnTo>
                  <a:pt x="9077444" y="9077445"/>
                </a:lnTo>
                <a:lnTo>
                  <a:pt x="0" y="90774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2986667" y="1698193"/>
            <a:ext cx="8437330" cy="1230585"/>
          </a:xfrm>
          <a:prstGeom prst="rect">
            <a:avLst/>
          </a:prstGeom>
        </p:spPr>
        <p:txBody>
          <a:bodyPr anchor="t" rtlCol="false" tIns="0" lIns="0" bIns="0" rIns="0">
            <a:spAutoFit/>
          </a:bodyPr>
          <a:lstStyle/>
          <a:p>
            <a:pPr algn="ctr" marL="0" indent="0" lvl="0">
              <a:lnSpc>
                <a:spcPts val="9625"/>
              </a:lnSpc>
              <a:spcBef>
                <a:spcPct val="0"/>
              </a:spcBef>
            </a:pPr>
            <a:r>
              <a:rPr lang="en-US" b="true" sz="8020">
                <a:solidFill>
                  <a:srgbClr val="FFFFFF"/>
                </a:solidFill>
                <a:latin typeface="Now Bold"/>
                <a:ea typeface="Now Bold"/>
                <a:cs typeface="Now Bold"/>
                <a:sym typeface="Now Bold"/>
              </a:rPr>
              <a:t>OVERVIEW </a:t>
            </a:r>
          </a:p>
        </p:txBody>
      </p:sp>
      <p:sp>
        <p:nvSpPr>
          <p:cNvPr name="TextBox 24" id="24"/>
          <p:cNvSpPr txBox="true"/>
          <p:nvPr/>
        </p:nvSpPr>
        <p:spPr>
          <a:xfrm rot="0">
            <a:off x="3133964" y="4740850"/>
            <a:ext cx="2318467" cy="385852"/>
          </a:xfrm>
          <a:prstGeom prst="rect">
            <a:avLst/>
          </a:prstGeom>
        </p:spPr>
        <p:txBody>
          <a:bodyPr anchor="t" rtlCol="false" tIns="0" lIns="0" bIns="0" rIns="0">
            <a:spAutoFit/>
          </a:bodyPr>
          <a:lstStyle/>
          <a:p>
            <a:pPr algn="ctr">
              <a:lnSpc>
                <a:spcPts val="3157"/>
              </a:lnSpc>
            </a:pPr>
            <a:r>
              <a:rPr lang="en-US" sz="2287">
                <a:solidFill>
                  <a:srgbClr val="FFFFFF"/>
                </a:solidFill>
                <a:latin typeface="DM Sans"/>
                <a:ea typeface="DM Sans"/>
                <a:cs typeface="DM Sans"/>
                <a:sym typeface="DM Sans"/>
              </a:rPr>
              <a:t>Our Team</a:t>
            </a:r>
          </a:p>
        </p:txBody>
      </p:sp>
      <p:sp>
        <p:nvSpPr>
          <p:cNvPr name="TextBox 25" id="25"/>
          <p:cNvSpPr txBox="true"/>
          <p:nvPr/>
        </p:nvSpPr>
        <p:spPr>
          <a:xfrm rot="0">
            <a:off x="3447970" y="3225902"/>
            <a:ext cx="1690455" cy="973796"/>
          </a:xfrm>
          <a:prstGeom prst="rect">
            <a:avLst/>
          </a:prstGeom>
        </p:spPr>
        <p:txBody>
          <a:bodyPr anchor="t" rtlCol="false" tIns="0" lIns="0" bIns="0" rIns="0">
            <a:spAutoFit/>
          </a:bodyPr>
          <a:lstStyle/>
          <a:p>
            <a:pPr algn="ctr">
              <a:lnSpc>
                <a:spcPts val="7914"/>
              </a:lnSpc>
            </a:pPr>
            <a:r>
              <a:rPr lang="en-US" sz="5735" b="true">
                <a:solidFill>
                  <a:srgbClr val="FFFFFF"/>
                </a:solidFill>
                <a:latin typeface="DM Sans Bold"/>
                <a:ea typeface="DM Sans Bold"/>
                <a:cs typeface="DM Sans Bold"/>
                <a:sym typeface="DM Sans Bold"/>
              </a:rPr>
              <a:t>01</a:t>
            </a:r>
          </a:p>
        </p:txBody>
      </p:sp>
      <p:sp>
        <p:nvSpPr>
          <p:cNvPr name="TextBox 26" id="26"/>
          <p:cNvSpPr txBox="true"/>
          <p:nvPr/>
        </p:nvSpPr>
        <p:spPr>
          <a:xfrm rot="0">
            <a:off x="5918212" y="4740850"/>
            <a:ext cx="2465764" cy="385852"/>
          </a:xfrm>
          <a:prstGeom prst="rect">
            <a:avLst/>
          </a:prstGeom>
        </p:spPr>
        <p:txBody>
          <a:bodyPr anchor="t" rtlCol="false" tIns="0" lIns="0" bIns="0" rIns="0">
            <a:spAutoFit/>
          </a:bodyPr>
          <a:lstStyle/>
          <a:p>
            <a:pPr algn="ctr">
              <a:lnSpc>
                <a:spcPts val="3157"/>
              </a:lnSpc>
            </a:pPr>
            <a:r>
              <a:rPr lang="en-US" sz="2287">
                <a:solidFill>
                  <a:srgbClr val="FFFFFF"/>
                </a:solidFill>
                <a:latin typeface="DM Sans"/>
                <a:ea typeface="DM Sans"/>
                <a:cs typeface="DM Sans"/>
                <a:sym typeface="DM Sans"/>
              </a:rPr>
              <a:t>Introduction</a:t>
            </a:r>
          </a:p>
        </p:txBody>
      </p:sp>
      <p:sp>
        <p:nvSpPr>
          <p:cNvPr name="TextBox 27" id="27"/>
          <p:cNvSpPr txBox="true"/>
          <p:nvPr/>
        </p:nvSpPr>
        <p:spPr>
          <a:xfrm rot="0">
            <a:off x="6305867" y="3225902"/>
            <a:ext cx="1690455" cy="973796"/>
          </a:xfrm>
          <a:prstGeom prst="rect">
            <a:avLst/>
          </a:prstGeom>
        </p:spPr>
        <p:txBody>
          <a:bodyPr anchor="t" rtlCol="false" tIns="0" lIns="0" bIns="0" rIns="0">
            <a:spAutoFit/>
          </a:bodyPr>
          <a:lstStyle/>
          <a:p>
            <a:pPr algn="ctr">
              <a:lnSpc>
                <a:spcPts val="7914"/>
              </a:lnSpc>
            </a:pPr>
            <a:r>
              <a:rPr lang="en-US" sz="5735" b="true">
                <a:solidFill>
                  <a:srgbClr val="FFFFFF"/>
                </a:solidFill>
                <a:latin typeface="DM Sans Bold"/>
                <a:ea typeface="DM Sans Bold"/>
                <a:cs typeface="DM Sans Bold"/>
                <a:sym typeface="DM Sans Bold"/>
              </a:rPr>
              <a:t>02</a:t>
            </a:r>
          </a:p>
        </p:txBody>
      </p:sp>
      <p:sp>
        <p:nvSpPr>
          <p:cNvPr name="TextBox 28" id="28"/>
          <p:cNvSpPr txBox="true"/>
          <p:nvPr/>
        </p:nvSpPr>
        <p:spPr>
          <a:xfrm rot="0">
            <a:off x="4391462" y="7388954"/>
            <a:ext cx="2318467" cy="785902"/>
          </a:xfrm>
          <a:prstGeom prst="rect">
            <a:avLst/>
          </a:prstGeom>
        </p:spPr>
        <p:txBody>
          <a:bodyPr anchor="t" rtlCol="false" tIns="0" lIns="0" bIns="0" rIns="0">
            <a:spAutoFit/>
          </a:bodyPr>
          <a:lstStyle/>
          <a:p>
            <a:pPr algn="ctr">
              <a:lnSpc>
                <a:spcPts val="3157"/>
              </a:lnSpc>
            </a:pPr>
            <a:r>
              <a:rPr lang="en-US" sz="2287">
                <a:solidFill>
                  <a:srgbClr val="FFFFFF"/>
                </a:solidFill>
                <a:latin typeface="DM Sans"/>
                <a:ea typeface="DM Sans"/>
                <a:cs typeface="DM Sans"/>
                <a:sym typeface="DM Sans"/>
              </a:rPr>
              <a:t>Implementation Steps</a:t>
            </a:r>
          </a:p>
        </p:txBody>
      </p:sp>
      <p:sp>
        <p:nvSpPr>
          <p:cNvPr name="TextBox 29" id="29"/>
          <p:cNvSpPr txBox="true"/>
          <p:nvPr/>
        </p:nvSpPr>
        <p:spPr>
          <a:xfrm rot="0">
            <a:off x="4705468" y="6136215"/>
            <a:ext cx="1690455" cy="973796"/>
          </a:xfrm>
          <a:prstGeom prst="rect">
            <a:avLst/>
          </a:prstGeom>
        </p:spPr>
        <p:txBody>
          <a:bodyPr anchor="t" rtlCol="false" tIns="0" lIns="0" bIns="0" rIns="0">
            <a:spAutoFit/>
          </a:bodyPr>
          <a:lstStyle/>
          <a:p>
            <a:pPr algn="ctr">
              <a:lnSpc>
                <a:spcPts val="7914"/>
              </a:lnSpc>
            </a:pPr>
            <a:r>
              <a:rPr lang="en-US" sz="5735" b="true">
                <a:solidFill>
                  <a:srgbClr val="FFFFFF"/>
                </a:solidFill>
                <a:latin typeface="DM Sans Bold"/>
                <a:ea typeface="DM Sans Bold"/>
                <a:cs typeface="DM Sans Bold"/>
                <a:sym typeface="DM Sans Bold"/>
              </a:rPr>
              <a:t>04</a:t>
            </a:r>
          </a:p>
        </p:txBody>
      </p:sp>
      <p:sp>
        <p:nvSpPr>
          <p:cNvPr name="TextBox 30" id="30"/>
          <p:cNvSpPr txBox="true"/>
          <p:nvPr/>
        </p:nvSpPr>
        <p:spPr>
          <a:xfrm rot="0">
            <a:off x="8852572" y="4740850"/>
            <a:ext cx="2318467" cy="385852"/>
          </a:xfrm>
          <a:prstGeom prst="rect">
            <a:avLst/>
          </a:prstGeom>
        </p:spPr>
        <p:txBody>
          <a:bodyPr anchor="t" rtlCol="false" tIns="0" lIns="0" bIns="0" rIns="0">
            <a:spAutoFit/>
          </a:bodyPr>
          <a:lstStyle/>
          <a:p>
            <a:pPr algn="ctr">
              <a:lnSpc>
                <a:spcPts val="3157"/>
              </a:lnSpc>
            </a:pPr>
            <a:r>
              <a:rPr lang="en-US" sz="2287">
                <a:solidFill>
                  <a:srgbClr val="FFFFFF"/>
                </a:solidFill>
                <a:latin typeface="DM Sans"/>
                <a:ea typeface="DM Sans"/>
                <a:cs typeface="DM Sans"/>
                <a:sym typeface="DM Sans"/>
              </a:rPr>
              <a:t>Company Profile</a:t>
            </a:r>
          </a:p>
        </p:txBody>
      </p:sp>
      <p:sp>
        <p:nvSpPr>
          <p:cNvPr name="TextBox 31" id="31"/>
          <p:cNvSpPr txBox="true"/>
          <p:nvPr/>
        </p:nvSpPr>
        <p:spPr>
          <a:xfrm rot="0">
            <a:off x="9166578" y="3225902"/>
            <a:ext cx="1690455" cy="973796"/>
          </a:xfrm>
          <a:prstGeom prst="rect">
            <a:avLst/>
          </a:prstGeom>
        </p:spPr>
        <p:txBody>
          <a:bodyPr anchor="t" rtlCol="false" tIns="0" lIns="0" bIns="0" rIns="0">
            <a:spAutoFit/>
          </a:bodyPr>
          <a:lstStyle/>
          <a:p>
            <a:pPr algn="ctr">
              <a:lnSpc>
                <a:spcPts val="7914"/>
              </a:lnSpc>
            </a:pPr>
            <a:r>
              <a:rPr lang="en-US" sz="5735" b="true">
                <a:solidFill>
                  <a:srgbClr val="FFFFFF"/>
                </a:solidFill>
                <a:latin typeface="DM Sans Bold"/>
                <a:ea typeface="DM Sans Bold"/>
                <a:cs typeface="DM Sans Bold"/>
                <a:sym typeface="DM Sans Bold"/>
              </a:rPr>
              <a:t>03</a:t>
            </a:r>
          </a:p>
        </p:txBody>
      </p:sp>
      <p:grpSp>
        <p:nvGrpSpPr>
          <p:cNvPr name="Group 32" id="32"/>
          <p:cNvGrpSpPr/>
          <p:nvPr/>
        </p:nvGrpSpPr>
        <p:grpSpPr>
          <a:xfrm rot="0">
            <a:off x="7530489" y="5995498"/>
            <a:ext cx="2613061" cy="2252658"/>
            <a:chOff x="0" y="0"/>
            <a:chExt cx="991873" cy="855070"/>
          </a:xfrm>
        </p:grpSpPr>
        <p:sp>
          <p:nvSpPr>
            <p:cNvPr name="Freeform 33" id="33"/>
            <p:cNvSpPr/>
            <p:nvPr/>
          </p:nvSpPr>
          <p:spPr>
            <a:xfrm flipH="false" flipV="false" rot="0">
              <a:off x="0" y="0"/>
              <a:ext cx="991873" cy="855070"/>
            </a:xfrm>
            <a:custGeom>
              <a:avLst/>
              <a:gdLst/>
              <a:ahLst/>
              <a:cxnLst/>
              <a:rect r="r" b="b" t="t" l="l"/>
              <a:pathLst>
                <a:path h="855070" w="991873">
                  <a:moveTo>
                    <a:pt x="0" y="0"/>
                  </a:moveTo>
                  <a:lnTo>
                    <a:pt x="991873" y="0"/>
                  </a:lnTo>
                  <a:lnTo>
                    <a:pt x="991873" y="855070"/>
                  </a:lnTo>
                  <a:lnTo>
                    <a:pt x="0" y="855070"/>
                  </a:lnTo>
                  <a:close/>
                </a:path>
              </a:pathLst>
            </a:custGeom>
            <a:solidFill>
              <a:srgbClr val="145DA0"/>
            </a:solidFill>
            <a:ln w="9525" cap="sq">
              <a:solidFill>
                <a:srgbClr val="FFFFFF"/>
              </a:solidFill>
              <a:prstDash val="solid"/>
              <a:miter/>
            </a:ln>
          </p:spPr>
        </p:sp>
        <p:sp>
          <p:nvSpPr>
            <p:cNvPr name="TextBox 34" id="34"/>
            <p:cNvSpPr txBox="true"/>
            <p:nvPr/>
          </p:nvSpPr>
          <p:spPr>
            <a:xfrm>
              <a:off x="0" y="-38100"/>
              <a:ext cx="991873" cy="893170"/>
            </a:xfrm>
            <a:prstGeom prst="rect">
              <a:avLst/>
            </a:prstGeom>
          </p:spPr>
          <p:txBody>
            <a:bodyPr anchor="ctr" rtlCol="false" tIns="50800" lIns="50800" bIns="50800" rIns="50800"/>
            <a:lstStyle/>
            <a:p>
              <a:pPr algn="ctr">
                <a:lnSpc>
                  <a:spcPts val="3483"/>
                </a:lnSpc>
              </a:pPr>
            </a:p>
          </p:txBody>
        </p:sp>
      </p:grpSp>
      <p:sp>
        <p:nvSpPr>
          <p:cNvPr name="AutoShape 35" id="35"/>
          <p:cNvSpPr/>
          <p:nvPr/>
        </p:nvSpPr>
        <p:spPr>
          <a:xfrm flipV="true">
            <a:off x="7797550" y="7312327"/>
            <a:ext cx="2203125" cy="0"/>
          </a:xfrm>
          <a:prstGeom prst="line">
            <a:avLst/>
          </a:prstGeom>
          <a:ln cap="flat" w="38100">
            <a:solidFill>
              <a:srgbClr val="FFFFFF"/>
            </a:solidFill>
            <a:prstDash val="solid"/>
            <a:headEnd type="none" len="sm" w="sm"/>
            <a:tailEnd type="none" len="sm" w="sm"/>
          </a:ln>
        </p:spPr>
      </p:sp>
      <p:sp>
        <p:nvSpPr>
          <p:cNvPr name="TextBox 36" id="36"/>
          <p:cNvSpPr txBox="true"/>
          <p:nvPr/>
        </p:nvSpPr>
        <p:spPr>
          <a:xfrm rot="0">
            <a:off x="7702300" y="7379429"/>
            <a:ext cx="2318467" cy="785902"/>
          </a:xfrm>
          <a:prstGeom prst="rect">
            <a:avLst/>
          </a:prstGeom>
        </p:spPr>
        <p:txBody>
          <a:bodyPr anchor="t" rtlCol="false" tIns="0" lIns="0" bIns="0" rIns="0">
            <a:spAutoFit/>
          </a:bodyPr>
          <a:lstStyle/>
          <a:p>
            <a:pPr algn="ctr">
              <a:lnSpc>
                <a:spcPts val="3157"/>
              </a:lnSpc>
            </a:pPr>
            <a:r>
              <a:rPr lang="en-US" sz="2287">
                <a:solidFill>
                  <a:srgbClr val="FFFFFF"/>
                </a:solidFill>
                <a:latin typeface="DM Sans"/>
                <a:ea typeface="DM Sans"/>
                <a:cs typeface="DM Sans"/>
                <a:sym typeface="DM Sans"/>
              </a:rPr>
              <a:t>Results &amp; Benefits</a:t>
            </a:r>
          </a:p>
        </p:txBody>
      </p:sp>
      <p:sp>
        <p:nvSpPr>
          <p:cNvPr name="TextBox 37" id="37"/>
          <p:cNvSpPr txBox="true"/>
          <p:nvPr/>
        </p:nvSpPr>
        <p:spPr>
          <a:xfrm rot="0">
            <a:off x="7991792" y="6148031"/>
            <a:ext cx="1690455" cy="973796"/>
          </a:xfrm>
          <a:prstGeom prst="rect">
            <a:avLst/>
          </a:prstGeom>
        </p:spPr>
        <p:txBody>
          <a:bodyPr anchor="t" rtlCol="false" tIns="0" lIns="0" bIns="0" rIns="0">
            <a:spAutoFit/>
          </a:bodyPr>
          <a:lstStyle/>
          <a:p>
            <a:pPr algn="ctr">
              <a:lnSpc>
                <a:spcPts val="7914"/>
              </a:lnSpc>
            </a:pPr>
            <a:r>
              <a:rPr lang="en-US" sz="5735" b="true">
                <a:solidFill>
                  <a:srgbClr val="FFFFFF"/>
                </a:solidFill>
                <a:latin typeface="DM Sans Bold"/>
                <a:ea typeface="DM Sans Bold"/>
                <a:cs typeface="DM Sans Bold"/>
                <a:sym typeface="DM Sans Bold"/>
              </a:rPr>
              <a:t>05</a:t>
            </a:r>
          </a:p>
        </p:txBody>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409984" y="3733277"/>
            <a:ext cx="2504709" cy="3856816"/>
            <a:chOff x="0" y="0"/>
            <a:chExt cx="862412" cy="1327963"/>
          </a:xfrm>
        </p:grpSpPr>
        <p:sp>
          <p:nvSpPr>
            <p:cNvPr name="Freeform 3" id="3"/>
            <p:cNvSpPr/>
            <p:nvPr/>
          </p:nvSpPr>
          <p:spPr>
            <a:xfrm flipH="false" flipV="false" rot="0">
              <a:off x="0" y="0"/>
              <a:ext cx="862412" cy="1327963"/>
            </a:xfrm>
            <a:custGeom>
              <a:avLst/>
              <a:gdLst/>
              <a:ahLst/>
              <a:cxnLst/>
              <a:rect r="r" b="b" t="t" l="l"/>
              <a:pathLst>
                <a:path h="1327963" w="862412">
                  <a:moveTo>
                    <a:pt x="0" y="0"/>
                  </a:moveTo>
                  <a:lnTo>
                    <a:pt x="862412" y="0"/>
                  </a:lnTo>
                  <a:lnTo>
                    <a:pt x="862412" y="1327963"/>
                  </a:lnTo>
                  <a:lnTo>
                    <a:pt x="0" y="1327963"/>
                  </a:lnTo>
                  <a:close/>
                </a:path>
              </a:pathLst>
            </a:custGeom>
            <a:solidFill>
              <a:srgbClr val="051D40"/>
            </a:solidFill>
            <a:ln cap="sq">
              <a:noFill/>
              <a:prstDash val="solid"/>
              <a:miter/>
            </a:ln>
          </p:spPr>
        </p:sp>
        <p:sp>
          <p:nvSpPr>
            <p:cNvPr name="TextBox 4" id="4"/>
            <p:cNvSpPr txBox="true"/>
            <p:nvPr/>
          </p:nvSpPr>
          <p:spPr>
            <a:xfrm>
              <a:off x="0" y="-47625"/>
              <a:ext cx="862412" cy="1375588"/>
            </a:xfrm>
            <a:prstGeom prst="rect">
              <a:avLst/>
            </a:prstGeom>
          </p:spPr>
          <p:txBody>
            <a:bodyPr anchor="ctr" rtlCol="false" tIns="50800" lIns="50800" bIns="50800" rIns="50800"/>
            <a:lstStyle/>
            <a:p>
              <a:pPr algn="ctr" marL="0" indent="0" lvl="0">
                <a:lnSpc>
                  <a:spcPts val="3360"/>
                </a:lnSpc>
                <a:spcBef>
                  <a:spcPct val="0"/>
                </a:spcBef>
              </a:pPr>
            </a:p>
          </p:txBody>
        </p:sp>
      </p:grpSp>
      <p:grpSp>
        <p:nvGrpSpPr>
          <p:cNvPr name="Group 5" id="5"/>
          <p:cNvGrpSpPr>
            <a:grpSpLocks noChangeAspect="true"/>
          </p:cNvGrpSpPr>
          <p:nvPr/>
        </p:nvGrpSpPr>
        <p:grpSpPr>
          <a:xfrm rot="0">
            <a:off x="483453" y="3950944"/>
            <a:ext cx="2155490" cy="2147070"/>
            <a:chOff x="0" y="0"/>
            <a:chExt cx="6502400" cy="6477000"/>
          </a:xfrm>
        </p:grpSpPr>
        <p:sp>
          <p:nvSpPr>
            <p:cNvPr name="Freeform 6" id="6"/>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223" t="-39284" r="223" b="-39284"/>
              </a:stretch>
            </a:blipFill>
          </p:spPr>
        </p:sp>
        <p:sp>
          <p:nvSpPr>
            <p:cNvPr name="Freeform 7" id="7"/>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grpSp>
        <p:nvGrpSpPr>
          <p:cNvPr name="Group 8" id="8"/>
          <p:cNvGrpSpPr/>
          <p:nvPr/>
        </p:nvGrpSpPr>
        <p:grpSpPr>
          <a:xfrm rot="0">
            <a:off x="3359111" y="3733277"/>
            <a:ext cx="2504709" cy="3856816"/>
            <a:chOff x="0" y="0"/>
            <a:chExt cx="862412" cy="1327963"/>
          </a:xfrm>
        </p:grpSpPr>
        <p:sp>
          <p:nvSpPr>
            <p:cNvPr name="Freeform 9" id="9"/>
            <p:cNvSpPr/>
            <p:nvPr/>
          </p:nvSpPr>
          <p:spPr>
            <a:xfrm flipH="false" flipV="false" rot="0">
              <a:off x="0" y="0"/>
              <a:ext cx="862412" cy="1327963"/>
            </a:xfrm>
            <a:custGeom>
              <a:avLst/>
              <a:gdLst/>
              <a:ahLst/>
              <a:cxnLst/>
              <a:rect r="r" b="b" t="t" l="l"/>
              <a:pathLst>
                <a:path h="1327963" w="862412">
                  <a:moveTo>
                    <a:pt x="0" y="0"/>
                  </a:moveTo>
                  <a:lnTo>
                    <a:pt x="862412" y="0"/>
                  </a:lnTo>
                  <a:lnTo>
                    <a:pt x="862412" y="1327963"/>
                  </a:lnTo>
                  <a:lnTo>
                    <a:pt x="0" y="1327963"/>
                  </a:lnTo>
                  <a:close/>
                </a:path>
              </a:pathLst>
            </a:custGeom>
            <a:solidFill>
              <a:srgbClr val="051D40"/>
            </a:solidFill>
            <a:ln cap="sq">
              <a:noFill/>
              <a:prstDash val="solid"/>
              <a:miter/>
            </a:ln>
          </p:spPr>
        </p:sp>
        <p:sp>
          <p:nvSpPr>
            <p:cNvPr name="TextBox 10" id="10"/>
            <p:cNvSpPr txBox="true"/>
            <p:nvPr/>
          </p:nvSpPr>
          <p:spPr>
            <a:xfrm>
              <a:off x="0" y="-47625"/>
              <a:ext cx="862412" cy="1375588"/>
            </a:xfrm>
            <a:prstGeom prst="rect">
              <a:avLst/>
            </a:prstGeom>
          </p:spPr>
          <p:txBody>
            <a:bodyPr anchor="ctr" rtlCol="false" tIns="50800" lIns="50800" bIns="50800" rIns="50800"/>
            <a:lstStyle/>
            <a:p>
              <a:pPr algn="ctr" marL="0" indent="0" lvl="0">
                <a:lnSpc>
                  <a:spcPts val="3360"/>
                </a:lnSpc>
                <a:spcBef>
                  <a:spcPct val="0"/>
                </a:spcBef>
              </a:pPr>
            </a:p>
          </p:txBody>
        </p:sp>
      </p:grpSp>
      <p:grpSp>
        <p:nvGrpSpPr>
          <p:cNvPr name="Group 11" id="11"/>
          <p:cNvGrpSpPr>
            <a:grpSpLocks noChangeAspect="true"/>
          </p:cNvGrpSpPr>
          <p:nvPr/>
        </p:nvGrpSpPr>
        <p:grpSpPr>
          <a:xfrm rot="0">
            <a:off x="3533720" y="3950944"/>
            <a:ext cx="2155490" cy="2147070"/>
            <a:chOff x="0" y="0"/>
            <a:chExt cx="6502400" cy="6477000"/>
          </a:xfrm>
        </p:grpSpPr>
        <p:sp>
          <p:nvSpPr>
            <p:cNvPr name="Freeform 12" id="12"/>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3"/>
              <a:stretch>
                <a:fillRect l="-46686" t="-21674" r="-49881" b="-193609"/>
              </a:stretch>
            </a:blipFill>
          </p:spPr>
        </p:sp>
        <p:sp>
          <p:nvSpPr>
            <p:cNvPr name="Freeform 13" id="13"/>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grpSp>
        <p:nvGrpSpPr>
          <p:cNvPr name="Group 14" id="14"/>
          <p:cNvGrpSpPr/>
          <p:nvPr/>
        </p:nvGrpSpPr>
        <p:grpSpPr>
          <a:xfrm rot="0">
            <a:off x="6275034" y="3733277"/>
            <a:ext cx="2504709" cy="3856816"/>
            <a:chOff x="0" y="0"/>
            <a:chExt cx="862412" cy="1327963"/>
          </a:xfrm>
        </p:grpSpPr>
        <p:sp>
          <p:nvSpPr>
            <p:cNvPr name="Freeform 15" id="15"/>
            <p:cNvSpPr/>
            <p:nvPr/>
          </p:nvSpPr>
          <p:spPr>
            <a:xfrm flipH="false" flipV="false" rot="0">
              <a:off x="0" y="0"/>
              <a:ext cx="862412" cy="1327963"/>
            </a:xfrm>
            <a:custGeom>
              <a:avLst/>
              <a:gdLst/>
              <a:ahLst/>
              <a:cxnLst/>
              <a:rect r="r" b="b" t="t" l="l"/>
              <a:pathLst>
                <a:path h="1327963" w="862412">
                  <a:moveTo>
                    <a:pt x="0" y="0"/>
                  </a:moveTo>
                  <a:lnTo>
                    <a:pt x="862412" y="0"/>
                  </a:lnTo>
                  <a:lnTo>
                    <a:pt x="862412" y="1327963"/>
                  </a:lnTo>
                  <a:lnTo>
                    <a:pt x="0" y="1327963"/>
                  </a:lnTo>
                  <a:close/>
                </a:path>
              </a:pathLst>
            </a:custGeom>
            <a:solidFill>
              <a:srgbClr val="051D40"/>
            </a:solidFill>
            <a:ln cap="sq">
              <a:noFill/>
              <a:prstDash val="solid"/>
              <a:miter/>
            </a:ln>
          </p:spPr>
        </p:sp>
        <p:sp>
          <p:nvSpPr>
            <p:cNvPr name="TextBox 16" id="16"/>
            <p:cNvSpPr txBox="true"/>
            <p:nvPr/>
          </p:nvSpPr>
          <p:spPr>
            <a:xfrm>
              <a:off x="0" y="-47625"/>
              <a:ext cx="862412" cy="1375588"/>
            </a:xfrm>
            <a:prstGeom prst="rect">
              <a:avLst/>
            </a:prstGeom>
          </p:spPr>
          <p:txBody>
            <a:bodyPr anchor="ctr" rtlCol="false" tIns="50800" lIns="50800" bIns="50800" rIns="50800"/>
            <a:lstStyle/>
            <a:p>
              <a:pPr algn="ctr" marL="0" indent="0" lvl="0">
                <a:lnSpc>
                  <a:spcPts val="3360"/>
                </a:lnSpc>
                <a:spcBef>
                  <a:spcPct val="0"/>
                </a:spcBef>
              </a:pPr>
            </a:p>
          </p:txBody>
        </p:sp>
      </p:grpSp>
      <p:grpSp>
        <p:nvGrpSpPr>
          <p:cNvPr name="Group 17" id="17"/>
          <p:cNvGrpSpPr>
            <a:grpSpLocks noChangeAspect="true"/>
          </p:cNvGrpSpPr>
          <p:nvPr/>
        </p:nvGrpSpPr>
        <p:grpSpPr>
          <a:xfrm rot="0">
            <a:off x="6501098" y="3950944"/>
            <a:ext cx="2155490" cy="2147070"/>
            <a:chOff x="0" y="0"/>
            <a:chExt cx="6502400" cy="6477000"/>
          </a:xfrm>
        </p:grpSpPr>
        <p:sp>
          <p:nvSpPr>
            <p:cNvPr name="Freeform 18" id="1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41968" t="-92304" r="-38215" b="-129845"/>
              </a:stretch>
            </a:blipFill>
          </p:spPr>
        </p:sp>
        <p:sp>
          <p:nvSpPr>
            <p:cNvPr name="Freeform 19" id="1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sp>
        <p:nvSpPr>
          <p:cNvPr name="Freeform 20" id="20"/>
          <p:cNvSpPr/>
          <p:nvPr/>
        </p:nvSpPr>
        <p:spPr>
          <a:xfrm flipH="false" flipV="false" rot="0">
            <a:off x="550031" y="7590092"/>
            <a:ext cx="2504709" cy="265251"/>
          </a:xfrm>
          <a:custGeom>
            <a:avLst/>
            <a:gdLst/>
            <a:ahLst/>
            <a:cxnLst/>
            <a:rect r="r" b="b" t="t" l="l"/>
            <a:pathLst>
              <a:path h="265251" w="2504709">
                <a:moveTo>
                  <a:pt x="0" y="0"/>
                </a:moveTo>
                <a:lnTo>
                  <a:pt x="2504710" y="0"/>
                </a:lnTo>
                <a:lnTo>
                  <a:pt x="2504710" y="265251"/>
                </a:lnTo>
                <a:lnTo>
                  <a:pt x="0" y="265251"/>
                </a:lnTo>
                <a:lnTo>
                  <a:pt x="0" y="0"/>
                </a:lnTo>
                <a:close/>
              </a:path>
            </a:pathLst>
          </a:custGeom>
          <a:blipFill>
            <a:blip r:embed="rId5"/>
            <a:stretch>
              <a:fillRect l="0" t="-86495" r="0" b="0"/>
            </a:stretch>
          </a:blipFill>
        </p:spPr>
      </p:sp>
      <p:sp>
        <p:nvSpPr>
          <p:cNvPr name="Freeform 21" id="21"/>
          <p:cNvSpPr/>
          <p:nvPr/>
        </p:nvSpPr>
        <p:spPr>
          <a:xfrm flipH="false" flipV="false" rot="0">
            <a:off x="6529169" y="7590092"/>
            <a:ext cx="2504709" cy="265251"/>
          </a:xfrm>
          <a:custGeom>
            <a:avLst/>
            <a:gdLst/>
            <a:ahLst/>
            <a:cxnLst/>
            <a:rect r="r" b="b" t="t" l="l"/>
            <a:pathLst>
              <a:path h="265251" w="2504709">
                <a:moveTo>
                  <a:pt x="0" y="0"/>
                </a:moveTo>
                <a:lnTo>
                  <a:pt x="2504709" y="0"/>
                </a:lnTo>
                <a:lnTo>
                  <a:pt x="2504709" y="265251"/>
                </a:lnTo>
                <a:lnTo>
                  <a:pt x="0" y="265251"/>
                </a:lnTo>
                <a:lnTo>
                  <a:pt x="0" y="0"/>
                </a:lnTo>
                <a:close/>
              </a:path>
            </a:pathLst>
          </a:custGeom>
          <a:blipFill>
            <a:blip r:embed="rId5"/>
            <a:stretch>
              <a:fillRect l="0" t="-86495" r="0" b="0"/>
            </a:stretch>
          </a:blipFill>
        </p:spPr>
      </p:sp>
      <p:sp>
        <p:nvSpPr>
          <p:cNvPr name="Freeform 22" id="22"/>
          <p:cNvSpPr/>
          <p:nvPr/>
        </p:nvSpPr>
        <p:spPr>
          <a:xfrm flipH="false" flipV="false" rot="0">
            <a:off x="9474520" y="7590092"/>
            <a:ext cx="2504709" cy="265251"/>
          </a:xfrm>
          <a:custGeom>
            <a:avLst/>
            <a:gdLst/>
            <a:ahLst/>
            <a:cxnLst/>
            <a:rect r="r" b="b" t="t" l="l"/>
            <a:pathLst>
              <a:path h="265251" w="2504709">
                <a:moveTo>
                  <a:pt x="0" y="0"/>
                </a:moveTo>
                <a:lnTo>
                  <a:pt x="2504710" y="0"/>
                </a:lnTo>
                <a:lnTo>
                  <a:pt x="2504710" y="265251"/>
                </a:lnTo>
                <a:lnTo>
                  <a:pt x="0" y="265251"/>
                </a:lnTo>
                <a:lnTo>
                  <a:pt x="0" y="0"/>
                </a:lnTo>
                <a:close/>
              </a:path>
            </a:pathLst>
          </a:custGeom>
          <a:blipFill>
            <a:blip r:embed="rId5"/>
            <a:stretch>
              <a:fillRect l="0" t="-86495" r="0" b="0"/>
            </a:stretch>
          </a:blipFill>
        </p:spPr>
      </p:sp>
      <p:grpSp>
        <p:nvGrpSpPr>
          <p:cNvPr name="Group 23" id="23"/>
          <p:cNvGrpSpPr/>
          <p:nvPr/>
        </p:nvGrpSpPr>
        <p:grpSpPr>
          <a:xfrm rot="0">
            <a:off x="-690640" y="-1543050"/>
            <a:ext cx="19210521" cy="4453378"/>
            <a:chOff x="0" y="0"/>
            <a:chExt cx="5059561" cy="1172906"/>
          </a:xfrm>
        </p:grpSpPr>
        <p:sp>
          <p:nvSpPr>
            <p:cNvPr name="Freeform 24" id="24"/>
            <p:cNvSpPr/>
            <p:nvPr/>
          </p:nvSpPr>
          <p:spPr>
            <a:xfrm flipH="false" flipV="false" rot="0">
              <a:off x="0" y="0"/>
              <a:ext cx="5059561" cy="1172906"/>
            </a:xfrm>
            <a:custGeom>
              <a:avLst/>
              <a:gdLst/>
              <a:ahLst/>
              <a:cxnLst/>
              <a:rect r="r" b="b" t="t" l="l"/>
              <a:pathLst>
                <a:path h="1172906" w="5059561">
                  <a:moveTo>
                    <a:pt x="0" y="0"/>
                  </a:moveTo>
                  <a:lnTo>
                    <a:pt x="5059561" y="0"/>
                  </a:lnTo>
                  <a:lnTo>
                    <a:pt x="5059561" y="1172906"/>
                  </a:lnTo>
                  <a:lnTo>
                    <a:pt x="0" y="1172906"/>
                  </a:lnTo>
                  <a:close/>
                </a:path>
              </a:pathLst>
            </a:custGeom>
            <a:solidFill>
              <a:srgbClr val="051D40"/>
            </a:solidFill>
            <a:ln w="38100" cap="sq">
              <a:solidFill>
                <a:srgbClr val="56AEFF"/>
              </a:solidFill>
              <a:prstDash val="solid"/>
              <a:miter/>
            </a:ln>
          </p:spPr>
        </p:sp>
        <p:sp>
          <p:nvSpPr>
            <p:cNvPr name="TextBox 25" id="25"/>
            <p:cNvSpPr txBox="true"/>
            <p:nvPr/>
          </p:nvSpPr>
          <p:spPr>
            <a:xfrm>
              <a:off x="0" y="-38100"/>
              <a:ext cx="5059561" cy="1211006"/>
            </a:xfrm>
            <a:prstGeom prst="rect">
              <a:avLst/>
            </a:prstGeom>
          </p:spPr>
          <p:txBody>
            <a:bodyPr anchor="ctr" rtlCol="false" tIns="50800" lIns="50800" bIns="50800" rIns="50800"/>
            <a:lstStyle/>
            <a:p>
              <a:pPr algn="ctr">
                <a:lnSpc>
                  <a:spcPts val="2605"/>
                </a:lnSpc>
              </a:pPr>
            </a:p>
          </p:txBody>
        </p:sp>
      </p:grpSp>
      <p:sp>
        <p:nvSpPr>
          <p:cNvPr name="Freeform 26" id="26"/>
          <p:cNvSpPr/>
          <p:nvPr/>
        </p:nvSpPr>
        <p:spPr>
          <a:xfrm flipH="false" flipV="false" rot="0">
            <a:off x="15029414" y="8413041"/>
            <a:ext cx="1509894" cy="1509894"/>
          </a:xfrm>
          <a:custGeom>
            <a:avLst/>
            <a:gdLst/>
            <a:ahLst/>
            <a:cxnLst/>
            <a:rect r="r" b="b" t="t" l="l"/>
            <a:pathLst>
              <a:path h="1509894" w="1509894">
                <a:moveTo>
                  <a:pt x="0" y="0"/>
                </a:moveTo>
                <a:lnTo>
                  <a:pt x="1509894" y="0"/>
                </a:lnTo>
                <a:lnTo>
                  <a:pt x="1509894" y="1509894"/>
                </a:lnTo>
                <a:lnTo>
                  <a:pt x="0" y="1509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363441" y="-390286"/>
            <a:ext cx="1715127" cy="1715127"/>
          </a:xfrm>
          <a:custGeom>
            <a:avLst/>
            <a:gdLst/>
            <a:ahLst/>
            <a:cxnLst/>
            <a:rect r="r" b="b" t="t" l="l"/>
            <a:pathLst>
              <a:path h="1715127" w="1715127">
                <a:moveTo>
                  <a:pt x="0" y="0"/>
                </a:moveTo>
                <a:lnTo>
                  <a:pt x="1715127" y="0"/>
                </a:lnTo>
                <a:lnTo>
                  <a:pt x="1715127" y="1715127"/>
                </a:lnTo>
                <a:lnTo>
                  <a:pt x="0" y="17151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14398071" y="-136788"/>
            <a:ext cx="2988937" cy="570615"/>
          </a:xfrm>
          <a:custGeom>
            <a:avLst/>
            <a:gdLst/>
            <a:ahLst/>
            <a:cxnLst/>
            <a:rect r="r" b="b" t="t" l="l"/>
            <a:pathLst>
              <a:path h="570615" w="2988937">
                <a:moveTo>
                  <a:pt x="0" y="0"/>
                </a:moveTo>
                <a:lnTo>
                  <a:pt x="2988938" y="0"/>
                </a:lnTo>
                <a:lnTo>
                  <a:pt x="2988938" y="570616"/>
                </a:lnTo>
                <a:lnTo>
                  <a:pt x="0" y="5706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900991" y="9922935"/>
            <a:ext cx="2988937" cy="570615"/>
          </a:xfrm>
          <a:custGeom>
            <a:avLst/>
            <a:gdLst/>
            <a:ahLst/>
            <a:cxnLst/>
            <a:rect r="r" b="b" t="t" l="l"/>
            <a:pathLst>
              <a:path h="570615" w="2988937">
                <a:moveTo>
                  <a:pt x="0" y="0"/>
                </a:moveTo>
                <a:lnTo>
                  <a:pt x="2988938" y="0"/>
                </a:lnTo>
                <a:lnTo>
                  <a:pt x="2988938" y="570616"/>
                </a:lnTo>
                <a:lnTo>
                  <a:pt x="0" y="5706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3538116" y="7590092"/>
            <a:ext cx="2504709" cy="265251"/>
          </a:xfrm>
          <a:custGeom>
            <a:avLst/>
            <a:gdLst/>
            <a:ahLst/>
            <a:cxnLst/>
            <a:rect r="r" b="b" t="t" l="l"/>
            <a:pathLst>
              <a:path h="265251" w="2504709">
                <a:moveTo>
                  <a:pt x="0" y="0"/>
                </a:moveTo>
                <a:lnTo>
                  <a:pt x="2504709" y="0"/>
                </a:lnTo>
                <a:lnTo>
                  <a:pt x="2504709" y="265251"/>
                </a:lnTo>
                <a:lnTo>
                  <a:pt x="0" y="265251"/>
                </a:lnTo>
                <a:lnTo>
                  <a:pt x="0" y="0"/>
                </a:lnTo>
                <a:close/>
              </a:path>
            </a:pathLst>
          </a:custGeom>
          <a:blipFill>
            <a:blip r:embed="rId5"/>
            <a:stretch>
              <a:fillRect l="0" t="-86495" r="0" b="0"/>
            </a:stretch>
          </a:blipFill>
        </p:spPr>
      </p:sp>
      <p:grpSp>
        <p:nvGrpSpPr>
          <p:cNvPr name="Group 31" id="31"/>
          <p:cNvGrpSpPr/>
          <p:nvPr/>
        </p:nvGrpSpPr>
        <p:grpSpPr>
          <a:xfrm rot="0">
            <a:off x="9265750" y="3733277"/>
            <a:ext cx="2504709" cy="3856816"/>
            <a:chOff x="0" y="0"/>
            <a:chExt cx="862412" cy="1327963"/>
          </a:xfrm>
        </p:grpSpPr>
        <p:sp>
          <p:nvSpPr>
            <p:cNvPr name="Freeform 32" id="32"/>
            <p:cNvSpPr/>
            <p:nvPr/>
          </p:nvSpPr>
          <p:spPr>
            <a:xfrm flipH="false" flipV="false" rot="0">
              <a:off x="0" y="0"/>
              <a:ext cx="862412" cy="1327963"/>
            </a:xfrm>
            <a:custGeom>
              <a:avLst/>
              <a:gdLst/>
              <a:ahLst/>
              <a:cxnLst/>
              <a:rect r="r" b="b" t="t" l="l"/>
              <a:pathLst>
                <a:path h="1327963" w="862412">
                  <a:moveTo>
                    <a:pt x="0" y="0"/>
                  </a:moveTo>
                  <a:lnTo>
                    <a:pt x="862412" y="0"/>
                  </a:lnTo>
                  <a:lnTo>
                    <a:pt x="862412" y="1327963"/>
                  </a:lnTo>
                  <a:lnTo>
                    <a:pt x="0" y="1327963"/>
                  </a:lnTo>
                  <a:close/>
                </a:path>
              </a:pathLst>
            </a:custGeom>
            <a:solidFill>
              <a:srgbClr val="051D40"/>
            </a:solidFill>
            <a:ln cap="sq">
              <a:noFill/>
              <a:prstDash val="solid"/>
              <a:miter/>
            </a:ln>
          </p:spPr>
        </p:sp>
        <p:sp>
          <p:nvSpPr>
            <p:cNvPr name="TextBox 33" id="33"/>
            <p:cNvSpPr txBox="true"/>
            <p:nvPr/>
          </p:nvSpPr>
          <p:spPr>
            <a:xfrm>
              <a:off x="0" y="-47625"/>
              <a:ext cx="862412" cy="1375588"/>
            </a:xfrm>
            <a:prstGeom prst="rect">
              <a:avLst/>
            </a:prstGeom>
          </p:spPr>
          <p:txBody>
            <a:bodyPr anchor="ctr" rtlCol="false" tIns="50800" lIns="50800" bIns="50800" rIns="50800"/>
            <a:lstStyle/>
            <a:p>
              <a:pPr algn="ctr" marL="0" indent="0" lvl="0">
                <a:lnSpc>
                  <a:spcPts val="3360"/>
                </a:lnSpc>
                <a:spcBef>
                  <a:spcPct val="0"/>
                </a:spcBef>
              </a:pPr>
            </a:p>
          </p:txBody>
        </p:sp>
      </p:grpSp>
      <p:grpSp>
        <p:nvGrpSpPr>
          <p:cNvPr name="Group 34" id="34"/>
          <p:cNvGrpSpPr/>
          <p:nvPr/>
        </p:nvGrpSpPr>
        <p:grpSpPr>
          <a:xfrm rot="0">
            <a:off x="12193442" y="3733277"/>
            <a:ext cx="2578453" cy="3856816"/>
            <a:chOff x="0" y="0"/>
            <a:chExt cx="887803" cy="1327963"/>
          </a:xfrm>
        </p:grpSpPr>
        <p:sp>
          <p:nvSpPr>
            <p:cNvPr name="Freeform 35" id="35"/>
            <p:cNvSpPr/>
            <p:nvPr/>
          </p:nvSpPr>
          <p:spPr>
            <a:xfrm flipH="false" flipV="false" rot="0">
              <a:off x="0" y="0"/>
              <a:ext cx="887803" cy="1327963"/>
            </a:xfrm>
            <a:custGeom>
              <a:avLst/>
              <a:gdLst/>
              <a:ahLst/>
              <a:cxnLst/>
              <a:rect r="r" b="b" t="t" l="l"/>
              <a:pathLst>
                <a:path h="1327963" w="887803">
                  <a:moveTo>
                    <a:pt x="0" y="0"/>
                  </a:moveTo>
                  <a:lnTo>
                    <a:pt x="887803" y="0"/>
                  </a:lnTo>
                  <a:lnTo>
                    <a:pt x="887803" y="1327963"/>
                  </a:lnTo>
                  <a:lnTo>
                    <a:pt x="0" y="1327963"/>
                  </a:lnTo>
                  <a:close/>
                </a:path>
              </a:pathLst>
            </a:custGeom>
            <a:solidFill>
              <a:srgbClr val="051D40"/>
            </a:solidFill>
            <a:ln cap="sq">
              <a:noFill/>
              <a:prstDash val="solid"/>
              <a:miter/>
            </a:ln>
          </p:spPr>
        </p:sp>
        <p:sp>
          <p:nvSpPr>
            <p:cNvPr name="TextBox 36" id="36"/>
            <p:cNvSpPr txBox="true"/>
            <p:nvPr/>
          </p:nvSpPr>
          <p:spPr>
            <a:xfrm>
              <a:off x="0" y="-47625"/>
              <a:ext cx="887803" cy="1375588"/>
            </a:xfrm>
            <a:prstGeom prst="rect">
              <a:avLst/>
            </a:prstGeom>
          </p:spPr>
          <p:txBody>
            <a:bodyPr anchor="ctr" rtlCol="false" tIns="50800" lIns="50800" bIns="50800" rIns="50800"/>
            <a:lstStyle/>
            <a:p>
              <a:pPr algn="ctr" marL="0" indent="0" lvl="0">
                <a:lnSpc>
                  <a:spcPts val="3360"/>
                </a:lnSpc>
                <a:spcBef>
                  <a:spcPct val="0"/>
                </a:spcBef>
              </a:pPr>
            </a:p>
          </p:txBody>
        </p:sp>
      </p:grpSp>
      <p:sp>
        <p:nvSpPr>
          <p:cNvPr name="Freeform 37" id="37"/>
          <p:cNvSpPr/>
          <p:nvPr/>
        </p:nvSpPr>
        <p:spPr>
          <a:xfrm flipH="false" flipV="false" rot="0">
            <a:off x="12390106" y="7590092"/>
            <a:ext cx="2504709" cy="265251"/>
          </a:xfrm>
          <a:custGeom>
            <a:avLst/>
            <a:gdLst/>
            <a:ahLst/>
            <a:cxnLst/>
            <a:rect r="r" b="b" t="t" l="l"/>
            <a:pathLst>
              <a:path h="265251" w="2504709">
                <a:moveTo>
                  <a:pt x="0" y="0"/>
                </a:moveTo>
                <a:lnTo>
                  <a:pt x="2504710" y="0"/>
                </a:lnTo>
                <a:lnTo>
                  <a:pt x="2504710" y="265251"/>
                </a:lnTo>
                <a:lnTo>
                  <a:pt x="0" y="265251"/>
                </a:lnTo>
                <a:lnTo>
                  <a:pt x="0" y="0"/>
                </a:lnTo>
                <a:close/>
              </a:path>
            </a:pathLst>
          </a:custGeom>
          <a:blipFill>
            <a:blip r:embed="rId5"/>
            <a:stretch>
              <a:fillRect l="0" t="-86495" r="0" b="0"/>
            </a:stretch>
          </a:blipFill>
        </p:spPr>
      </p:sp>
      <p:grpSp>
        <p:nvGrpSpPr>
          <p:cNvPr name="Group 38" id="38"/>
          <p:cNvGrpSpPr>
            <a:grpSpLocks noChangeAspect="true"/>
          </p:cNvGrpSpPr>
          <p:nvPr/>
        </p:nvGrpSpPr>
        <p:grpSpPr>
          <a:xfrm rot="0">
            <a:off x="9440360" y="3950944"/>
            <a:ext cx="2155490" cy="2147070"/>
            <a:chOff x="0" y="0"/>
            <a:chExt cx="6502400" cy="6477000"/>
          </a:xfrm>
        </p:grpSpPr>
        <p:sp>
          <p:nvSpPr>
            <p:cNvPr name="Freeform 39" id="3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10"/>
              <a:stretch>
                <a:fillRect l="223" t="-38887" r="223" b="-38887"/>
              </a:stretch>
            </a:blipFill>
          </p:spPr>
        </p:sp>
        <p:sp>
          <p:nvSpPr>
            <p:cNvPr name="Freeform 40" id="4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grpSp>
        <p:nvGrpSpPr>
          <p:cNvPr name="Group 41" id="41"/>
          <p:cNvGrpSpPr>
            <a:grpSpLocks noChangeAspect="true"/>
          </p:cNvGrpSpPr>
          <p:nvPr/>
        </p:nvGrpSpPr>
        <p:grpSpPr>
          <a:xfrm rot="0">
            <a:off x="12379621" y="3950944"/>
            <a:ext cx="2155490" cy="2147070"/>
            <a:chOff x="0" y="0"/>
            <a:chExt cx="6502400" cy="6477000"/>
          </a:xfrm>
        </p:grpSpPr>
        <p:sp>
          <p:nvSpPr>
            <p:cNvPr name="Freeform 42" id="42"/>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11"/>
              <a:stretch>
                <a:fillRect l="35" t="0" r="35" b="0"/>
              </a:stretch>
            </a:blipFill>
          </p:spPr>
        </p:sp>
        <p:sp>
          <p:nvSpPr>
            <p:cNvPr name="Freeform 43" id="43"/>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grpSp>
        <p:nvGrpSpPr>
          <p:cNvPr name="Group 44" id="44"/>
          <p:cNvGrpSpPr/>
          <p:nvPr/>
        </p:nvGrpSpPr>
        <p:grpSpPr>
          <a:xfrm rot="0">
            <a:off x="15264738" y="3733277"/>
            <a:ext cx="2578453" cy="3856816"/>
            <a:chOff x="0" y="0"/>
            <a:chExt cx="887803" cy="1327963"/>
          </a:xfrm>
        </p:grpSpPr>
        <p:sp>
          <p:nvSpPr>
            <p:cNvPr name="Freeform 45" id="45"/>
            <p:cNvSpPr/>
            <p:nvPr/>
          </p:nvSpPr>
          <p:spPr>
            <a:xfrm flipH="false" flipV="false" rot="0">
              <a:off x="0" y="0"/>
              <a:ext cx="887803" cy="1327963"/>
            </a:xfrm>
            <a:custGeom>
              <a:avLst/>
              <a:gdLst/>
              <a:ahLst/>
              <a:cxnLst/>
              <a:rect r="r" b="b" t="t" l="l"/>
              <a:pathLst>
                <a:path h="1327963" w="887803">
                  <a:moveTo>
                    <a:pt x="0" y="0"/>
                  </a:moveTo>
                  <a:lnTo>
                    <a:pt x="887803" y="0"/>
                  </a:lnTo>
                  <a:lnTo>
                    <a:pt x="887803" y="1327963"/>
                  </a:lnTo>
                  <a:lnTo>
                    <a:pt x="0" y="1327963"/>
                  </a:lnTo>
                  <a:close/>
                </a:path>
              </a:pathLst>
            </a:custGeom>
            <a:solidFill>
              <a:srgbClr val="051D40"/>
            </a:solidFill>
            <a:ln cap="sq">
              <a:noFill/>
              <a:prstDash val="solid"/>
              <a:miter/>
            </a:ln>
          </p:spPr>
        </p:sp>
        <p:sp>
          <p:nvSpPr>
            <p:cNvPr name="TextBox 46" id="46"/>
            <p:cNvSpPr txBox="true"/>
            <p:nvPr/>
          </p:nvSpPr>
          <p:spPr>
            <a:xfrm>
              <a:off x="0" y="-47625"/>
              <a:ext cx="887803" cy="1375588"/>
            </a:xfrm>
            <a:prstGeom prst="rect">
              <a:avLst/>
            </a:prstGeom>
          </p:spPr>
          <p:txBody>
            <a:bodyPr anchor="ctr" rtlCol="false" tIns="50800" lIns="50800" bIns="50800" rIns="50800"/>
            <a:lstStyle/>
            <a:p>
              <a:pPr algn="ctr" marL="0" indent="0" lvl="0">
                <a:lnSpc>
                  <a:spcPts val="3360"/>
                </a:lnSpc>
                <a:spcBef>
                  <a:spcPct val="0"/>
                </a:spcBef>
              </a:pPr>
            </a:p>
          </p:txBody>
        </p:sp>
      </p:grpSp>
      <p:grpSp>
        <p:nvGrpSpPr>
          <p:cNvPr name="Group 47" id="47"/>
          <p:cNvGrpSpPr>
            <a:grpSpLocks noChangeAspect="true"/>
          </p:cNvGrpSpPr>
          <p:nvPr/>
        </p:nvGrpSpPr>
        <p:grpSpPr>
          <a:xfrm rot="0">
            <a:off x="15450917" y="3950944"/>
            <a:ext cx="2155490" cy="2147070"/>
            <a:chOff x="0" y="0"/>
            <a:chExt cx="6502400" cy="6477000"/>
          </a:xfrm>
        </p:grpSpPr>
        <p:sp>
          <p:nvSpPr>
            <p:cNvPr name="Freeform 48" id="4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12"/>
              <a:stretch>
                <a:fillRect l="-36417" t="-58830" r="-46260" b="-85829"/>
              </a:stretch>
            </a:blipFill>
          </p:spPr>
        </p:sp>
        <p:sp>
          <p:nvSpPr>
            <p:cNvPr name="Freeform 49" id="4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56AEFF"/>
            </a:solidFill>
          </p:spPr>
        </p:sp>
      </p:grpSp>
      <p:sp>
        <p:nvSpPr>
          <p:cNvPr name="Freeform 50" id="50"/>
          <p:cNvSpPr/>
          <p:nvPr/>
        </p:nvSpPr>
        <p:spPr>
          <a:xfrm flipH="false" flipV="false" rot="0">
            <a:off x="15332966" y="7590092"/>
            <a:ext cx="2504709" cy="265251"/>
          </a:xfrm>
          <a:custGeom>
            <a:avLst/>
            <a:gdLst/>
            <a:ahLst/>
            <a:cxnLst/>
            <a:rect r="r" b="b" t="t" l="l"/>
            <a:pathLst>
              <a:path h="265251" w="2504709">
                <a:moveTo>
                  <a:pt x="0" y="0"/>
                </a:moveTo>
                <a:lnTo>
                  <a:pt x="2504709" y="0"/>
                </a:lnTo>
                <a:lnTo>
                  <a:pt x="2504709" y="265251"/>
                </a:lnTo>
                <a:lnTo>
                  <a:pt x="0" y="265251"/>
                </a:lnTo>
                <a:lnTo>
                  <a:pt x="0" y="0"/>
                </a:lnTo>
                <a:close/>
              </a:path>
            </a:pathLst>
          </a:custGeom>
          <a:blipFill>
            <a:blip r:embed="rId5"/>
            <a:stretch>
              <a:fillRect l="0" t="-86495" r="0" b="0"/>
            </a:stretch>
          </a:blipFill>
        </p:spPr>
      </p:sp>
      <p:sp>
        <p:nvSpPr>
          <p:cNvPr name="TextBox 51" id="51"/>
          <p:cNvSpPr txBox="true"/>
          <p:nvPr/>
        </p:nvSpPr>
        <p:spPr>
          <a:xfrm rot="0">
            <a:off x="3919280" y="1626663"/>
            <a:ext cx="10450651" cy="733425"/>
          </a:xfrm>
          <a:prstGeom prst="rect">
            <a:avLst/>
          </a:prstGeom>
        </p:spPr>
        <p:txBody>
          <a:bodyPr anchor="t" rtlCol="false" tIns="0" lIns="0" bIns="0" rIns="0">
            <a:spAutoFit/>
          </a:bodyPr>
          <a:lstStyle/>
          <a:p>
            <a:pPr algn="ctr" marL="0" indent="0" lvl="0">
              <a:lnSpc>
                <a:spcPts val="5719"/>
              </a:lnSpc>
              <a:spcBef>
                <a:spcPct val="0"/>
              </a:spcBef>
            </a:pPr>
            <a:r>
              <a:rPr lang="en-US" b="true" sz="4766">
                <a:solidFill>
                  <a:srgbClr val="FFFFFF"/>
                </a:solidFill>
                <a:latin typeface="Now Bold"/>
                <a:ea typeface="Now Bold"/>
                <a:cs typeface="Now Bold"/>
                <a:sym typeface="Now Bold"/>
              </a:rPr>
              <a:t>OUR TEAM</a:t>
            </a:r>
          </a:p>
        </p:txBody>
      </p:sp>
      <p:sp>
        <p:nvSpPr>
          <p:cNvPr name="TextBox 52" id="52"/>
          <p:cNvSpPr txBox="true"/>
          <p:nvPr/>
        </p:nvSpPr>
        <p:spPr>
          <a:xfrm rot="0">
            <a:off x="550031" y="6352326"/>
            <a:ext cx="2174992" cy="335692"/>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Haidi Ali</a:t>
            </a:r>
          </a:p>
        </p:txBody>
      </p:sp>
      <p:sp>
        <p:nvSpPr>
          <p:cNvPr name="TextBox 53" id="53"/>
          <p:cNvSpPr txBox="true"/>
          <p:nvPr/>
        </p:nvSpPr>
        <p:spPr>
          <a:xfrm rot="0">
            <a:off x="3715064" y="6414657"/>
            <a:ext cx="1834845" cy="335692"/>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Omar Essam</a:t>
            </a:r>
          </a:p>
        </p:txBody>
      </p:sp>
      <p:sp>
        <p:nvSpPr>
          <p:cNvPr name="TextBox 54" id="54"/>
          <p:cNvSpPr txBox="true"/>
          <p:nvPr/>
        </p:nvSpPr>
        <p:spPr>
          <a:xfrm rot="0">
            <a:off x="6625898" y="6414657"/>
            <a:ext cx="1877774" cy="661859"/>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Nessma Saeed</a:t>
            </a:r>
          </a:p>
        </p:txBody>
      </p:sp>
      <p:sp>
        <p:nvSpPr>
          <p:cNvPr name="TextBox 55" id="55"/>
          <p:cNvSpPr txBox="true"/>
          <p:nvPr/>
        </p:nvSpPr>
        <p:spPr>
          <a:xfrm rot="0">
            <a:off x="9769202" y="6414657"/>
            <a:ext cx="1600058" cy="335692"/>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Amal Morsi</a:t>
            </a:r>
          </a:p>
        </p:txBody>
      </p:sp>
      <p:sp>
        <p:nvSpPr>
          <p:cNvPr name="TextBox 56" id="56"/>
          <p:cNvSpPr txBox="true"/>
          <p:nvPr/>
        </p:nvSpPr>
        <p:spPr>
          <a:xfrm rot="0">
            <a:off x="12154525" y="6414657"/>
            <a:ext cx="2652196" cy="335692"/>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Mohamed Ayman</a:t>
            </a:r>
          </a:p>
        </p:txBody>
      </p:sp>
      <p:sp>
        <p:nvSpPr>
          <p:cNvPr name="TextBox 57" id="57"/>
          <p:cNvSpPr txBox="true"/>
          <p:nvPr/>
        </p:nvSpPr>
        <p:spPr>
          <a:xfrm rot="0">
            <a:off x="15225821" y="6414657"/>
            <a:ext cx="2652196" cy="335692"/>
          </a:xfrm>
          <a:prstGeom prst="rect">
            <a:avLst/>
          </a:prstGeom>
        </p:spPr>
        <p:txBody>
          <a:bodyPr anchor="t" rtlCol="false" tIns="0" lIns="0" bIns="0" rIns="0">
            <a:spAutoFit/>
          </a:bodyPr>
          <a:lstStyle/>
          <a:p>
            <a:pPr algn="ctr">
              <a:lnSpc>
                <a:spcPts val="2616"/>
              </a:lnSpc>
            </a:pPr>
            <a:r>
              <a:rPr lang="en-US" sz="2180" spc="109">
                <a:solidFill>
                  <a:srgbClr val="FFFBFB"/>
                </a:solidFill>
                <a:latin typeface="DM Sans"/>
                <a:ea typeface="DM Sans"/>
                <a:cs typeface="DM Sans"/>
                <a:sym typeface="DM Sans"/>
              </a:rPr>
              <a:t>Shery Mansour</a:t>
            </a:r>
          </a:p>
        </p:txBody>
      </p:sp>
      <p:sp>
        <p:nvSpPr>
          <p:cNvPr name="TextBox 58" id="5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8" id="8"/>
          <p:cNvGrpSpPr>
            <a:grpSpLocks noChangeAspect="true"/>
          </p:cNvGrpSpPr>
          <p:nvPr/>
        </p:nvGrpSpPr>
        <p:grpSpPr>
          <a:xfrm rot="0">
            <a:off x="11807534" y="0"/>
            <a:ext cx="6254290" cy="10287000"/>
            <a:chOff x="0" y="0"/>
            <a:chExt cx="3860673" cy="6350000"/>
          </a:xfrm>
        </p:grpSpPr>
        <p:sp>
          <p:nvSpPr>
            <p:cNvPr name="Freeform 9" id="9"/>
            <p:cNvSpPr/>
            <p:nvPr/>
          </p:nvSpPr>
          <p:spPr>
            <a:xfrm flipH="false" flipV="false" rot="0">
              <a:off x="0" y="0"/>
              <a:ext cx="3860673" cy="6350000"/>
            </a:xfrm>
            <a:custGeom>
              <a:avLst/>
              <a:gdLst/>
              <a:ahLst/>
              <a:cxnLst/>
              <a:rect r="r" b="b" t="t" l="l"/>
              <a:pathLst>
                <a:path h="6350000" w="3860673">
                  <a:moveTo>
                    <a:pt x="3860673" y="0"/>
                  </a:moveTo>
                  <a:lnTo>
                    <a:pt x="2341753" y="6350000"/>
                  </a:lnTo>
                  <a:lnTo>
                    <a:pt x="0" y="6350000"/>
                  </a:lnTo>
                  <a:lnTo>
                    <a:pt x="1518920" y="0"/>
                  </a:lnTo>
                  <a:lnTo>
                    <a:pt x="3860673" y="0"/>
                  </a:lnTo>
                  <a:close/>
                </a:path>
              </a:pathLst>
            </a:custGeom>
            <a:blipFill>
              <a:blip r:embed="rId5"/>
              <a:stretch>
                <a:fillRect l="-73436" t="0" r="-73436" b="0"/>
              </a:stretch>
            </a:blipFill>
          </p:spPr>
        </p:sp>
      </p:grpSp>
      <p:sp>
        <p:nvSpPr>
          <p:cNvPr name="Freeform 10" id="10"/>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6" id="16"/>
          <p:cNvSpPr txBox="true"/>
          <p:nvPr/>
        </p:nvSpPr>
        <p:spPr>
          <a:xfrm rot="0">
            <a:off x="2347706" y="1028700"/>
            <a:ext cx="8761770" cy="1230585"/>
          </a:xfrm>
          <a:prstGeom prst="rect">
            <a:avLst/>
          </a:prstGeom>
        </p:spPr>
        <p:txBody>
          <a:bodyPr anchor="t" rtlCol="false" tIns="0" lIns="0" bIns="0" rIns="0">
            <a:spAutoFit/>
          </a:bodyPr>
          <a:lstStyle/>
          <a:p>
            <a:pPr algn="ctr" marL="0" indent="0" lvl="0">
              <a:lnSpc>
                <a:spcPts val="9625"/>
              </a:lnSpc>
              <a:spcBef>
                <a:spcPct val="0"/>
              </a:spcBef>
            </a:pPr>
            <a:r>
              <a:rPr lang="en-US" b="true" sz="8020">
                <a:solidFill>
                  <a:srgbClr val="FFFFFF"/>
                </a:solidFill>
                <a:latin typeface="Now Bold"/>
                <a:ea typeface="Now Bold"/>
                <a:cs typeface="Now Bold"/>
                <a:sym typeface="Now Bold"/>
              </a:rPr>
              <a:t>INTRODUCTION</a:t>
            </a:r>
          </a:p>
        </p:txBody>
      </p:sp>
      <p:sp>
        <p:nvSpPr>
          <p:cNvPr name="TextBox 17" id="17"/>
          <p:cNvSpPr txBox="true"/>
          <p:nvPr/>
        </p:nvSpPr>
        <p:spPr>
          <a:xfrm rot="0">
            <a:off x="1028700" y="3530147"/>
            <a:ext cx="11185223" cy="5824167"/>
          </a:xfrm>
          <a:prstGeom prst="rect">
            <a:avLst/>
          </a:prstGeom>
        </p:spPr>
        <p:txBody>
          <a:bodyPr anchor="t" rtlCol="false" tIns="0" lIns="0" bIns="0" rIns="0">
            <a:spAutoFit/>
          </a:bodyPr>
          <a:lstStyle/>
          <a:p>
            <a:pPr algn="just" marL="518160" indent="-259080" lvl="1">
              <a:lnSpc>
                <a:spcPts val="3311"/>
              </a:lnSpc>
              <a:buFont typeface="Arial"/>
              <a:buChar char="•"/>
            </a:pPr>
            <a:r>
              <a:rPr lang="en-US" b="true" sz="2400">
                <a:solidFill>
                  <a:srgbClr val="FFFFFF"/>
                </a:solidFill>
                <a:latin typeface="DM Sans Bold"/>
                <a:ea typeface="DM Sans Bold"/>
                <a:cs typeface="DM Sans Bold"/>
                <a:sym typeface="DM Sans Bold"/>
              </a:rPr>
              <a:t>Objective</a:t>
            </a:r>
            <a:r>
              <a:rPr lang="en-US" sz="2400">
                <a:solidFill>
                  <a:srgbClr val="FFFFFF"/>
                </a:solidFill>
                <a:latin typeface="DM Sans"/>
                <a:ea typeface="DM Sans"/>
                <a:cs typeface="DM Sans"/>
                <a:sym typeface="DM Sans"/>
              </a:rPr>
              <a:t>: </a:t>
            </a:r>
          </a:p>
          <a:p>
            <a:pPr algn="just">
              <a:lnSpc>
                <a:spcPts val="3311"/>
              </a:lnSpc>
            </a:pPr>
            <a:r>
              <a:rPr lang="en-US" sz="2400">
                <a:solidFill>
                  <a:srgbClr val="FFFFFF"/>
                </a:solidFill>
                <a:latin typeface="DM Sans"/>
                <a:ea typeface="DM Sans"/>
                <a:cs typeface="DM Sans"/>
                <a:sym typeface="DM Sans"/>
              </a:rPr>
              <a:t>      </a:t>
            </a:r>
            <a:r>
              <a:rPr lang="en-US" sz="2400">
                <a:solidFill>
                  <a:srgbClr val="FFFFFF"/>
                </a:solidFill>
                <a:latin typeface="DM Sans"/>
                <a:ea typeface="DM Sans"/>
                <a:cs typeface="DM Sans"/>
                <a:sym typeface="DM Sans"/>
              </a:rPr>
              <a:t>Guide users through configuring and managing absence types, leave         </a:t>
            </a:r>
          </a:p>
          <a:p>
            <a:pPr algn="just">
              <a:lnSpc>
                <a:spcPts val="3311"/>
              </a:lnSpc>
            </a:pPr>
            <a:r>
              <a:rPr lang="en-US" sz="2400">
                <a:solidFill>
                  <a:srgbClr val="FFFFFF"/>
                </a:solidFill>
                <a:latin typeface="DM Sans"/>
                <a:ea typeface="DM Sans"/>
                <a:cs typeface="DM Sans"/>
                <a:sym typeface="DM Sans"/>
              </a:rPr>
              <a:t>    policies, employee leave requests, and reporting in Oracle Absence      Management.</a:t>
            </a:r>
          </a:p>
          <a:p>
            <a:pPr algn="just">
              <a:lnSpc>
                <a:spcPts val="3311"/>
              </a:lnSpc>
            </a:pPr>
          </a:p>
          <a:p>
            <a:pPr algn="just" marL="518160" indent="-259080" lvl="1">
              <a:lnSpc>
                <a:spcPts val="3311"/>
              </a:lnSpc>
              <a:buFont typeface="Arial"/>
              <a:buChar char="•"/>
            </a:pPr>
            <a:r>
              <a:rPr lang="en-US" b="true" sz="2400">
                <a:solidFill>
                  <a:srgbClr val="FFFFFF"/>
                </a:solidFill>
                <a:latin typeface="DM Sans Bold"/>
                <a:ea typeface="DM Sans Bold"/>
                <a:cs typeface="DM Sans Bold"/>
                <a:sym typeface="DM Sans Bold"/>
              </a:rPr>
              <a:t>Scope</a:t>
            </a:r>
            <a:r>
              <a:rPr lang="en-US" sz="2400">
                <a:solidFill>
                  <a:srgbClr val="FFFFFF"/>
                </a:solidFill>
                <a:latin typeface="DM Sans"/>
                <a:ea typeface="DM Sans"/>
                <a:cs typeface="DM Sans"/>
                <a:sym typeface="DM Sans"/>
              </a:rPr>
              <a:t>:</a:t>
            </a:r>
          </a:p>
          <a:p>
            <a:pPr algn="just">
              <a:lnSpc>
                <a:spcPts val="3311"/>
              </a:lnSpc>
            </a:pPr>
            <a:r>
              <a:rPr lang="en-US" sz="2400">
                <a:solidFill>
                  <a:srgbClr val="FFFFFF"/>
                </a:solidFill>
                <a:latin typeface="DM Sans"/>
                <a:ea typeface="DM Sans"/>
                <a:cs typeface="DM Sans"/>
                <a:sym typeface="DM Sans"/>
              </a:rPr>
              <a:t>     Covers defining absence types, configuring eligibility criteria, setting  </a:t>
            </a:r>
            <a:r>
              <a:rPr lang="en-US" sz="2400">
                <a:solidFill>
                  <a:srgbClr val="051D40"/>
                </a:solidFill>
                <a:latin typeface="DM Sans"/>
                <a:ea typeface="DM Sans"/>
                <a:cs typeface="DM Sans"/>
                <a:sym typeface="DM Sans"/>
              </a:rPr>
              <a:t>..... . </a:t>
            </a:r>
            <a:r>
              <a:rPr lang="en-US" sz="2400">
                <a:solidFill>
                  <a:srgbClr val="FFFFFF"/>
                </a:solidFill>
                <a:latin typeface="DM Sans"/>
                <a:ea typeface="DM Sans"/>
                <a:cs typeface="DM Sans"/>
                <a:sym typeface="DM Sans"/>
              </a:rPr>
              <a:t>up leave accruals, configuring approvals, managing balances, and</a:t>
            </a:r>
          </a:p>
          <a:p>
            <a:pPr algn="just">
              <a:lnSpc>
                <a:spcPts val="3311"/>
              </a:lnSpc>
            </a:pPr>
            <a:r>
              <a:rPr lang="en-US" sz="2400">
                <a:solidFill>
                  <a:srgbClr val="FFFFFF"/>
                </a:solidFill>
                <a:latin typeface="DM Sans"/>
                <a:ea typeface="DM Sans"/>
                <a:cs typeface="DM Sans"/>
                <a:sym typeface="DM Sans"/>
              </a:rPr>
              <a:t>  </a:t>
            </a:r>
            <a:r>
              <a:rPr lang="en-US" sz="2400">
                <a:solidFill>
                  <a:srgbClr val="051D40"/>
                </a:solidFill>
                <a:latin typeface="DM Sans"/>
                <a:ea typeface="DM Sans"/>
                <a:cs typeface="DM Sans"/>
                <a:sym typeface="DM Sans"/>
              </a:rPr>
              <a:t>.... </a:t>
            </a:r>
            <a:r>
              <a:rPr lang="en-US" sz="2400">
                <a:solidFill>
                  <a:srgbClr val="FFFFFF"/>
                </a:solidFill>
                <a:latin typeface="DM Sans"/>
                <a:ea typeface="DM Sans"/>
                <a:cs typeface="DM Sans"/>
                <a:sym typeface="DM Sans"/>
              </a:rPr>
              <a:t>generating reports.</a:t>
            </a:r>
          </a:p>
          <a:p>
            <a:pPr algn="just">
              <a:lnSpc>
                <a:spcPts val="3311"/>
              </a:lnSpc>
            </a:pPr>
          </a:p>
          <a:p>
            <a:pPr algn="just" marL="518160" indent="-259080" lvl="1">
              <a:lnSpc>
                <a:spcPts val="3311"/>
              </a:lnSpc>
              <a:buFont typeface="Arial"/>
              <a:buChar char="•"/>
            </a:pPr>
            <a:r>
              <a:rPr lang="en-US" b="true" sz="2400">
                <a:solidFill>
                  <a:srgbClr val="FFFFFF"/>
                </a:solidFill>
                <a:latin typeface="DM Sans Bold"/>
                <a:ea typeface="DM Sans Bold"/>
                <a:cs typeface="DM Sans Bold"/>
                <a:sym typeface="DM Sans Bold"/>
              </a:rPr>
              <a:t>Expected Outcomes:</a:t>
            </a:r>
            <a:r>
              <a:rPr lang="en-US" sz="2400">
                <a:solidFill>
                  <a:srgbClr val="FFFFFF"/>
                </a:solidFill>
                <a:latin typeface="DM Sans"/>
                <a:ea typeface="DM Sans"/>
                <a:cs typeface="DM Sans"/>
                <a:sym typeface="DM Sans"/>
              </a:rPr>
              <a:t> </a:t>
            </a:r>
          </a:p>
          <a:p>
            <a:pPr algn="just">
              <a:lnSpc>
                <a:spcPts val="3311"/>
              </a:lnSpc>
            </a:pPr>
            <a:r>
              <a:rPr lang="en-US" sz="2400">
                <a:solidFill>
                  <a:srgbClr val="FFFFFF"/>
                </a:solidFill>
                <a:latin typeface="DM Sans"/>
                <a:ea typeface="DM Sans"/>
                <a:cs typeface="DM Sans"/>
                <a:sym typeface="DM Sans"/>
              </a:rPr>
              <a:t>      </a:t>
            </a:r>
            <a:r>
              <a:rPr lang="en-US" sz="2400">
                <a:solidFill>
                  <a:srgbClr val="FFFFFF"/>
                </a:solidFill>
                <a:latin typeface="DM Sans"/>
                <a:ea typeface="DM Sans"/>
                <a:cs typeface="DM Sans"/>
                <a:sym typeface="DM Sans"/>
              </a:rPr>
              <a:t>Operational absence management system with real-time tracking,</a:t>
            </a:r>
          </a:p>
          <a:p>
            <a:pPr algn="just">
              <a:lnSpc>
                <a:spcPts val="3311"/>
              </a:lnSpc>
            </a:pPr>
            <a:r>
              <a:rPr lang="en-US" sz="2400">
                <a:solidFill>
                  <a:srgbClr val="051D40"/>
                </a:solidFill>
                <a:latin typeface="DM Sans"/>
                <a:ea typeface="DM Sans"/>
                <a:cs typeface="DM Sans"/>
                <a:sym typeface="DM Sans"/>
              </a:rPr>
              <a:t> .    </a:t>
            </a:r>
            <a:r>
              <a:rPr lang="en-US" sz="2400">
                <a:solidFill>
                  <a:srgbClr val="FFFFFF"/>
                </a:solidFill>
                <a:latin typeface="DM Sans"/>
                <a:ea typeface="DM Sans"/>
                <a:cs typeface="DM Sans"/>
                <a:sym typeface="DM Sans"/>
              </a:rPr>
              <a:t>compliance, and automated workflows.</a:t>
            </a:r>
          </a:p>
          <a:p>
            <a:pPr algn="just" marL="0" indent="0" lvl="0">
              <a:lnSpc>
                <a:spcPts val="3057"/>
              </a:lnSpc>
              <a:spcBef>
                <a:spcPct val="0"/>
              </a:spcBef>
            </a:pPr>
          </a:p>
        </p:txBody>
      </p:sp>
      <p:sp>
        <p:nvSpPr>
          <p:cNvPr name="TextBox 18" id="18"/>
          <p:cNvSpPr txBox="true"/>
          <p:nvPr/>
        </p:nvSpPr>
        <p:spPr>
          <a:xfrm rot="0">
            <a:off x="1028700" y="2939395"/>
            <a:ext cx="9137390" cy="411501"/>
          </a:xfrm>
          <a:prstGeom prst="rect">
            <a:avLst/>
          </a:prstGeom>
        </p:spPr>
        <p:txBody>
          <a:bodyPr anchor="t" rtlCol="false" tIns="0" lIns="0" bIns="0" rIns="0">
            <a:spAutoFit/>
          </a:bodyPr>
          <a:lstStyle/>
          <a:p>
            <a:pPr algn="l" marL="0" indent="0" lvl="0">
              <a:lnSpc>
                <a:spcPts val="3333"/>
              </a:lnSpc>
              <a:spcBef>
                <a:spcPct val="0"/>
              </a:spcBef>
            </a:pPr>
            <a:r>
              <a:rPr lang="en-US" b="true" sz="2415">
                <a:solidFill>
                  <a:srgbClr val="FFFFFF"/>
                </a:solidFill>
                <a:latin typeface="DM Sans Bold"/>
                <a:ea typeface="DM Sans Bold"/>
                <a:cs typeface="DM Sans Bold"/>
                <a:sym typeface="DM Sans Bold"/>
              </a:rPr>
              <a:t>PROJECT OVERVIEW</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860032"/>
          </a:xfrm>
          <a:custGeom>
            <a:avLst/>
            <a:gdLst/>
            <a:ahLst/>
            <a:cxnLst/>
            <a:rect r="r" b="b" t="t" l="l"/>
            <a:pathLst>
              <a:path h="3860032" w="18288000">
                <a:moveTo>
                  <a:pt x="0" y="0"/>
                </a:moveTo>
                <a:lnTo>
                  <a:pt x="18288000" y="0"/>
                </a:lnTo>
                <a:lnTo>
                  <a:pt x="18288000" y="3860032"/>
                </a:lnTo>
                <a:lnTo>
                  <a:pt x="0" y="3860032"/>
                </a:lnTo>
                <a:lnTo>
                  <a:pt x="0" y="0"/>
                </a:lnTo>
                <a:close/>
              </a:path>
            </a:pathLst>
          </a:custGeom>
          <a:blipFill>
            <a:blip r:embed="rId3"/>
            <a:stretch>
              <a:fillRect l="0" t="-107827" r="0" b="-107827"/>
            </a:stretch>
          </a:blipFill>
        </p:spPr>
      </p:sp>
      <p:grpSp>
        <p:nvGrpSpPr>
          <p:cNvPr name="Group 3" id="3"/>
          <p:cNvGrpSpPr/>
          <p:nvPr/>
        </p:nvGrpSpPr>
        <p:grpSpPr>
          <a:xfrm rot="0">
            <a:off x="4862766" y="0"/>
            <a:ext cx="8933528" cy="10287000"/>
            <a:chOff x="0" y="0"/>
            <a:chExt cx="2352863" cy="2709333"/>
          </a:xfrm>
        </p:grpSpPr>
        <p:sp>
          <p:nvSpPr>
            <p:cNvPr name="Freeform 4" id="4"/>
            <p:cNvSpPr/>
            <p:nvPr/>
          </p:nvSpPr>
          <p:spPr>
            <a:xfrm flipH="false" flipV="false" rot="0">
              <a:off x="0" y="0"/>
              <a:ext cx="2352863" cy="2709333"/>
            </a:xfrm>
            <a:custGeom>
              <a:avLst/>
              <a:gdLst/>
              <a:ahLst/>
              <a:cxnLst/>
              <a:rect r="r" b="b" t="t" l="l"/>
              <a:pathLst>
                <a:path h="2709333" w="2352863">
                  <a:moveTo>
                    <a:pt x="0" y="0"/>
                  </a:moveTo>
                  <a:lnTo>
                    <a:pt x="2352863" y="0"/>
                  </a:lnTo>
                  <a:lnTo>
                    <a:pt x="2352863" y="2709333"/>
                  </a:lnTo>
                  <a:lnTo>
                    <a:pt x="0" y="2709333"/>
                  </a:lnTo>
                  <a:close/>
                </a:path>
              </a:pathLst>
            </a:custGeom>
            <a:solidFill>
              <a:srgbClr val="051D40">
                <a:alpha val="74902"/>
              </a:srgbClr>
            </a:solidFill>
          </p:spPr>
        </p:sp>
        <p:sp>
          <p:nvSpPr>
            <p:cNvPr name="TextBox 5" id="5"/>
            <p:cNvSpPr txBox="true"/>
            <p:nvPr/>
          </p:nvSpPr>
          <p:spPr>
            <a:xfrm>
              <a:off x="0" y="-38100"/>
              <a:ext cx="2352863" cy="2747433"/>
            </a:xfrm>
            <a:prstGeom prst="rect">
              <a:avLst/>
            </a:prstGeom>
          </p:spPr>
          <p:txBody>
            <a:bodyPr anchor="ctr" rtlCol="false" tIns="50800" lIns="50800" bIns="50800" rIns="50800"/>
            <a:lstStyle/>
            <a:p>
              <a:pPr algn="ctr">
                <a:lnSpc>
                  <a:spcPts val="2605"/>
                </a:lnSpc>
              </a:pPr>
            </a:p>
          </p:txBody>
        </p:sp>
      </p:grpSp>
      <p:sp>
        <p:nvSpPr>
          <p:cNvPr name="TextBox 6" id="6"/>
          <p:cNvSpPr txBox="true"/>
          <p:nvPr/>
        </p:nvSpPr>
        <p:spPr>
          <a:xfrm rot="0">
            <a:off x="5108827" y="1206116"/>
            <a:ext cx="8245699" cy="1447800"/>
          </a:xfrm>
          <a:prstGeom prst="rect">
            <a:avLst/>
          </a:prstGeom>
        </p:spPr>
        <p:txBody>
          <a:bodyPr anchor="t" rtlCol="false" tIns="0" lIns="0" bIns="0" rIns="0">
            <a:spAutoFit/>
          </a:bodyPr>
          <a:lstStyle/>
          <a:p>
            <a:pPr algn="ctr">
              <a:lnSpc>
                <a:spcPts val="5687"/>
              </a:lnSpc>
            </a:pPr>
            <a:r>
              <a:rPr lang="en-US" b="true" sz="4739">
                <a:solidFill>
                  <a:srgbClr val="FFFFFF"/>
                </a:solidFill>
                <a:latin typeface="Now Bold"/>
                <a:ea typeface="Now Bold"/>
                <a:cs typeface="Now Bold"/>
                <a:sym typeface="Now Bold"/>
              </a:rPr>
              <a:t>COMPANY PROFILE:</a:t>
            </a:r>
          </a:p>
          <a:p>
            <a:pPr algn="ctr" marL="0" indent="0" lvl="0">
              <a:lnSpc>
                <a:spcPts val="5687"/>
              </a:lnSpc>
              <a:spcBef>
                <a:spcPct val="0"/>
              </a:spcBef>
            </a:pPr>
            <a:r>
              <a:rPr lang="en-US" b="true" sz="4739">
                <a:solidFill>
                  <a:srgbClr val="FFFFFF"/>
                </a:solidFill>
                <a:latin typeface="Now Bold"/>
                <a:ea typeface="Now Bold"/>
                <a:cs typeface="Now Bold"/>
                <a:sym typeface="Now Bold"/>
              </a:rPr>
              <a:t>MAAFCO MISR</a:t>
            </a:r>
          </a:p>
        </p:txBody>
      </p:sp>
      <p:sp>
        <p:nvSpPr>
          <p:cNvPr name="TextBox 7" id="7"/>
          <p:cNvSpPr txBox="true"/>
          <p:nvPr/>
        </p:nvSpPr>
        <p:spPr>
          <a:xfrm rot="0">
            <a:off x="4990390" y="4036654"/>
            <a:ext cx="8482573" cy="5921287"/>
          </a:xfrm>
          <a:prstGeom prst="rect">
            <a:avLst/>
          </a:prstGeom>
        </p:spPr>
        <p:txBody>
          <a:bodyPr anchor="t" rtlCol="false" tIns="0" lIns="0" bIns="0" rIns="0">
            <a:spAutoFit/>
          </a:bodyPr>
          <a:lstStyle/>
          <a:p>
            <a:pPr algn="l" marL="570565" indent="-285283" lvl="1">
              <a:lnSpc>
                <a:spcPts val="3646"/>
              </a:lnSpc>
              <a:buFont typeface="Arial"/>
              <a:buChar char="•"/>
            </a:pPr>
            <a:r>
              <a:rPr lang="en-US" b="true" sz="2642">
                <a:solidFill>
                  <a:srgbClr val="FFFFFF"/>
                </a:solidFill>
                <a:latin typeface="DM Sans Bold"/>
                <a:ea typeface="DM Sans Bold"/>
                <a:cs typeface="DM Sans Bold"/>
                <a:sym typeface="DM Sans Bold"/>
              </a:rPr>
              <a:t>Industry</a:t>
            </a:r>
            <a:r>
              <a:rPr lang="en-US" sz="2642">
                <a:solidFill>
                  <a:srgbClr val="FFFFFF"/>
                </a:solidFill>
                <a:latin typeface="DM Sans"/>
                <a:ea typeface="DM Sans"/>
                <a:cs typeface="DM Sans"/>
                <a:sym typeface="DM Sans"/>
              </a:rPr>
              <a:t>: Electromechanical Works</a:t>
            </a:r>
          </a:p>
          <a:p>
            <a:pPr algn="l">
              <a:lnSpc>
                <a:spcPts val="3646"/>
              </a:lnSpc>
            </a:pPr>
          </a:p>
          <a:p>
            <a:pPr algn="l" marL="570565" indent="-285283" lvl="1">
              <a:lnSpc>
                <a:spcPts val="3646"/>
              </a:lnSpc>
              <a:buFont typeface="Arial"/>
              <a:buChar char="•"/>
            </a:pPr>
            <a:r>
              <a:rPr lang="en-US" b="true" sz="2642">
                <a:solidFill>
                  <a:srgbClr val="FFFFFF"/>
                </a:solidFill>
                <a:latin typeface="DM Sans Bold"/>
                <a:ea typeface="DM Sans Bold"/>
                <a:cs typeface="DM Sans Bold"/>
                <a:sym typeface="DM Sans Bold"/>
              </a:rPr>
              <a:t>About</a:t>
            </a:r>
            <a:r>
              <a:rPr lang="en-US" sz="2642">
                <a:solidFill>
                  <a:srgbClr val="FFFFFF"/>
                </a:solidFill>
                <a:latin typeface="DM Sans"/>
                <a:ea typeface="DM Sans"/>
                <a:cs typeface="DM Sans"/>
                <a:sym typeface="DM Sans"/>
              </a:rPr>
              <a:t>: </a:t>
            </a:r>
            <a:r>
              <a:rPr lang="en-US" sz="2642">
                <a:solidFill>
                  <a:srgbClr val="FFFFFF"/>
                </a:solidFill>
                <a:latin typeface="DM Sans"/>
                <a:ea typeface="DM Sans"/>
                <a:cs typeface="DM Sans"/>
                <a:sym typeface="DM Sans"/>
              </a:rPr>
              <a:t>Maafco Misr is a prominent electromechanical contracting company based in Cairo, Egypt. Since its inception in 1994, the company has been dedicated to delivering high-quality electromechanical services across various sectors.</a:t>
            </a:r>
          </a:p>
          <a:p>
            <a:pPr algn="l">
              <a:lnSpc>
                <a:spcPts val="3646"/>
              </a:lnSpc>
            </a:pPr>
          </a:p>
          <a:p>
            <a:pPr algn="l" marL="570565" indent="-285283" lvl="1">
              <a:lnSpc>
                <a:spcPts val="3646"/>
              </a:lnSpc>
              <a:buFont typeface="Arial"/>
              <a:buChar char="•"/>
            </a:pPr>
            <a:r>
              <a:rPr lang="en-US" b="true" sz="2642">
                <a:solidFill>
                  <a:srgbClr val="FFFFFF"/>
                </a:solidFill>
                <a:latin typeface="DM Sans Bold"/>
                <a:ea typeface="DM Sans Bold"/>
                <a:cs typeface="DM Sans Bold"/>
                <a:sym typeface="DM Sans Bold"/>
              </a:rPr>
              <a:t>Employee Expertise:</a:t>
            </a:r>
          </a:p>
          <a:p>
            <a:pPr algn="l">
              <a:lnSpc>
                <a:spcPts val="3646"/>
              </a:lnSpc>
            </a:pPr>
            <a:r>
              <a:rPr lang="en-US" sz="2642" b="true">
                <a:solidFill>
                  <a:srgbClr val="FFFFFF"/>
                </a:solidFill>
                <a:latin typeface="DM Sans Bold"/>
                <a:ea typeface="DM Sans Bold"/>
                <a:cs typeface="DM Sans Bold"/>
                <a:sym typeface="DM Sans Bold"/>
              </a:rPr>
              <a:t>       </a:t>
            </a:r>
            <a:r>
              <a:rPr lang="en-US" sz="2642">
                <a:solidFill>
                  <a:srgbClr val="FFFFFF"/>
                </a:solidFill>
                <a:latin typeface="DM Sans"/>
                <a:ea typeface="DM Sans"/>
                <a:cs typeface="DM Sans"/>
                <a:sym typeface="DM Sans"/>
              </a:rPr>
              <a:t>Maafco Misr boasts a diverse team of</a:t>
            </a:r>
          </a:p>
          <a:p>
            <a:pPr algn="l">
              <a:lnSpc>
                <a:spcPts val="3646"/>
              </a:lnSpc>
            </a:pPr>
            <a:r>
              <a:rPr lang="en-US" sz="2642">
                <a:solidFill>
                  <a:srgbClr val="FFFFFF"/>
                </a:solidFill>
                <a:latin typeface="DM Sans"/>
                <a:ea typeface="DM Sans"/>
                <a:cs typeface="DM Sans"/>
                <a:sym typeface="DM Sans"/>
              </a:rPr>
              <a:t>      professionals, including engineers, technicians, and </a:t>
            </a:r>
            <a:r>
              <a:rPr lang="en-US" sz="2642">
                <a:solidFill>
                  <a:srgbClr val="FFFFFF"/>
                </a:solidFill>
                <a:latin typeface="DM Sans"/>
                <a:ea typeface="DM Sans"/>
                <a:cs typeface="DM Sans"/>
                <a:sym typeface="DM Sans"/>
              </a:rPr>
              <a:t>   </a:t>
            </a:r>
            <a:r>
              <a:rPr lang="en-US" sz="2642">
                <a:solidFill>
                  <a:srgbClr val="FFFFFF"/>
                </a:solidFill>
                <a:latin typeface="DM Sans"/>
                <a:ea typeface="DM Sans"/>
                <a:cs typeface="DM Sans"/>
                <a:sym typeface="DM Sans"/>
              </a:rPr>
              <a:t>support staff, specializing in various fields </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1415175" y="1459781"/>
            <a:ext cx="12790327" cy="771525"/>
          </a:xfrm>
          <a:prstGeom prst="rect">
            <a:avLst/>
          </a:prstGeom>
        </p:spPr>
        <p:txBody>
          <a:bodyPr anchor="t" rtlCol="false" tIns="0" lIns="0" bIns="0" rIns="0">
            <a:spAutoFit/>
          </a:bodyPr>
          <a:lstStyle/>
          <a:p>
            <a:pPr algn="l" marL="0" indent="0" lvl="0">
              <a:lnSpc>
                <a:spcPts val="6082"/>
              </a:lnSpc>
              <a:spcBef>
                <a:spcPct val="0"/>
              </a:spcBef>
            </a:pPr>
            <a:r>
              <a:rPr lang="en-US" b="true" sz="5068">
                <a:solidFill>
                  <a:srgbClr val="FFFFFF"/>
                </a:solidFill>
                <a:latin typeface="Now Bold"/>
                <a:ea typeface="Now Bold"/>
                <a:cs typeface="Now Bold"/>
                <a:sym typeface="Now Bold"/>
              </a:rPr>
              <a:t>CHALLENGES &amp; SOLUTIONS COVERED:</a:t>
            </a:r>
          </a:p>
        </p:txBody>
      </p:sp>
      <p:sp>
        <p:nvSpPr>
          <p:cNvPr name="Freeform 3" id="3"/>
          <p:cNvSpPr/>
          <p:nvPr/>
        </p:nvSpPr>
        <p:spPr>
          <a:xfrm flipH="false" flipV="false" rot="0">
            <a:off x="15128164" y="-2586935"/>
            <a:ext cx="5956513" cy="5956513"/>
          </a:xfrm>
          <a:custGeom>
            <a:avLst/>
            <a:gdLst/>
            <a:ahLst/>
            <a:cxnLst/>
            <a:rect r="r" b="b" t="t" l="l"/>
            <a:pathLst>
              <a:path h="5956513" w="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59890" y="7239384"/>
            <a:ext cx="5956513" cy="5956513"/>
          </a:xfrm>
          <a:custGeom>
            <a:avLst/>
            <a:gdLst/>
            <a:ahLst/>
            <a:cxnLst/>
            <a:rect r="r" b="b" t="t" l="l"/>
            <a:pathLst>
              <a:path h="5956513" w="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58025" y="3577312"/>
            <a:ext cx="777187" cy="594709"/>
          </a:xfrm>
          <a:prstGeom prst="rect">
            <a:avLst/>
          </a:prstGeom>
        </p:spPr>
        <p:txBody>
          <a:bodyPr anchor="t" rtlCol="false" tIns="0" lIns="0" bIns="0" rIns="0">
            <a:spAutoFit/>
          </a:bodyPr>
          <a:lstStyle/>
          <a:p>
            <a:pPr algn="ctr" marL="0" indent="0" lvl="0">
              <a:lnSpc>
                <a:spcPts val="4880"/>
              </a:lnSpc>
              <a:spcBef>
                <a:spcPct val="0"/>
              </a:spcBef>
            </a:pPr>
            <a:r>
              <a:rPr lang="en-US" b="true" sz="3536">
                <a:solidFill>
                  <a:srgbClr val="4BD1FB"/>
                </a:solidFill>
                <a:latin typeface="DM Sans Bold"/>
                <a:ea typeface="DM Sans Bold"/>
                <a:cs typeface="DM Sans Bold"/>
                <a:sym typeface="DM Sans Bold"/>
              </a:rPr>
              <a:t>01</a:t>
            </a:r>
          </a:p>
        </p:txBody>
      </p:sp>
      <p:sp>
        <p:nvSpPr>
          <p:cNvPr name="TextBox 6" id="6"/>
          <p:cNvSpPr txBox="true"/>
          <p:nvPr/>
        </p:nvSpPr>
        <p:spPr>
          <a:xfrm rot="0">
            <a:off x="1358025" y="4509315"/>
            <a:ext cx="777187" cy="594709"/>
          </a:xfrm>
          <a:prstGeom prst="rect">
            <a:avLst/>
          </a:prstGeom>
        </p:spPr>
        <p:txBody>
          <a:bodyPr anchor="t" rtlCol="false" tIns="0" lIns="0" bIns="0" rIns="0">
            <a:spAutoFit/>
          </a:bodyPr>
          <a:lstStyle/>
          <a:p>
            <a:pPr algn="ctr" marL="0" indent="0" lvl="0">
              <a:lnSpc>
                <a:spcPts val="4880"/>
              </a:lnSpc>
              <a:spcBef>
                <a:spcPct val="0"/>
              </a:spcBef>
            </a:pPr>
            <a:r>
              <a:rPr lang="en-US" b="true" sz="3536">
                <a:solidFill>
                  <a:srgbClr val="4BD1FB"/>
                </a:solidFill>
                <a:latin typeface="DM Sans Bold"/>
                <a:ea typeface="DM Sans Bold"/>
                <a:cs typeface="DM Sans Bold"/>
                <a:sym typeface="DM Sans Bold"/>
              </a:rPr>
              <a:t>02</a:t>
            </a:r>
          </a:p>
        </p:txBody>
      </p:sp>
      <p:sp>
        <p:nvSpPr>
          <p:cNvPr name="TextBox 7" id="7"/>
          <p:cNvSpPr txBox="true"/>
          <p:nvPr/>
        </p:nvSpPr>
        <p:spPr>
          <a:xfrm rot="0">
            <a:off x="1358025" y="5448884"/>
            <a:ext cx="777187" cy="594709"/>
          </a:xfrm>
          <a:prstGeom prst="rect">
            <a:avLst/>
          </a:prstGeom>
        </p:spPr>
        <p:txBody>
          <a:bodyPr anchor="t" rtlCol="false" tIns="0" lIns="0" bIns="0" rIns="0">
            <a:spAutoFit/>
          </a:bodyPr>
          <a:lstStyle/>
          <a:p>
            <a:pPr algn="ctr" marL="0" indent="0" lvl="0">
              <a:lnSpc>
                <a:spcPts val="4880"/>
              </a:lnSpc>
              <a:spcBef>
                <a:spcPct val="0"/>
              </a:spcBef>
            </a:pPr>
            <a:r>
              <a:rPr lang="en-US" b="true" sz="3536">
                <a:solidFill>
                  <a:srgbClr val="4BD1FB"/>
                </a:solidFill>
                <a:latin typeface="DM Sans Bold"/>
                <a:ea typeface="DM Sans Bold"/>
                <a:cs typeface="DM Sans Bold"/>
                <a:sym typeface="DM Sans Bold"/>
              </a:rPr>
              <a:t>03</a:t>
            </a:r>
          </a:p>
        </p:txBody>
      </p:sp>
      <p:sp>
        <p:nvSpPr>
          <p:cNvPr name="AutoShape 8" id="8"/>
          <p:cNvSpPr/>
          <p:nvPr/>
        </p:nvSpPr>
        <p:spPr>
          <a:xfrm flipH="true" flipV="true">
            <a:off x="1534331" y="4369243"/>
            <a:ext cx="475668" cy="0"/>
          </a:xfrm>
          <a:prstGeom prst="line">
            <a:avLst/>
          </a:prstGeom>
          <a:ln cap="flat" w="38100">
            <a:solidFill>
              <a:srgbClr val="4BD1FB"/>
            </a:solidFill>
            <a:prstDash val="solid"/>
            <a:headEnd type="none" len="sm" w="sm"/>
            <a:tailEnd type="none" len="sm" w="sm"/>
          </a:ln>
        </p:spPr>
      </p:sp>
      <p:sp>
        <p:nvSpPr>
          <p:cNvPr name="AutoShape 9" id="9"/>
          <p:cNvSpPr/>
          <p:nvPr/>
        </p:nvSpPr>
        <p:spPr>
          <a:xfrm flipH="true">
            <a:off x="1483239" y="5301140"/>
            <a:ext cx="475668" cy="0"/>
          </a:xfrm>
          <a:prstGeom prst="line">
            <a:avLst/>
          </a:prstGeom>
          <a:ln cap="flat" w="38100">
            <a:solidFill>
              <a:srgbClr val="4BD1FB"/>
            </a:solidFill>
            <a:prstDash val="solid"/>
            <a:headEnd type="none" len="sm" w="sm"/>
            <a:tailEnd type="none" len="sm" w="sm"/>
          </a:ln>
        </p:spPr>
      </p:sp>
      <p:sp>
        <p:nvSpPr>
          <p:cNvPr name="AutoShape 10" id="10"/>
          <p:cNvSpPr/>
          <p:nvPr/>
        </p:nvSpPr>
        <p:spPr>
          <a:xfrm flipH="true" flipV="true">
            <a:off x="1483239" y="6240709"/>
            <a:ext cx="475668" cy="0"/>
          </a:xfrm>
          <a:prstGeom prst="line">
            <a:avLst/>
          </a:prstGeom>
          <a:ln cap="flat" w="38100">
            <a:solidFill>
              <a:srgbClr val="4BD1FB"/>
            </a:solidFill>
            <a:prstDash val="solid"/>
            <a:headEnd type="none" len="sm" w="sm"/>
            <a:tailEnd type="none" len="sm" w="sm"/>
          </a:ln>
        </p:spPr>
      </p:sp>
      <p:sp>
        <p:nvSpPr>
          <p:cNvPr name="TextBox 11" id="11"/>
          <p:cNvSpPr txBox="true"/>
          <p:nvPr/>
        </p:nvSpPr>
        <p:spPr>
          <a:xfrm rot="0">
            <a:off x="1453275" y="2183681"/>
            <a:ext cx="12155388" cy="385852"/>
          </a:xfrm>
          <a:prstGeom prst="rect">
            <a:avLst/>
          </a:prstGeom>
        </p:spPr>
        <p:txBody>
          <a:bodyPr anchor="t" rtlCol="false" tIns="0" lIns="0" bIns="0" rIns="0">
            <a:spAutoFit/>
          </a:bodyPr>
          <a:lstStyle/>
          <a:p>
            <a:pPr algn="ctr">
              <a:lnSpc>
                <a:spcPts val="3157"/>
              </a:lnSpc>
              <a:spcBef>
                <a:spcPct val="0"/>
              </a:spcBef>
            </a:pPr>
            <a:r>
              <a:rPr lang="en-US" sz="2287">
                <a:solidFill>
                  <a:srgbClr val="FFFFFF"/>
                </a:solidFill>
                <a:latin typeface="DM Sans"/>
                <a:ea typeface="DM Sans"/>
                <a:cs typeface="DM Sans"/>
                <a:sym typeface="DM Sans"/>
              </a:rPr>
              <a:t>Challenges That Led to the Use of Oracle E-Business Suite (EBS) for Absence Management</a:t>
            </a:r>
          </a:p>
        </p:txBody>
      </p:sp>
      <p:sp>
        <p:nvSpPr>
          <p:cNvPr name="TextBox 12" id="12"/>
          <p:cNvSpPr txBox="true"/>
          <p:nvPr/>
        </p:nvSpPr>
        <p:spPr>
          <a:xfrm rot="0">
            <a:off x="2465075" y="3687615"/>
            <a:ext cx="15641346" cy="802726"/>
          </a:xfrm>
          <a:prstGeom prst="rect">
            <a:avLst/>
          </a:prstGeom>
        </p:spPr>
        <p:txBody>
          <a:bodyPr anchor="t" rtlCol="false" tIns="0" lIns="0" bIns="0" rIns="0">
            <a:spAutoFit/>
          </a:bodyPr>
          <a:lstStyle/>
          <a:p>
            <a:pPr algn="l" marL="0" indent="0" lvl="0">
              <a:lnSpc>
                <a:spcPts val="3291"/>
              </a:lnSpc>
              <a:spcBef>
                <a:spcPct val="0"/>
              </a:spcBef>
            </a:pPr>
            <a:r>
              <a:rPr lang="en-US" sz="2385" strike="noStrike" u="none">
                <a:solidFill>
                  <a:srgbClr val="FFFFFF"/>
                </a:solidFill>
                <a:latin typeface="DM Sans"/>
                <a:ea typeface="DM Sans"/>
                <a:cs typeface="DM Sans"/>
                <a:sym typeface="DM Sans"/>
              </a:rPr>
              <a:t>Manual and Inefficient Leave Management         →    Automates &amp; Streamlines Absence</a:t>
            </a:r>
            <a:r>
              <a:rPr lang="en-US" sz="2385" strike="noStrike" u="none">
                <a:solidFill>
                  <a:srgbClr val="FFFFFF"/>
                </a:solidFill>
                <a:latin typeface="DM Sans"/>
                <a:ea typeface="DM Sans"/>
                <a:cs typeface="DM Sans"/>
                <a:sym typeface="DM Sans"/>
              </a:rPr>
              <a:t> Management</a:t>
            </a:r>
            <a:r>
              <a:rPr lang="en-US" sz="2385" strike="noStrike" u="none">
                <a:solidFill>
                  <a:srgbClr val="FFFFFF"/>
                </a:solidFill>
                <a:latin typeface="DM Sans"/>
                <a:ea typeface="DM Sans"/>
                <a:cs typeface="DM Sans"/>
                <a:sym typeface="DM Sans"/>
              </a:rPr>
              <a:t>                     </a:t>
            </a:r>
          </a:p>
        </p:txBody>
      </p:sp>
      <p:sp>
        <p:nvSpPr>
          <p:cNvPr name="TextBox 13" id="13"/>
          <p:cNvSpPr txBox="true"/>
          <p:nvPr/>
        </p:nvSpPr>
        <p:spPr>
          <a:xfrm rot="0">
            <a:off x="2465075" y="4710872"/>
            <a:ext cx="15641346" cy="393151"/>
          </a:xfrm>
          <a:prstGeom prst="rect">
            <a:avLst/>
          </a:prstGeom>
        </p:spPr>
        <p:txBody>
          <a:bodyPr anchor="t" rtlCol="false" tIns="0" lIns="0" bIns="0" rIns="0">
            <a:spAutoFit/>
          </a:bodyPr>
          <a:lstStyle/>
          <a:p>
            <a:pPr algn="l" marL="0" indent="0" lvl="0">
              <a:lnSpc>
                <a:spcPts val="3291"/>
              </a:lnSpc>
              <a:spcBef>
                <a:spcPct val="0"/>
              </a:spcBef>
            </a:pPr>
            <a:r>
              <a:rPr lang="en-US" sz="2385" strike="noStrike" u="none">
                <a:solidFill>
                  <a:srgbClr val="FFFFFF"/>
                </a:solidFill>
                <a:latin typeface="DM Sans"/>
                <a:ea typeface="DM Sans"/>
                <a:cs typeface="DM Sans"/>
                <a:sym typeface="DM Sans"/>
              </a:rPr>
              <a:t>Complex Leave Policies &amp; Regulations                →     Ensures Policy Compliance &amp; Reduces Errors</a:t>
            </a:r>
          </a:p>
        </p:txBody>
      </p:sp>
      <p:sp>
        <p:nvSpPr>
          <p:cNvPr name="TextBox 14" id="14"/>
          <p:cNvSpPr txBox="true"/>
          <p:nvPr/>
        </p:nvSpPr>
        <p:spPr>
          <a:xfrm rot="0">
            <a:off x="2455550" y="5565220"/>
            <a:ext cx="15650871" cy="393151"/>
          </a:xfrm>
          <a:prstGeom prst="rect">
            <a:avLst/>
          </a:prstGeom>
        </p:spPr>
        <p:txBody>
          <a:bodyPr anchor="t" rtlCol="false" tIns="0" lIns="0" bIns="0" rIns="0">
            <a:spAutoFit/>
          </a:bodyPr>
          <a:lstStyle/>
          <a:p>
            <a:pPr algn="l" marL="0" indent="0" lvl="0">
              <a:lnSpc>
                <a:spcPts val="3291"/>
              </a:lnSpc>
              <a:spcBef>
                <a:spcPct val="0"/>
              </a:spcBef>
            </a:pPr>
            <a:r>
              <a:rPr lang="en-US" sz="2385" strike="noStrike" u="none">
                <a:solidFill>
                  <a:srgbClr val="FFFFFF"/>
                </a:solidFill>
                <a:latin typeface="DM Sans"/>
                <a:ea typeface="DM Sans"/>
                <a:cs typeface="DM Sans"/>
                <a:sym typeface="DM Sans"/>
              </a:rPr>
              <a:t>Lack of Integration with Payroll &amp; HR Systems.  →     Integrates Seamlessly with Payroll &amp; HRMS</a:t>
            </a:r>
          </a:p>
        </p:txBody>
      </p:sp>
      <p:sp>
        <p:nvSpPr>
          <p:cNvPr name="TextBox 15" id="15"/>
          <p:cNvSpPr txBox="true"/>
          <p:nvPr/>
        </p:nvSpPr>
        <p:spPr>
          <a:xfrm rot="0">
            <a:off x="2465075" y="6510821"/>
            <a:ext cx="15641346" cy="393151"/>
          </a:xfrm>
          <a:prstGeom prst="rect">
            <a:avLst/>
          </a:prstGeom>
        </p:spPr>
        <p:txBody>
          <a:bodyPr anchor="t" rtlCol="false" tIns="0" lIns="0" bIns="0" rIns="0">
            <a:spAutoFit/>
          </a:bodyPr>
          <a:lstStyle/>
          <a:p>
            <a:pPr algn="l" marL="0" indent="0" lvl="0">
              <a:lnSpc>
                <a:spcPts val="3291"/>
              </a:lnSpc>
              <a:spcBef>
                <a:spcPct val="0"/>
              </a:spcBef>
            </a:pPr>
            <a:r>
              <a:rPr lang="en-US" sz="2385" strike="noStrike" u="none">
                <a:solidFill>
                  <a:srgbClr val="FFFFFF"/>
                </a:solidFill>
                <a:latin typeface="DM Sans"/>
                <a:ea typeface="DM Sans"/>
                <a:cs typeface="DM Sans"/>
                <a:sym typeface="DM Sans"/>
              </a:rPr>
              <a:t> Lack of Visibility &amp; Reporting                              →     Provides Real-Time Reporting &amp; Insights</a:t>
            </a:r>
          </a:p>
        </p:txBody>
      </p:sp>
      <p:sp>
        <p:nvSpPr>
          <p:cNvPr name="TextBox 16" id="16"/>
          <p:cNvSpPr txBox="true"/>
          <p:nvPr/>
        </p:nvSpPr>
        <p:spPr>
          <a:xfrm rot="0">
            <a:off x="1358025" y="6383584"/>
            <a:ext cx="777187" cy="594709"/>
          </a:xfrm>
          <a:prstGeom prst="rect">
            <a:avLst/>
          </a:prstGeom>
        </p:spPr>
        <p:txBody>
          <a:bodyPr anchor="t" rtlCol="false" tIns="0" lIns="0" bIns="0" rIns="0">
            <a:spAutoFit/>
          </a:bodyPr>
          <a:lstStyle/>
          <a:p>
            <a:pPr algn="ctr" marL="0" indent="0" lvl="0">
              <a:lnSpc>
                <a:spcPts val="4880"/>
              </a:lnSpc>
              <a:spcBef>
                <a:spcPct val="0"/>
              </a:spcBef>
            </a:pPr>
            <a:r>
              <a:rPr lang="en-US" b="true" sz="3536">
                <a:solidFill>
                  <a:srgbClr val="4BD1FB"/>
                </a:solidFill>
                <a:latin typeface="DM Sans Bold"/>
                <a:ea typeface="DM Sans Bold"/>
                <a:cs typeface="DM Sans Bold"/>
                <a:sym typeface="DM Sans Bold"/>
              </a:rPr>
              <a:t>04</a:t>
            </a:r>
          </a:p>
        </p:txBody>
      </p:sp>
      <p:sp>
        <p:nvSpPr>
          <p:cNvPr name="AutoShape 17" id="17"/>
          <p:cNvSpPr/>
          <p:nvPr/>
        </p:nvSpPr>
        <p:spPr>
          <a:xfrm flipH="true" flipV="true">
            <a:off x="1483239" y="7175409"/>
            <a:ext cx="475668" cy="0"/>
          </a:xfrm>
          <a:prstGeom prst="line">
            <a:avLst/>
          </a:prstGeom>
          <a:ln cap="flat" w="38100">
            <a:solidFill>
              <a:srgbClr val="4BD1FB"/>
            </a:solidFill>
            <a:prstDash val="solid"/>
            <a:headEnd type="none" len="sm" w="sm"/>
            <a:tailEnd type="none" len="sm" w="sm"/>
          </a:ln>
        </p:spPr>
      </p:sp>
      <p:sp>
        <p:nvSpPr>
          <p:cNvPr name="TextBox 18" id="18"/>
          <p:cNvSpPr txBox="true"/>
          <p:nvPr/>
        </p:nvSpPr>
        <p:spPr>
          <a:xfrm rot="0">
            <a:off x="4151130" y="8027923"/>
            <a:ext cx="9750110" cy="1357456"/>
          </a:xfrm>
          <a:prstGeom prst="rect">
            <a:avLst/>
          </a:prstGeom>
        </p:spPr>
        <p:txBody>
          <a:bodyPr anchor="t" rtlCol="false" tIns="0" lIns="0" bIns="0" rIns="0">
            <a:spAutoFit/>
          </a:bodyPr>
          <a:lstStyle/>
          <a:p>
            <a:pPr algn="ctr">
              <a:lnSpc>
                <a:spcPts val="3602"/>
              </a:lnSpc>
              <a:spcBef>
                <a:spcPct val="0"/>
              </a:spcBef>
            </a:pPr>
            <a:r>
              <a:rPr lang="en-US" sz="2610">
                <a:solidFill>
                  <a:srgbClr val="FFFFFF"/>
                </a:solidFill>
                <a:latin typeface="DM Sans"/>
                <a:ea typeface="DM Sans"/>
                <a:cs typeface="DM Sans"/>
                <a:sym typeface="DM Sans"/>
              </a:rPr>
              <a:t>Oracle EBS Absence Management solves critical HR challenges, </a:t>
            </a:r>
          </a:p>
          <a:p>
            <a:pPr algn="ctr">
              <a:lnSpc>
                <a:spcPts val="3602"/>
              </a:lnSpc>
              <a:spcBef>
                <a:spcPct val="0"/>
              </a:spcBef>
            </a:pPr>
            <a:r>
              <a:rPr lang="en-US" sz="2610">
                <a:solidFill>
                  <a:srgbClr val="FFFFFF"/>
                </a:solidFill>
                <a:latin typeface="DM Sans"/>
                <a:ea typeface="DM Sans"/>
                <a:cs typeface="DM Sans"/>
                <a:sym typeface="DM Sans"/>
              </a:rPr>
              <a:t>making leave management efficient, compliant, and hassle-free.</a:t>
            </a:r>
          </a:p>
          <a:p>
            <a:pPr algn="ctr">
              <a:lnSpc>
                <a:spcPts val="3602"/>
              </a:lnSpc>
              <a:spcBef>
                <a:spcPct val="0"/>
              </a:spcBef>
            </a:pPr>
            <a:r>
              <a:rPr lang="en-US" sz="2610">
                <a:solidFill>
                  <a:srgbClr val="FFFFFF"/>
                </a:solidFill>
                <a:latin typeface="DM Sans"/>
                <a:ea typeface="DM Sans"/>
                <a:cs typeface="DM Sans"/>
                <a:sym typeface="DM Sans"/>
              </a:rPr>
              <a:t> </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2219000" y="1921444"/>
            <a:ext cx="12909165" cy="847725"/>
          </a:xfrm>
          <a:prstGeom prst="rect">
            <a:avLst/>
          </a:prstGeom>
        </p:spPr>
        <p:txBody>
          <a:bodyPr anchor="t" rtlCol="false" tIns="0" lIns="0" bIns="0" rIns="0">
            <a:spAutoFit/>
          </a:bodyPr>
          <a:lstStyle/>
          <a:p>
            <a:pPr algn="ctr" marL="0" indent="0" lvl="0">
              <a:lnSpc>
                <a:spcPts val="6682"/>
              </a:lnSpc>
              <a:spcBef>
                <a:spcPct val="0"/>
              </a:spcBef>
            </a:pPr>
            <a:r>
              <a:rPr lang="en-US" b="true" sz="5568">
                <a:solidFill>
                  <a:srgbClr val="FFFFFF"/>
                </a:solidFill>
                <a:latin typeface="Now Bold"/>
                <a:ea typeface="Now Bold"/>
                <a:cs typeface="Now Bold"/>
                <a:sym typeface="Now Bold"/>
              </a:rPr>
              <a:t>IMPLEMENTATION STEPS:</a:t>
            </a:r>
          </a:p>
        </p:txBody>
      </p:sp>
      <p:sp>
        <p:nvSpPr>
          <p:cNvPr name="Freeform 3" id="3"/>
          <p:cNvSpPr/>
          <p:nvPr/>
        </p:nvSpPr>
        <p:spPr>
          <a:xfrm flipH="false" flipV="false" rot="0">
            <a:off x="15128164" y="-2586935"/>
            <a:ext cx="5956513" cy="5956513"/>
          </a:xfrm>
          <a:custGeom>
            <a:avLst/>
            <a:gdLst/>
            <a:ahLst/>
            <a:cxnLst/>
            <a:rect r="r" b="b" t="t" l="l"/>
            <a:pathLst>
              <a:path h="5956513" w="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59890" y="7239384"/>
            <a:ext cx="5956513" cy="5956513"/>
          </a:xfrm>
          <a:custGeom>
            <a:avLst/>
            <a:gdLst/>
            <a:ahLst/>
            <a:cxnLst/>
            <a:rect r="r" b="b" t="t" l="l"/>
            <a:pathLst>
              <a:path h="5956513" w="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765307" y="3474019"/>
            <a:ext cx="9636088"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 1: Defining Absence Types and Eligibility Criteria</a:t>
            </a:r>
          </a:p>
        </p:txBody>
      </p:sp>
      <p:sp>
        <p:nvSpPr>
          <p:cNvPr name="TextBox 6" id="6"/>
          <p:cNvSpPr txBox="true"/>
          <p:nvPr/>
        </p:nvSpPr>
        <p:spPr>
          <a:xfrm rot="0">
            <a:off x="4753571" y="4151700"/>
            <a:ext cx="9641956"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a:t>
            </a:r>
            <a:r>
              <a:rPr lang="en-US" sz="2585" strike="noStrike" u="none">
                <a:solidFill>
                  <a:srgbClr val="FFFFFF"/>
                </a:solidFill>
                <a:latin typeface="DM Sans"/>
                <a:ea typeface="DM Sans"/>
                <a:cs typeface="DM Sans"/>
                <a:sym typeface="DM Sans"/>
              </a:rPr>
              <a:t> 2</a:t>
            </a:r>
            <a:r>
              <a:rPr lang="en-US" sz="2585" strike="noStrike" u="none">
                <a:solidFill>
                  <a:srgbClr val="FFFFFF"/>
                </a:solidFill>
                <a:latin typeface="DM Sans"/>
                <a:ea typeface="DM Sans"/>
                <a:cs typeface="DM Sans"/>
                <a:sym typeface="DM Sans"/>
              </a:rPr>
              <a:t>:</a:t>
            </a:r>
            <a:r>
              <a:rPr lang="en-US" sz="2585" strike="noStrike" u="none">
                <a:solidFill>
                  <a:srgbClr val="FFFFFF"/>
                </a:solidFill>
                <a:latin typeface="DM Sans"/>
                <a:ea typeface="DM Sans"/>
                <a:cs typeface="DM Sans"/>
                <a:sym typeface="DM Sans"/>
              </a:rPr>
              <a:t> </a:t>
            </a:r>
            <a:r>
              <a:rPr lang="en-US" sz="2585" strike="noStrike" u="none">
                <a:solidFill>
                  <a:srgbClr val="FFFFFF"/>
                </a:solidFill>
                <a:latin typeface="DM Sans"/>
                <a:ea typeface="DM Sans"/>
                <a:cs typeface="DM Sans"/>
                <a:sym typeface="DM Sans"/>
              </a:rPr>
              <a:t>Se</a:t>
            </a:r>
            <a:r>
              <a:rPr lang="en-US" sz="2585" strike="noStrike" u="none">
                <a:solidFill>
                  <a:srgbClr val="FFFFFF"/>
                </a:solidFill>
                <a:latin typeface="DM Sans"/>
                <a:ea typeface="DM Sans"/>
                <a:cs typeface="DM Sans"/>
                <a:sym typeface="DM Sans"/>
              </a:rPr>
              <a:t>ttin</a:t>
            </a:r>
            <a:r>
              <a:rPr lang="en-US" sz="2585" strike="noStrike" u="none">
                <a:solidFill>
                  <a:srgbClr val="FFFFFF"/>
                </a:solidFill>
                <a:latin typeface="DM Sans"/>
                <a:ea typeface="DM Sans"/>
                <a:cs typeface="DM Sans"/>
                <a:sym typeface="DM Sans"/>
              </a:rPr>
              <a:t>g</a:t>
            </a:r>
            <a:r>
              <a:rPr lang="en-US" sz="2585" strike="noStrike" u="none">
                <a:solidFill>
                  <a:srgbClr val="FFFFFF"/>
                </a:solidFill>
                <a:latin typeface="DM Sans"/>
                <a:ea typeface="DM Sans"/>
                <a:cs typeface="DM Sans"/>
                <a:sym typeface="DM Sans"/>
              </a:rPr>
              <a:t> </a:t>
            </a:r>
            <a:r>
              <a:rPr lang="en-US" sz="2585" strike="noStrike" u="none">
                <a:solidFill>
                  <a:srgbClr val="FFFFFF"/>
                </a:solidFill>
                <a:latin typeface="DM Sans"/>
                <a:ea typeface="DM Sans"/>
                <a:cs typeface="DM Sans"/>
                <a:sym typeface="DM Sans"/>
              </a:rPr>
              <a:t>Up</a:t>
            </a:r>
            <a:r>
              <a:rPr lang="en-US" sz="2585" strike="noStrike" u="none">
                <a:solidFill>
                  <a:srgbClr val="FFFFFF"/>
                </a:solidFill>
                <a:latin typeface="DM Sans"/>
                <a:ea typeface="DM Sans"/>
                <a:cs typeface="DM Sans"/>
                <a:sym typeface="DM Sans"/>
              </a:rPr>
              <a:t> </a:t>
            </a:r>
            <a:r>
              <a:rPr lang="en-US" sz="2585" strike="noStrike" u="none">
                <a:solidFill>
                  <a:srgbClr val="FFFFFF"/>
                </a:solidFill>
                <a:latin typeface="DM Sans"/>
                <a:ea typeface="DM Sans"/>
                <a:cs typeface="DM Sans"/>
                <a:sym typeface="DM Sans"/>
              </a:rPr>
              <a:t>Ab</a:t>
            </a:r>
            <a:r>
              <a:rPr lang="en-US" sz="2585" strike="noStrike" u="none">
                <a:solidFill>
                  <a:srgbClr val="FFFFFF"/>
                </a:solidFill>
                <a:latin typeface="DM Sans"/>
                <a:ea typeface="DM Sans"/>
                <a:cs typeface="DM Sans"/>
                <a:sym typeface="DM Sans"/>
              </a:rPr>
              <a:t>sen</a:t>
            </a:r>
            <a:r>
              <a:rPr lang="en-US" sz="2585" strike="noStrike" u="none">
                <a:solidFill>
                  <a:srgbClr val="FFFFFF"/>
                </a:solidFill>
                <a:latin typeface="DM Sans"/>
                <a:ea typeface="DM Sans"/>
                <a:cs typeface="DM Sans"/>
                <a:sym typeface="DM Sans"/>
              </a:rPr>
              <a:t>c</a:t>
            </a:r>
            <a:r>
              <a:rPr lang="en-US" sz="2585" strike="noStrike" u="none">
                <a:solidFill>
                  <a:srgbClr val="FFFFFF"/>
                </a:solidFill>
                <a:latin typeface="DM Sans"/>
                <a:ea typeface="DM Sans"/>
                <a:cs typeface="DM Sans"/>
                <a:sym typeface="DM Sans"/>
              </a:rPr>
              <a:t>e</a:t>
            </a:r>
            <a:r>
              <a:rPr lang="en-US" sz="2585" strike="noStrike" u="none">
                <a:solidFill>
                  <a:srgbClr val="FFFFFF"/>
                </a:solidFill>
                <a:latin typeface="DM Sans"/>
                <a:ea typeface="DM Sans"/>
                <a:cs typeface="DM Sans"/>
                <a:sym typeface="DM Sans"/>
              </a:rPr>
              <a:t> Pl</a:t>
            </a:r>
            <a:r>
              <a:rPr lang="en-US" sz="2585" strike="noStrike" u="none">
                <a:solidFill>
                  <a:srgbClr val="FFFFFF"/>
                </a:solidFill>
                <a:latin typeface="DM Sans"/>
                <a:ea typeface="DM Sans"/>
                <a:cs typeface="DM Sans"/>
                <a:sym typeface="DM Sans"/>
              </a:rPr>
              <a:t>a</a:t>
            </a:r>
            <a:r>
              <a:rPr lang="en-US" sz="2585" strike="noStrike" u="none">
                <a:solidFill>
                  <a:srgbClr val="FFFFFF"/>
                </a:solidFill>
                <a:latin typeface="DM Sans"/>
                <a:ea typeface="DM Sans"/>
                <a:cs typeface="DM Sans"/>
                <a:sym typeface="DM Sans"/>
              </a:rPr>
              <a:t>n</a:t>
            </a:r>
            <a:r>
              <a:rPr lang="en-US" sz="2585" strike="noStrike" u="none">
                <a:solidFill>
                  <a:srgbClr val="FFFFFF"/>
                </a:solidFill>
                <a:latin typeface="DM Sans"/>
                <a:ea typeface="DM Sans"/>
                <a:cs typeface="DM Sans"/>
                <a:sym typeface="DM Sans"/>
              </a:rPr>
              <a:t>s </a:t>
            </a:r>
            <a:r>
              <a:rPr lang="en-US" sz="2585" strike="noStrike" u="none">
                <a:solidFill>
                  <a:srgbClr val="FFFFFF"/>
                </a:solidFill>
                <a:latin typeface="DM Sans"/>
                <a:ea typeface="DM Sans"/>
                <a:cs typeface="DM Sans"/>
                <a:sym typeface="DM Sans"/>
              </a:rPr>
              <a:t>for L</a:t>
            </a:r>
            <a:r>
              <a:rPr lang="en-US" sz="2585" strike="noStrike" u="none">
                <a:solidFill>
                  <a:srgbClr val="FFFFFF"/>
                </a:solidFill>
                <a:latin typeface="DM Sans"/>
                <a:ea typeface="DM Sans"/>
                <a:cs typeface="DM Sans"/>
                <a:sym typeface="DM Sans"/>
              </a:rPr>
              <a:t>ea</a:t>
            </a:r>
            <a:r>
              <a:rPr lang="en-US" sz="2585" strike="noStrike" u="none">
                <a:solidFill>
                  <a:srgbClr val="FFFFFF"/>
                </a:solidFill>
                <a:latin typeface="DM Sans"/>
                <a:ea typeface="DM Sans"/>
                <a:cs typeface="DM Sans"/>
                <a:sym typeface="DM Sans"/>
              </a:rPr>
              <a:t>v</a:t>
            </a:r>
            <a:r>
              <a:rPr lang="en-US" sz="2585" strike="noStrike" u="none">
                <a:solidFill>
                  <a:srgbClr val="FFFFFF"/>
                </a:solidFill>
                <a:latin typeface="DM Sans"/>
                <a:ea typeface="DM Sans"/>
                <a:cs typeface="DM Sans"/>
                <a:sym typeface="DM Sans"/>
              </a:rPr>
              <a:t>e </a:t>
            </a:r>
            <a:r>
              <a:rPr lang="en-US" sz="2585" strike="noStrike" u="none">
                <a:solidFill>
                  <a:srgbClr val="FFFFFF"/>
                </a:solidFill>
                <a:latin typeface="DM Sans"/>
                <a:ea typeface="DM Sans"/>
                <a:cs typeface="DM Sans"/>
                <a:sym typeface="DM Sans"/>
              </a:rPr>
              <a:t>Acc</a:t>
            </a:r>
            <a:r>
              <a:rPr lang="en-US" sz="2585" strike="noStrike" u="none">
                <a:solidFill>
                  <a:srgbClr val="FFFFFF"/>
                </a:solidFill>
                <a:latin typeface="DM Sans"/>
                <a:ea typeface="DM Sans"/>
                <a:cs typeface="DM Sans"/>
                <a:sym typeface="DM Sans"/>
              </a:rPr>
              <a:t>r</a:t>
            </a:r>
            <a:r>
              <a:rPr lang="en-US" sz="2585" strike="noStrike" u="none">
                <a:solidFill>
                  <a:srgbClr val="FFFFFF"/>
                </a:solidFill>
                <a:latin typeface="DM Sans"/>
                <a:ea typeface="DM Sans"/>
                <a:cs typeface="DM Sans"/>
                <a:sym typeface="DM Sans"/>
              </a:rPr>
              <a:t>ua</a:t>
            </a:r>
            <a:r>
              <a:rPr lang="en-US" sz="2585" strike="noStrike" u="none">
                <a:solidFill>
                  <a:srgbClr val="FFFFFF"/>
                </a:solidFill>
                <a:latin typeface="DM Sans"/>
                <a:ea typeface="DM Sans"/>
                <a:cs typeface="DM Sans"/>
                <a:sym typeface="DM Sans"/>
              </a:rPr>
              <a:t>l</a:t>
            </a:r>
            <a:r>
              <a:rPr lang="en-US" sz="2585" strike="noStrike" u="none">
                <a:solidFill>
                  <a:srgbClr val="FFFFFF"/>
                </a:solidFill>
                <a:latin typeface="DM Sans"/>
                <a:ea typeface="DM Sans"/>
                <a:cs typeface="DM Sans"/>
                <a:sym typeface="DM Sans"/>
              </a:rPr>
              <a:t>s</a:t>
            </a:r>
          </a:p>
        </p:txBody>
      </p:sp>
      <p:sp>
        <p:nvSpPr>
          <p:cNvPr name="TextBox 7" id="7"/>
          <p:cNvSpPr txBox="true"/>
          <p:nvPr/>
        </p:nvSpPr>
        <p:spPr>
          <a:xfrm rot="0">
            <a:off x="4753571" y="4716821"/>
            <a:ext cx="9636088"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 3: Configuring Approval Workflows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
        <p:nvSpPr>
          <p:cNvPr name="TextBox 9" id="9"/>
          <p:cNvSpPr txBox="true"/>
          <p:nvPr/>
        </p:nvSpPr>
        <p:spPr>
          <a:xfrm rot="0">
            <a:off x="4753571" y="5286375"/>
            <a:ext cx="9636088"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 4: Managing Employee Leave Balances &amp; Approvals</a:t>
            </a:r>
          </a:p>
        </p:txBody>
      </p:sp>
      <p:sp>
        <p:nvSpPr>
          <p:cNvPr name="TextBox 10" id="10"/>
          <p:cNvSpPr txBox="true"/>
          <p:nvPr/>
        </p:nvSpPr>
        <p:spPr>
          <a:xfrm rot="0">
            <a:off x="4765307" y="5855929"/>
            <a:ext cx="9636088"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 5: Generating Reports using Oracle BI</a:t>
            </a:r>
          </a:p>
        </p:txBody>
      </p:sp>
      <p:sp>
        <p:nvSpPr>
          <p:cNvPr name="TextBox 11" id="11"/>
          <p:cNvSpPr txBox="true"/>
          <p:nvPr/>
        </p:nvSpPr>
        <p:spPr>
          <a:xfrm rot="0">
            <a:off x="4753571" y="6425484"/>
            <a:ext cx="9636088" cy="426679"/>
          </a:xfrm>
          <a:prstGeom prst="rect">
            <a:avLst/>
          </a:prstGeom>
        </p:spPr>
        <p:txBody>
          <a:bodyPr anchor="t" rtlCol="false" tIns="0" lIns="0" bIns="0" rIns="0">
            <a:spAutoFit/>
          </a:bodyPr>
          <a:lstStyle/>
          <a:p>
            <a:pPr algn="l" marL="0" indent="0" lvl="0">
              <a:lnSpc>
                <a:spcPts val="3567"/>
              </a:lnSpc>
              <a:spcBef>
                <a:spcPct val="0"/>
              </a:spcBef>
            </a:pPr>
            <a:r>
              <a:rPr lang="en-US" sz="2585">
                <a:solidFill>
                  <a:srgbClr val="FFFFFF"/>
                </a:solidFill>
                <a:latin typeface="DM Sans"/>
                <a:ea typeface="DM Sans"/>
                <a:cs typeface="DM Sans"/>
                <a:sym typeface="DM Sans"/>
              </a:rPr>
              <a:t>Step 6: Auditing for Compliance and Accuracy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2623780" y="-1121086"/>
            <a:ext cx="11408086" cy="11408086"/>
          </a:xfrm>
          <a:custGeom>
            <a:avLst/>
            <a:gdLst/>
            <a:ahLst/>
            <a:cxnLst/>
            <a:rect r="r" b="b" t="t" l="l"/>
            <a:pathLst>
              <a:path h="11408086" w="11408086">
                <a:moveTo>
                  <a:pt x="0" y="0"/>
                </a:moveTo>
                <a:lnTo>
                  <a:pt x="11408086" y="0"/>
                </a:lnTo>
                <a:lnTo>
                  <a:pt x="11408086" y="11408086"/>
                </a:lnTo>
                <a:lnTo>
                  <a:pt x="0" y="11408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99573" y="3038971"/>
            <a:ext cx="9656501" cy="1722433"/>
          </a:xfrm>
          <a:prstGeom prst="rect">
            <a:avLst/>
          </a:prstGeom>
        </p:spPr>
        <p:txBody>
          <a:bodyPr anchor="t" rtlCol="false" tIns="0" lIns="0" bIns="0" rIns="0">
            <a:spAutoFit/>
          </a:bodyPr>
          <a:lstStyle/>
          <a:p>
            <a:pPr algn="ctr" marL="0" indent="0" lvl="0">
              <a:lnSpc>
                <a:spcPts val="6728"/>
              </a:lnSpc>
              <a:spcBef>
                <a:spcPct val="0"/>
              </a:spcBef>
            </a:pPr>
            <a:r>
              <a:rPr lang="en-US" b="true" sz="5607">
                <a:solidFill>
                  <a:srgbClr val="FFFFFF"/>
                </a:solidFill>
                <a:latin typeface="Now Bold"/>
                <a:ea typeface="Now Bold"/>
                <a:cs typeface="Now Bold"/>
                <a:sym typeface="Now Bold"/>
              </a:rPr>
              <a:t>ABSENCE TYPE AND POLICY CONFIGURATION</a:t>
            </a:r>
          </a:p>
        </p:txBody>
      </p:sp>
      <p:sp>
        <p:nvSpPr>
          <p:cNvPr name="Freeform 4" id="4"/>
          <p:cNvSpPr/>
          <p:nvPr/>
        </p:nvSpPr>
        <p:spPr>
          <a:xfrm flipH="false" flipV="false" rot="0">
            <a:off x="-2622339" y="7919689"/>
            <a:ext cx="6452848" cy="5596379"/>
          </a:xfrm>
          <a:custGeom>
            <a:avLst/>
            <a:gdLst/>
            <a:ahLst/>
            <a:cxnLst/>
            <a:rect r="r" b="b" t="t" l="l"/>
            <a:pathLst>
              <a:path h="5596379" w="6452848">
                <a:moveTo>
                  <a:pt x="0" y="0"/>
                </a:moveTo>
                <a:lnTo>
                  <a:pt x="6452849" y="0"/>
                </a:lnTo>
                <a:lnTo>
                  <a:pt x="6452849" y="5596379"/>
                </a:lnTo>
                <a:lnTo>
                  <a:pt x="0" y="5596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3367400" y="-2798190"/>
            <a:ext cx="6452848" cy="5596379"/>
          </a:xfrm>
          <a:custGeom>
            <a:avLst/>
            <a:gdLst/>
            <a:ahLst/>
            <a:cxnLst/>
            <a:rect r="r" b="b" t="t" l="l"/>
            <a:pathLst>
              <a:path h="5596379" w="6452848">
                <a:moveTo>
                  <a:pt x="0" y="0"/>
                </a:moveTo>
                <a:lnTo>
                  <a:pt x="6452849" y="0"/>
                </a:lnTo>
                <a:lnTo>
                  <a:pt x="6452849" y="5596380"/>
                </a:lnTo>
                <a:lnTo>
                  <a:pt x="0" y="55963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5584322" y="5237654"/>
            <a:ext cx="5893794" cy="2000851"/>
          </a:xfrm>
          <a:prstGeom prst="rect">
            <a:avLst/>
          </a:prstGeom>
        </p:spPr>
        <p:txBody>
          <a:bodyPr anchor="t" rtlCol="false" tIns="0" lIns="0" bIns="0" rIns="0">
            <a:spAutoFit/>
          </a:bodyPr>
          <a:lstStyle/>
          <a:p>
            <a:pPr algn="l" marL="624036" indent="-312018" lvl="1">
              <a:lnSpc>
                <a:spcPts val="3988"/>
              </a:lnSpc>
              <a:buAutoNum type="arabicPeriod" startAt="1"/>
            </a:pPr>
            <a:r>
              <a:rPr lang="en-US" sz="2890">
                <a:solidFill>
                  <a:srgbClr val="FFFFFF"/>
                </a:solidFill>
                <a:latin typeface="DM Sans"/>
                <a:ea typeface="DM Sans"/>
                <a:cs typeface="DM Sans"/>
                <a:sym typeface="DM Sans"/>
              </a:rPr>
              <a:t>  Define Absence Types</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Create Absence Plans</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Configure Absence Eligibility</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Set Up Approval Workflow</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graphicFrame>
        <p:nvGraphicFramePr>
          <p:cNvPr name="Table 14" id="14"/>
          <p:cNvGraphicFramePr>
            <a:graphicFrameLocks noGrp="true"/>
          </p:cNvGraphicFramePr>
          <p:nvPr/>
        </p:nvGraphicFramePr>
        <p:xfrm>
          <a:off x="1644793" y="3006572"/>
          <a:ext cx="15226145" cy="6953250"/>
        </p:xfrm>
        <a:graphic>
          <a:graphicData uri="http://schemas.openxmlformats.org/drawingml/2006/table">
            <a:tbl>
              <a:tblPr/>
              <a:tblGrid>
                <a:gridCol w="4088152"/>
                <a:gridCol w="8520966"/>
                <a:gridCol w="2617028"/>
              </a:tblGrid>
              <a:tr h="823663">
                <a:tc>
                  <a:txBody>
                    <a:bodyPr anchor="t" rtlCol="false"/>
                    <a:lstStyle/>
                    <a:p>
                      <a:pPr algn="ctr">
                        <a:lnSpc>
                          <a:spcPts val="2800"/>
                        </a:lnSpc>
                        <a:defRPr/>
                      </a:pPr>
                      <a:r>
                        <a:rPr lang="en-US" sz="2000" b="true">
                          <a:solidFill>
                            <a:srgbClr val="FFFFFF"/>
                          </a:solidFill>
                          <a:latin typeface="Canva Sans Bold"/>
                          <a:ea typeface="Canva Sans Bold"/>
                          <a:cs typeface="Canva Sans Bold"/>
                          <a:sym typeface="Canva Sans Bold"/>
                        </a:rPr>
                        <a:t>Absence Type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b="true">
                          <a:solidFill>
                            <a:srgbClr val="FFFFFF"/>
                          </a:solidFill>
                          <a:latin typeface="Canva Sans Bold"/>
                          <a:ea typeface="Canva Sans Bold"/>
                          <a:cs typeface="Canva Sans Bold"/>
                          <a:sym typeface="Canva Sans Bold"/>
                        </a:rPr>
                        <a:t>Description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b="true">
                          <a:solidFill>
                            <a:srgbClr val="FFFFFF"/>
                          </a:solidFill>
                          <a:latin typeface="Canva Sans Bold"/>
                          <a:ea typeface="Canva Sans Bold"/>
                          <a:cs typeface="Canva Sans Bold"/>
                          <a:sym typeface="Canva Sans Bold"/>
                        </a:rPr>
                        <a:t>Unit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532397">
                <a:tc>
                  <a:txBody>
                    <a:bodyPr anchor="t" rtlCol="false"/>
                    <a:lstStyle/>
                    <a:p>
                      <a:pPr algn="ctr">
                        <a:lnSpc>
                          <a:spcPts val="2800"/>
                        </a:lnSpc>
                        <a:defRPr/>
                      </a:pPr>
                      <a:r>
                        <a:rPr lang="en-US" sz="2000">
                          <a:solidFill>
                            <a:srgbClr val="FFFFFF"/>
                          </a:solidFill>
                          <a:latin typeface="Canva Sans"/>
                          <a:ea typeface="Canva Sans"/>
                          <a:cs typeface="Canva Sans"/>
                          <a:sym typeface="Canva Sans"/>
                        </a:rPr>
                        <a:t>Annual Leave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Paid time off for holidays.</a:t>
                      </a:r>
                      <a:endParaRPr lang="en-US" sz="1100"/>
                    </a:p>
                    <a:p>
                      <a:pPr algn="ctr">
                        <a:lnSpc>
                          <a:spcPts val="2800"/>
                        </a:lnSpc>
                      </a:pPr>
                      <a:r>
                        <a:rPr lang="en-US" sz="2000">
                          <a:solidFill>
                            <a:srgbClr val="FFFFFF"/>
                          </a:solidFill>
                          <a:latin typeface="Canva Sans"/>
                          <a:ea typeface="Canva Sans"/>
                          <a:cs typeface="Canva Sans"/>
                          <a:sym typeface="Canva Sans"/>
                        </a:rPr>
                        <a:t>21  per year.</a:t>
                      </a:r>
                    </a:p>
                    <a:p>
                      <a:pPr algn="ctr">
                        <a:lnSpc>
                          <a:spcPts val="2800"/>
                        </a:lnSpc>
                      </a:pPr>
                      <a:r>
                        <a:rPr lang="en-US" sz="2000">
                          <a:solidFill>
                            <a:srgbClr val="FFFFFF"/>
                          </a:solidFill>
                          <a:latin typeface="Canva Sans"/>
                          <a:ea typeface="Canva Sans"/>
                          <a:cs typeface="Canva Sans"/>
                          <a:sym typeface="Canva Sans"/>
                        </a:rPr>
                        <a:t>Increases to 30 days after 10 years of service or age above 50.</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886763">
                <a:tc>
                  <a:txBody>
                    <a:bodyPr anchor="t" rtlCol="false"/>
                    <a:lstStyle/>
                    <a:p>
                      <a:pPr algn="ctr">
                        <a:lnSpc>
                          <a:spcPts val="2800"/>
                        </a:lnSpc>
                        <a:defRPr/>
                      </a:pPr>
                      <a:r>
                        <a:rPr lang="en-US" sz="2000">
                          <a:solidFill>
                            <a:srgbClr val="FFFFFF"/>
                          </a:solidFill>
                          <a:latin typeface="Canva Sans"/>
                          <a:ea typeface="Canva Sans"/>
                          <a:cs typeface="Canva Sans"/>
                          <a:sym typeface="Canva Sans"/>
                        </a:rPr>
                        <a:t>Sick Leave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Paid leave due to illness or medical needs.</a:t>
                      </a:r>
                      <a:endParaRPr lang="en-US" sz="1100"/>
                    </a:p>
                    <a:p>
                      <a:pPr algn="ctr">
                        <a:lnSpc>
                          <a:spcPts val="2800"/>
                        </a:lnSpc>
                      </a:pPr>
                      <a:r>
                        <a:rPr lang="en-US" sz="2000">
                          <a:solidFill>
                            <a:srgbClr val="FFFFFF"/>
                          </a:solidFill>
                          <a:latin typeface="Canva Sans"/>
                          <a:ea typeface="Canva Sans"/>
                          <a:cs typeface="Canva Sans"/>
                          <a:sym typeface="Canva Sans"/>
                        </a:rPr>
                        <a:t>Extended if needed; total of 180 days per year.</a:t>
                      </a:r>
                    </a:p>
                    <a:p>
                      <a:pPr algn="ctr">
                        <a:lnSpc>
                          <a:spcPts val="2800"/>
                        </a:lnSpc>
                      </a:pPr>
                      <a:r>
                        <a:rPr lang="en-US" sz="2000">
                          <a:solidFill>
                            <a:srgbClr val="FFFFFF"/>
                          </a:solidFill>
                          <a:latin typeface="Canva Sans"/>
                          <a:ea typeface="Canva Sans"/>
                          <a:cs typeface="Canva Sans"/>
                          <a:sym typeface="Canva Sans"/>
                        </a:rPr>
                        <a:t>First 90 days،75% of basic wage.</a:t>
                      </a:r>
                    </a:p>
                    <a:p>
                      <a:pPr algn="ctr">
                        <a:lnSpc>
                          <a:spcPts val="2800"/>
                        </a:lnSpc>
                      </a:pPr>
                      <a:r>
                        <a:rPr lang="en-US" sz="2000">
                          <a:solidFill>
                            <a:srgbClr val="FFFFFF"/>
                          </a:solidFill>
                          <a:latin typeface="Canva Sans"/>
                          <a:ea typeface="Canva Sans"/>
                          <a:cs typeface="Canva Sans"/>
                          <a:sym typeface="Canva Sans"/>
                        </a:rPr>
                        <a:t>Next 90 days،85% of basic wage.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532397">
                <a:tc>
                  <a:txBody>
                    <a:bodyPr anchor="t" rtlCol="false"/>
                    <a:lstStyle/>
                    <a:p>
                      <a:pPr algn="ctr">
                        <a:lnSpc>
                          <a:spcPts val="2800"/>
                        </a:lnSpc>
                        <a:defRPr/>
                      </a:pPr>
                      <a:r>
                        <a:rPr lang="en-US" sz="2000">
                          <a:solidFill>
                            <a:srgbClr val="FFFFFF"/>
                          </a:solidFill>
                          <a:latin typeface="Canva Sans"/>
                          <a:ea typeface="Canva Sans"/>
                          <a:cs typeface="Canva Sans"/>
                          <a:sym typeface="Canva Sans"/>
                        </a:rPr>
                        <a:t>Maternity Leave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Paid leave for childbirth and postnatal recovery.</a:t>
                      </a:r>
                      <a:endParaRPr lang="en-US" sz="1100"/>
                    </a:p>
                    <a:p>
                      <a:pPr algn="ctr">
                        <a:lnSpc>
                          <a:spcPts val="2800"/>
                        </a:lnSpc>
                      </a:pPr>
                      <a:r>
                        <a:rPr lang="en-US" sz="2000">
                          <a:solidFill>
                            <a:srgbClr val="FFFFFF"/>
                          </a:solidFill>
                          <a:latin typeface="Canva Sans"/>
                          <a:ea typeface="Canva Sans"/>
                          <a:cs typeface="Canva Sans"/>
                          <a:sym typeface="Canva Sans"/>
                        </a:rPr>
                        <a:t>Granted after 10 months of service, limited to twice during the full employment period.</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78030">
                <a:tc>
                  <a:txBody>
                    <a:bodyPr anchor="t" rtlCol="false"/>
                    <a:lstStyle/>
                    <a:p>
                      <a:pPr algn="ctr">
                        <a:lnSpc>
                          <a:spcPts val="2800"/>
                        </a:lnSpc>
                        <a:defRPr/>
                      </a:pPr>
                      <a:r>
                        <a:rPr lang="en-US" sz="2000">
                          <a:solidFill>
                            <a:srgbClr val="FFFFFF"/>
                          </a:solidFill>
                          <a:latin typeface="Canva Sans"/>
                          <a:ea typeface="Canva Sans"/>
                          <a:cs typeface="Canva Sans"/>
                          <a:sym typeface="Canva Sans"/>
                        </a:rPr>
                        <a:t>Study Leave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paid leave granted for exams or academic purposes.</a:t>
                      </a:r>
                      <a:endParaRPr lang="en-US" sz="1100"/>
                    </a:p>
                    <a:p>
                      <a:pPr algn="ctr">
                        <a:lnSpc>
                          <a:spcPts val="2800"/>
                        </a:lnSpc>
                      </a:pPr>
                      <a:r>
                        <a:rPr lang="en-US" sz="2000">
                          <a:solidFill>
                            <a:srgbClr val="FFFFFF"/>
                          </a:solidFill>
                          <a:latin typeface="Canva Sans"/>
                          <a:ea typeface="Canva Sans"/>
                          <a:cs typeface="Canva Sans"/>
                          <a:sym typeface="Canva Sans"/>
                        </a:rPr>
                        <a:t>Must submit proof of exam participation.</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Canva Sans"/>
                          <a:ea typeface="Canva Sans"/>
                          <a:cs typeface="Canva Sans"/>
                          <a:sym typeface="Canva Sans"/>
                        </a:rPr>
                        <a:t>Days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5" id="15"/>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DEFINE ABSENCE TYPES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9</a:t>
            </a:r>
          </a:p>
        </p:txBody>
      </p:sp>
      <p:sp>
        <p:nvSpPr>
          <p:cNvPr name="TextBox 17" id="17"/>
          <p:cNvSpPr txBox="true"/>
          <p:nvPr/>
        </p:nvSpPr>
        <p:spPr>
          <a:xfrm rot="0">
            <a:off x="766822" y="2000570"/>
            <a:ext cx="17216077" cy="874194"/>
          </a:xfrm>
          <a:prstGeom prst="rect">
            <a:avLst/>
          </a:prstGeom>
        </p:spPr>
        <p:txBody>
          <a:bodyPr anchor="t" rtlCol="false" tIns="0" lIns="0" bIns="0" rIns="0">
            <a:spAutoFit/>
          </a:bodyPr>
          <a:lstStyle/>
          <a:p>
            <a:pPr algn="ctr">
              <a:lnSpc>
                <a:spcPts val="3577"/>
              </a:lnSpc>
            </a:pPr>
            <a:r>
              <a:rPr lang="en-US" sz="2592">
                <a:solidFill>
                  <a:srgbClr val="FFFFFF"/>
                </a:solidFill>
                <a:latin typeface="DM Sans"/>
                <a:ea typeface="DM Sans"/>
                <a:cs typeface="DM Sans"/>
                <a:sym typeface="DM Sans"/>
              </a:rPr>
              <a:t>An </a:t>
            </a:r>
            <a:r>
              <a:rPr lang="en-US" sz="2592">
                <a:solidFill>
                  <a:srgbClr val="FFFFFF"/>
                </a:solidFill>
                <a:latin typeface="DM Sans"/>
                <a:ea typeface="DM Sans"/>
                <a:cs typeface="DM Sans"/>
                <a:sym typeface="DM Sans"/>
              </a:rPr>
              <a:t>Absence Type in Oracle defines the category and nature of leave employees can request.</a:t>
            </a:r>
          </a:p>
          <a:p>
            <a:pPr algn="ctr">
              <a:lnSpc>
                <a:spcPts val="3577"/>
              </a:lnSpc>
              <a:spcBef>
                <a:spcPct val="0"/>
              </a:spcBef>
            </a:pPr>
            <a:r>
              <a:rPr lang="en-US" sz="2592">
                <a:solidFill>
                  <a:srgbClr val="FFFFFF"/>
                </a:solidFill>
                <a:latin typeface="DM Sans"/>
                <a:ea typeface="DM Sans"/>
                <a:cs typeface="DM Sans"/>
                <a:sym typeface="DM Sans"/>
              </a:rPr>
              <a:t>It controls how absences are recorded, displayed, and processed in the system.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0">
            <a:off x="8090988" y="1992213"/>
            <a:ext cx="9813153" cy="7032200"/>
            <a:chOff x="0" y="0"/>
            <a:chExt cx="6375294" cy="4568597"/>
          </a:xfrm>
        </p:grpSpPr>
        <p:sp>
          <p:nvSpPr>
            <p:cNvPr name="Freeform 10" id="10"/>
            <p:cNvSpPr/>
            <p:nvPr/>
          </p:nvSpPr>
          <p:spPr>
            <a:xfrm flipH="false" flipV="false" rot="0">
              <a:off x="0" y="0"/>
              <a:ext cx="6375293" cy="4568597"/>
            </a:xfrm>
            <a:custGeom>
              <a:avLst/>
              <a:gdLst/>
              <a:ahLst/>
              <a:cxnLst/>
              <a:rect r="r" b="b" t="t" l="l"/>
              <a:pathLst>
                <a:path h="4568597" w="6375293">
                  <a:moveTo>
                    <a:pt x="0" y="3807164"/>
                  </a:moveTo>
                  <a:lnTo>
                    <a:pt x="0" y="761433"/>
                  </a:lnTo>
                  <a:cubicBezTo>
                    <a:pt x="0" y="341122"/>
                    <a:pt x="285613" y="0"/>
                    <a:pt x="637529" y="0"/>
                  </a:cubicBezTo>
                  <a:lnTo>
                    <a:pt x="5737764" y="0"/>
                  </a:lnTo>
                  <a:cubicBezTo>
                    <a:pt x="6089681" y="0"/>
                    <a:pt x="6375293" y="341122"/>
                    <a:pt x="6375293" y="761433"/>
                  </a:cubicBezTo>
                  <a:lnTo>
                    <a:pt x="6375293" y="3807164"/>
                  </a:lnTo>
                  <a:cubicBezTo>
                    <a:pt x="6375293" y="4227475"/>
                    <a:pt x="6089681" y="4568597"/>
                    <a:pt x="5737764" y="4568597"/>
                  </a:cubicBezTo>
                  <a:lnTo>
                    <a:pt x="637529" y="4568597"/>
                  </a:lnTo>
                  <a:cubicBezTo>
                    <a:pt x="285613" y="4568597"/>
                    <a:pt x="0" y="4227475"/>
                    <a:pt x="0" y="3807164"/>
                  </a:cubicBezTo>
                  <a:close/>
                </a:path>
              </a:pathLst>
            </a:custGeom>
            <a:blipFill>
              <a:blip r:embed="rId5"/>
              <a:stretch>
                <a:fillRect l="0" t="-2884" r="0" b="-2884"/>
              </a:stretch>
            </a:blipFill>
          </p:spPr>
        </p:sp>
      </p:gr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6" id="16"/>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DEFINE ABSENCE TYPES</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10</a:t>
            </a:r>
          </a:p>
        </p:txBody>
      </p:sp>
      <p:sp>
        <p:nvSpPr>
          <p:cNvPr name="TextBox 18" id="18"/>
          <p:cNvSpPr txBox="true"/>
          <p:nvPr/>
        </p:nvSpPr>
        <p:spPr>
          <a:xfrm rot="0">
            <a:off x="1028700" y="3597374"/>
            <a:ext cx="5778888" cy="4312471"/>
          </a:xfrm>
          <a:prstGeom prst="rect">
            <a:avLst/>
          </a:prstGeom>
        </p:spPr>
        <p:txBody>
          <a:bodyPr anchor="t" rtlCol="false" tIns="0" lIns="0" bIns="0" rIns="0">
            <a:spAutoFit/>
          </a:bodyPr>
          <a:lstStyle/>
          <a:p>
            <a:pPr algn="l">
              <a:lnSpc>
                <a:spcPts val="4288"/>
              </a:lnSpc>
            </a:pPr>
            <a:r>
              <a:rPr lang="en-US" sz="3107">
                <a:solidFill>
                  <a:srgbClr val="FFFFFF"/>
                </a:solidFill>
                <a:latin typeface="DM Sans"/>
                <a:ea typeface="DM Sans"/>
                <a:cs typeface="DM Sans"/>
                <a:sym typeface="DM Sans"/>
              </a:rPr>
              <a:t>The first step to Create Absence Type is to create an element type :</a:t>
            </a:r>
          </a:p>
          <a:p>
            <a:pPr algn="l">
              <a:lnSpc>
                <a:spcPts val="4288"/>
              </a:lnSpc>
            </a:pPr>
            <a:r>
              <a:rPr lang="en-US" sz="3107">
                <a:solidFill>
                  <a:srgbClr val="FFFFFF"/>
                </a:solidFill>
                <a:latin typeface="DM Sans"/>
                <a:ea typeface="DM Sans"/>
                <a:cs typeface="DM Sans"/>
                <a:sym typeface="DM Sans"/>
              </a:rPr>
              <a:t> </a:t>
            </a:r>
          </a:p>
          <a:p>
            <a:pPr algn="l" marL="670936" indent="-335468" lvl="1">
              <a:lnSpc>
                <a:spcPts val="4288"/>
              </a:lnSpc>
              <a:buFont typeface="Arial"/>
              <a:buChar char="•"/>
            </a:pPr>
            <a:r>
              <a:rPr lang="en-US" sz="3107">
                <a:solidFill>
                  <a:srgbClr val="FFFFFF"/>
                </a:solidFill>
                <a:latin typeface="DM Sans"/>
                <a:ea typeface="DM Sans"/>
                <a:cs typeface="DM Sans"/>
                <a:sym typeface="DM Sans"/>
              </a:rPr>
              <a:t>Total Compensation →  Basic →</a:t>
            </a:r>
            <a:r>
              <a:rPr lang="en-US" sz="3107">
                <a:solidFill>
                  <a:srgbClr val="FFFFFF"/>
                </a:solidFill>
                <a:latin typeface="DM Sans"/>
                <a:ea typeface="DM Sans"/>
                <a:cs typeface="DM Sans"/>
                <a:sym typeface="DM Sans"/>
              </a:rPr>
              <a:t> Element </a:t>
            </a:r>
          </a:p>
          <a:p>
            <a:pPr algn="l">
              <a:lnSpc>
                <a:spcPts val="4288"/>
              </a:lnSpc>
            </a:pPr>
          </a:p>
          <a:p>
            <a:pPr algn="l">
              <a:lnSpc>
                <a:spcPts val="428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0">
            <a:off x="7445539" y="1557555"/>
            <a:ext cx="9837672" cy="7700745"/>
            <a:chOff x="0" y="0"/>
            <a:chExt cx="6391222" cy="5002929"/>
          </a:xfrm>
        </p:grpSpPr>
        <p:sp>
          <p:nvSpPr>
            <p:cNvPr name="Freeform 10" id="10"/>
            <p:cNvSpPr/>
            <p:nvPr/>
          </p:nvSpPr>
          <p:spPr>
            <a:xfrm flipH="false" flipV="false" rot="0">
              <a:off x="0" y="0"/>
              <a:ext cx="6391222" cy="5002929"/>
            </a:xfrm>
            <a:custGeom>
              <a:avLst/>
              <a:gdLst/>
              <a:ahLst/>
              <a:cxnLst/>
              <a:rect r="r" b="b" t="t" l="l"/>
              <a:pathLst>
                <a:path h="5002929" w="6391222">
                  <a:moveTo>
                    <a:pt x="0" y="4169108"/>
                  </a:moveTo>
                  <a:lnTo>
                    <a:pt x="0" y="833822"/>
                  </a:lnTo>
                  <a:cubicBezTo>
                    <a:pt x="0" y="373552"/>
                    <a:pt x="286327" y="0"/>
                    <a:pt x="639122" y="0"/>
                  </a:cubicBezTo>
                  <a:lnTo>
                    <a:pt x="5752100" y="0"/>
                  </a:lnTo>
                  <a:cubicBezTo>
                    <a:pt x="6104896" y="0"/>
                    <a:pt x="6391222" y="373552"/>
                    <a:pt x="6391222" y="833822"/>
                  </a:cubicBezTo>
                  <a:lnTo>
                    <a:pt x="6391222" y="4169108"/>
                  </a:lnTo>
                  <a:cubicBezTo>
                    <a:pt x="6391222" y="4629377"/>
                    <a:pt x="6104896" y="5002929"/>
                    <a:pt x="5752100" y="5002929"/>
                  </a:cubicBezTo>
                  <a:lnTo>
                    <a:pt x="639122" y="5002929"/>
                  </a:lnTo>
                  <a:cubicBezTo>
                    <a:pt x="286327" y="5002929"/>
                    <a:pt x="0" y="4629377"/>
                    <a:pt x="0" y="4169108"/>
                  </a:cubicBezTo>
                  <a:close/>
                </a:path>
              </a:pathLst>
            </a:custGeom>
            <a:blipFill>
              <a:blip r:embed="rId5"/>
              <a:stretch>
                <a:fillRect l="0" t="-2261" r="0" b="-2261"/>
              </a:stretch>
            </a:blipFill>
          </p:spPr>
        </p:sp>
      </p:gr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6" id="16"/>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DEFINE ABSENCE TYPES</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
        <p:nvSpPr>
          <p:cNvPr name="TextBox 18" id="18"/>
          <p:cNvSpPr txBox="true"/>
          <p:nvPr/>
        </p:nvSpPr>
        <p:spPr>
          <a:xfrm rot="0">
            <a:off x="882516" y="2879973"/>
            <a:ext cx="5778888" cy="4853266"/>
          </a:xfrm>
          <a:prstGeom prst="rect">
            <a:avLst/>
          </a:prstGeom>
        </p:spPr>
        <p:txBody>
          <a:bodyPr anchor="t" rtlCol="false" tIns="0" lIns="0" bIns="0" rIns="0">
            <a:spAutoFit/>
          </a:bodyPr>
          <a:lstStyle/>
          <a:p>
            <a:pPr algn="l">
              <a:lnSpc>
                <a:spcPts val="4288"/>
              </a:lnSpc>
            </a:pPr>
            <a:r>
              <a:rPr lang="en-US" sz="3107">
                <a:solidFill>
                  <a:srgbClr val="FFFFFF"/>
                </a:solidFill>
                <a:latin typeface="DM Sans"/>
                <a:ea typeface="DM Sans"/>
                <a:cs typeface="DM Sans"/>
                <a:sym typeface="DM Sans"/>
              </a:rPr>
              <a:t>The second step is to link the element to restrict the type to certain jobs, or employee groups:</a:t>
            </a:r>
          </a:p>
          <a:p>
            <a:pPr algn="l">
              <a:lnSpc>
                <a:spcPts val="4288"/>
              </a:lnSpc>
            </a:pPr>
            <a:r>
              <a:rPr lang="en-US" sz="3107">
                <a:solidFill>
                  <a:srgbClr val="FFFFFF"/>
                </a:solidFill>
                <a:latin typeface="DM Sans"/>
                <a:ea typeface="DM Sans"/>
                <a:cs typeface="DM Sans"/>
                <a:sym typeface="DM Sans"/>
              </a:rPr>
              <a:t> </a:t>
            </a:r>
          </a:p>
          <a:p>
            <a:pPr algn="l" marL="670936" indent="-335468" lvl="1">
              <a:lnSpc>
                <a:spcPts val="4288"/>
              </a:lnSpc>
              <a:buFont typeface="Arial"/>
              <a:buChar char="•"/>
            </a:pPr>
            <a:r>
              <a:rPr lang="en-US" sz="3107">
                <a:solidFill>
                  <a:srgbClr val="FFFFFF"/>
                </a:solidFill>
                <a:latin typeface="DM Sans"/>
                <a:ea typeface="DM Sans"/>
                <a:cs typeface="DM Sans"/>
                <a:sym typeface="DM Sans"/>
              </a:rPr>
              <a:t>Total Compensation →  Basic → Link</a:t>
            </a:r>
          </a:p>
          <a:p>
            <a:pPr algn="l">
              <a:lnSpc>
                <a:spcPts val="4288"/>
              </a:lnSpc>
            </a:pPr>
          </a:p>
          <a:p>
            <a:pPr algn="l">
              <a:lnSpc>
                <a:spcPts val="4288"/>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0">
            <a:off x="7445539" y="1557555"/>
            <a:ext cx="9837672" cy="8369291"/>
            <a:chOff x="0" y="0"/>
            <a:chExt cx="6391222" cy="5437262"/>
          </a:xfrm>
        </p:grpSpPr>
        <p:sp>
          <p:nvSpPr>
            <p:cNvPr name="Freeform 10" id="10"/>
            <p:cNvSpPr/>
            <p:nvPr/>
          </p:nvSpPr>
          <p:spPr>
            <a:xfrm flipH="false" flipV="false" rot="0">
              <a:off x="0" y="0"/>
              <a:ext cx="6391222" cy="5437262"/>
            </a:xfrm>
            <a:custGeom>
              <a:avLst/>
              <a:gdLst/>
              <a:ahLst/>
              <a:cxnLst/>
              <a:rect r="r" b="b" t="t" l="l"/>
              <a:pathLst>
                <a:path h="5437262" w="6391222">
                  <a:moveTo>
                    <a:pt x="0" y="4531052"/>
                  </a:moveTo>
                  <a:lnTo>
                    <a:pt x="0" y="906210"/>
                  </a:lnTo>
                  <a:cubicBezTo>
                    <a:pt x="0" y="405982"/>
                    <a:pt x="286327" y="0"/>
                    <a:pt x="639122" y="0"/>
                  </a:cubicBezTo>
                  <a:lnTo>
                    <a:pt x="5752100" y="0"/>
                  </a:lnTo>
                  <a:cubicBezTo>
                    <a:pt x="6104896" y="0"/>
                    <a:pt x="6391222" y="405982"/>
                    <a:pt x="6391222" y="906210"/>
                  </a:cubicBezTo>
                  <a:lnTo>
                    <a:pt x="6391222" y="4531052"/>
                  </a:lnTo>
                  <a:cubicBezTo>
                    <a:pt x="6391222" y="5031280"/>
                    <a:pt x="6104896" y="5437262"/>
                    <a:pt x="5752100" y="5437262"/>
                  </a:cubicBezTo>
                  <a:lnTo>
                    <a:pt x="639122" y="5437262"/>
                  </a:lnTo>
                  <a:cubicBezTo>
                    <a:pt x="286327" y="5437262"/>
                    <a:pt x="0" y="5031280"/>
                    <a:pt x="0" y="4531052"/>
                  </a:cubicBezTo>
                  <a:close/>
                </a:path>
              </a:pathLst>
            </a:custGeom>
            <a:blipFill>
              <a:blip r:embed="rId5"/>
              <a:stretch>
                <a:fillRect l="-3413" t="0" r="-3413" b="0"/>
              </a:stretch>
            </a:blipFill>
          </p:spPr>
        </p:sp>
      </p:gr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6" id="16"/>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DEFINE ABSENCE TYPES</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
        <p:nvSpPr>
          <p:cNvPr name="TextBox 18" id="18"/>
          <p:cNvSpPr txBox="true"/>
          <p:nvPr/>
        </p:nvSpPr>
        <p:spPr>
          <a:xfrm rot="0">
            <a:off x="767517" y="2688292"/>
            <a:ext cx="5778888" cy="4853266"/>
          </a:xfrm>
          <a:prstGeom prst="rect">
            <a:avLst/>
          </a:prstGeom>
        </p:spPr>
        <p:txBody>
          <a:bodyPr anchor="t" rtlCol="false" tIns="0" lIns="0" bIns="0" rIns="0">
            <a:spAutoFit/>
          </a:bodyPr>
          <a:lstStyle/>
          <a:p>
            <a:pPr algn="l">
              <a:lnSpc>
                <a:spcPts val="4288"/>
              </a:lnSpc>
            </a:pPr>
            <a:r>
              <a:rPr lang="en-US" sz="3107">
                <a:solidFill>
                  <a:srgbClr val="FFFFFF"/>
                </a:solidFill>
                <a:latin typeface="DM Sans"/>
                <a:ea typeface="DM Sans"/>
                <a:cs typeface="DM Sans"/>
                <a:sym typeface="DM Sans"/>
              </a:rPr>
              <a:t>The Third and final step is to make an absence type and link it to the element (we can put reasons):</a:t>
            </a:r>
          </a:p>
          <a:p>
            <a:pPr algn="l">
              <a:lnSpc>
                <a:spcPts val="4288"/>
              </a:lnSpc>
            </a:pPr>
          </a:p>
          <a:p>
            <a:pPr algn="l" marL="670936" indent="-335468" lvl="1">
              <a:lnSpc>
                <a:spcPts val="4288"/>
              </a:lnSpc>
              <a:buFont typeface="Arial"/>
              <a:buChar char="•"/>
            </a:pPr>
            <a:r>
              <a:rPr lang="en-US" sz="3107">
                <a:solidFill>
                  <a:srgbClr val="FFFFFF"/>
                </a:solidFill>
                <a:latin typeface="DM Sans"/>
                <a:ea typeface="DM Sans"/>
                <a:cs typeface="DM Sans"/>
                <a:sym typeface="DM Sans"/>
              </a:rPr>
              <a:t>Total Compensation →  Basic → Absence Types</a:t>
            </a:r>
          </a:p>
          <a:p>
            <a:pPr algn="l">
              <a:lnSpc>
                <a:spcPts val="4288"/>
              </a:lnSpc>
            </a:pPr>
          </a:p>
          <a:p>
            <a:pPr algn="l">
              <a:lnSpc>
                <a:spcPts val="4288"/>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0">
            <a:off x="8801139" y="2602285"/>
            <a:ext cx="9077654" cy="6304342"/>
            <a:chOff x="0" y="0"/>
            <a:chExt cx="5897463" cy="4095731"/>
          </a:xfrm>
        </p:grpSpPr>
        <p:sp>
          <p:nvSpPr>
            <p:cNvPr name="Freeform 10" id="10"/>
            <p:cNvSpPr/>
            <p:nvPr/>
          </p:nvSpPr>
          <p:spPr>
            <a:xfrm flipH="false" flipV="false" rot="0">
              <a:off x="0" y="0"/>
              <a:ext cx="5897463" cy="4095731"/>
            </a:xfrm>
            <a:custGeom>
              <a:avLst/>
              <a:gdLst/>
              <a:ahLst/>
              <a:cxnLst/>
              <a:rect r="r" b="b" t="t" l="l"/>
              <a:pathLst>
                <a:path h="4095731" w="5897463">
                  <a:moveTo>
                    <a:pt x="0" y="3413109"/>
                  </a:moveTo>
                  <a:lnTo>
                    <a:pt x="0" y="682622"/>
                  </a:lnTo>
                  <a:cubicBezTo>
                    <a:pt x="0" y="305815"/>
                    <a:pt x="264206" y="0"/>
                    <a:pt x="589746" y="0"/>
                  </a:cubicBezTo>
                  <a:lnTo>
                    <a:pt x="5307717" y="0"/>
                  </a:lnTo>
                  <a:cubicBezTo>
                    <a:pt x="5633257" y="0"/>
                    <a:pt x="5897463" y="305815"/>
                    <a:pt x="5897463" y="682622"/>
                  </a:cubicBezTo>
                  <a:lnTo>
                    <a:pt x="5897463" y="3413109"/>
                  </a:lnTo>
                  <a:cubicBezTo>
                    <a:pt x="5897463" y="3789916"/>
                    <a:pt x="5633257" y="4095731"/>
                    <a:pt x="5307717" y="4095731"/>
                  </a:cubicBezTo>
                  <a:lnTo>
                    <a:pt x="589746" y="4095731"/>
                  </a:lnTo>
                  <a:cubicBezTo>
                    <a:pt x="264206" y="4095731"/>
                    <a:pt x="0" y="3789916"/>
                    <a:pt x="0" y="3413109"/>
                  </a:cubicBezTo>
                  <a:close/>
                </a:path>
              </a:pathLst>
            </a:custGeom>
            <a:blipFill>
              <a:blip r:embed="rId5"/>
              <a:stretch>
                <a:fillRect l="0" t="-1425" r="-34633" b="-32095"/>
              </a:stretch>
            </a:blipFill>
          </p:spPr>
        </p:sp>
      </p:gr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6" id="16"/>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CREATE ABSENCE PLANS</a:t>
            </a:r>
          </a:p>
        </p:txBody>
      </p:sp>
      <p:sp>
        <p:nvSpPr>
          <p:cNvPr name="TextBox 17" id="17"/>
          <p:cNvSpPr txBox="true"/>
          <p:nvPr/>
        </p:nvSpPr>
        <p:spPr>
          <a:xfrm rot="0">
            <a:off x="524367" y="1922300"/>
            <a:ext cx="17395539" cy="1321869"/>
          </a:xfrm>
          <a:prstGeom prst="rect">
            <a:avLst/>
          </a:prstGeom>
        </p:spPr>
        <p:txBody>
          <a:bodyPr anchor="t" rtlCol="false" tIns="0" lIns="0" bIns="0" rIns="0">
            <a:spAutoFit/>
          </a:bodyPr>
          <a:lstStyle/>
          <a:p>
            <a:pPr algn="just" marL="559640" indent="-279820" lvl="1">
              <a:lnSpc>
                <a:spcPts val="3577"/>
              </a:lnSpc>
              <a:spcBef>
                <a:spcPct val="0"/>
              </a:spcBef>
              <a:buFont typeface="Arial"/>
              <a:buChar char="•"/>
            </a:pPr>
            <a:r>
              <a:rPr lang="en-US" sz="2592" strike="noStrike" u="none">
                <a:solidFill>
                  <a:srgbClr val="FFFFFF"/>
                </a:solidFill>
                <a:latin typeface="DM Sans"/>
                <a:ea typeface="DM Sans"/>
                <a:cs typeface="DM Sans"/>
                <a:sym typeface="DM Sans"/>
              </a:rPr>
              <a:t>Set up absence plans that define how leave is accrued and managed (e.g.,</a:t>
            </a:r>
            <a:r>
              <a:rPr lang="en-US" sz="2592" strike="noStrike" u="none">
                <a:solidFill>
                  <a:srgbClr val="FFFFFF"/>
                </a:solidFill>
                <a:latin typeface="DM Sans"/>
                <a:ea typeface="DM Sans"/>
                <a:cs typeface="DM Sans"/>
                <a:sym typeface="DM Sans"/>
              </a:rPr>
              <a:t> vacation accrual, sick leave allocation).</a:t>
            </a:r>
          </a:p>
          <a:p>
            <a:pPr algn="just" marL="559640" indent="-279820" lvl="1">
              <a:lnSpc>
                <a:spcPts val="3577"/>
              </a:lnSpc>
              <a:spcBef>
                <a:spcPct val="0"/>
              </a:spcBef>
              <a:buFont typeface="Arial"/>
              <a:buChar char="•"/>
            </a:pPr>
            <a:r>
              <a:rPr lang="en-US" sz="2592" strike="noStrike" u="none">
                <a:solidFill>
                  <a:srgbClr val="FFFFFF"/>
                </a:solidFill>
                <a:latin typeface="DM Sans"/>
                <a:ea typeface="DM Sans"/>
                <a:cs typeface="DM Sans"/>
                <a:sym typeface="DM Sans"/>
              </a:rPr>
              <a:t>Define leave entitlements and carryover rules.</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
        <p:nvSpPr>
          <p:cNvPr name="TextBox 19" id="19"/>
          <p:cNvSpPr txBox="true"/>
          <p:nvPr/>
        </p:nvSpPr>
        <p:spPr>
          <a:xfrm rot="0">
            <a:off x="1028700" y="4336061"/>
            <a:ext cx="7109653" cy="3276600"/>
          </a:xfrm>
          <a:prstGeom prst="rect">
            <a:avLst/>
          </a:prstGeom>
        </p:spPr>
        <p:txBody>
          <a:bodyPr anchor="t" rtlCol="false" tIns="0" lIns="0" bIns="0" rIns="0">
            <a:spAutoFit/>
          </a:bodyPr>
          <a:lstStyle/>
          <a:p>
            <a:pPr algn="l">
              <a:lnSpc>
                <a:spcPts val="3265"/>
              </a:lnSpc>
              <a:spcBef>
                <a:spcPct val="0"/>
              </a:spcBef>
            </a:pPr>
            <a:r>
              <a:rPr lang="en-US" sz="2721">
                <a:solidFill>
                  <a:srgbClr val="FFFFFF"/>
                </a:solidFill>
                <a:latin typeface="DM Sans"/>
                <a:ea typeface="DM Sans"/>
                <a:cs typeface="DM Sans"/>
                <a:sym typeface="DM Sans"/>
              </a:rPr>
              <a:t>Three steps to make an absence plan.</a:t>
            </a:r>
          </a:p>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Here is the first step:</a:t>
            </a:r>
          </a:p>
          <a:p>
            <a:pPr algn="l">
              <a:lnSpc>
                <a:spcPts val="3265"/>
              </a:lnSpc>
              <a:spcBef>
                <a:spcPct val="0"/>
              </a:spcBef>
            </a:pPr>
          </a:p>
          <a:p>
            <a:pPr algn="l">
              <a:lnSpc>
                <a:spcPts val="3265"/>
              </a:lnSpc>
              <a:spcBef>
                <a:spcPct val="0"/>
              </a:spcBef>
            </a:pPr>
          </a:p>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Total Compensation → Basic → Accrual Plans</a:t>
            </a:r>
          </a:p>
        </p:txBody>
      </p:sp>
      <p:sp>
        <p:nvSpPr>
          <p:cNvPr name="TextBox 20" id="20"/>
          <p:cNvSpPr txBox="true"/>
          <p:nvPr/>
        </p:nvSpPr>
        <p:spPr>
          <a:xfrm rot="0">
            <a:off x="13608198" y="9043988"/>
            <a:ext cx="154335" cy="542925"/>
          </a:xfrm>
          <a:prstGeom prst="rect">
            <a:avLst/>
          </a:prstGeom>
        </p:spPr>
        <p:txBody>
          <a:bodyPr anchor="t" rtlCol="false" tIns="0" lIns="0" bIns="0" rIns="0">
            <a:spAutoFit/>
          </a:bodyPr>
          <a:lstStyle/>
          <a:p>
            <a:pPr algn="ctr">
              <a:lnSpc>
                <a:spcPts val="4225"/>
              </a:lnSpc>
              <a:spcBef>
                <a:spcPct val="0"/>
              </a:spcBef>
            </a:pPr>
            <a:r>
              <a:rPr lang="en-US" b="true" sz="3521">
                <a:solidFill>
                  <a:srgbClr val="FFFFFF"/>
                </a:solidFill>
                <a:latin typeface="DM Sans Bold"/>
                <a:ea typeface="DM Sans Bold"/>
                <a:cs typeface="DM Sans Bold"/>
                <a:sym typeface="DM Sans Bold"/>
              </a:rPr>
              <a:t>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0">
            <a:off x="10123494" y="1348751"/>
            <a:ext cx="7861337" cy="4960642"/>
            <a:chOff x="0" y="0"/>
            <a:chExt cx="5107261" cy="3222772"/>
          </a:xfrm>
        </p:grpSpPr>
        <p:sp>
          <p:nvSpPr>
            <p:cNvPr name="Freeform 10" id="10"/>
            <p:cNvSpPr/>
            <p:nvPr/>
          </p:nvSpPr>
          <p:spPr>
            <a:xfrm flipH="false" flipV="false" rot="0">
              <a:off x="0" y="0"/>
              <a:ext cx="5107261" cy="3222772"/>
            </a:xfrm>
            <a:custGeom>
              <a:avLst/>
              <a:gdLst/>
              <a:ahLst/>
              <a:cxnLst/>
              <a:rect r="r" b="b" t="t" l="l"/>
              <a:pathLst>
                <a:path h="3222772" w="5107261">
                  <a:moveTo>
                    <a:pt x="0" y="2685643"/>
                  </a:moveTo>
                  <a:lnTo>
                    <a:pt x="0" y="537129"/>
                  </a:lnTo>
                  <a:cubicBezTo>
                    <a:pt x="0" y="240634"/>
                    <a:pt x="228805" y="0"/>
                    <a:pt x="510726" y="0"/>
                  </a:cubicBezTo>
                  <a:lnTo>
                    <a:pt x="4596535" y="0"/>
                  </a:lnTo>
                  <a:cubicBezTo>
                    <a:pt x="4878456" y="0"/>
                    <a:pt x="5107261" y="240634"/>
                    <a:pt x="5107261" y="537129"/>
                  </a:cubicBezTo>
                  <a:lnTo>
                    <a:pt x="5107261" y="2685643"/>
                  </a:lnTo>
                  <a:cubicBezTo>
                    <a:pt x="5107261" y="2982138"/>
                    <a:pt x="4878456" y="3222772"/>
                    <a:pt x="4596535" y="3222772"/>
                  </a:cubicBezTo>
                  <a:lnTo>
                    <a:pt x="510726" y="3222772"/>
                  </a:lnTo>
                  <a:cubicBezTo>
                    <a:pt x="228805" y="3222772"/>
                    <a:pt x="0" y="2982138"/>
                    <a:pt x="0" y="2685643"/>
                  </a:cubicBezTo>
                  <a:close/>
                </a:path>
              </a:pathLst>
            </a:custGeom>
            <a:blipFill>
              <a:blip r:embed="rId5"/>
              <a:stretch>
                <a:fillRect l="-267" t="-17797" r="-4123" b="0"/>
              </a:stretch>
            </a:blipFill>
          </p:spPr>
        </p:sp>
      </p:grpSp>
      <p:grpSp>
        <p:nvGrpSpPr>
          <p:cNvPr name="Group 11" id="11"/>
          <p:cNvGrpSpPr/>
          <p:nvPr/>
        </p:nvGrpSpPr>
        <p:grpSpPr>
          <a:xfrm rot="-10800000">
            <a:off x="15966396" y="9258300"/>
            <a:ext cx="13457996" cy="3264379"/>
            <a:chOff x="0" y="0"/>
            <a:chExt cx="17943995" cy="4352506"/>
          </a:xfrm>
        </p:grpSpPr>
        <p:sp>
          <p:nvSpPr>
            <p:cNvPr name="Freeform 12" id="12"/>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4" id="14"/>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grpSp>
        <p:nvGrpSpPr>
          <p:cNvPr name="Group 16" id="16"/>
          <p:cNvGrpSpPr/>
          <p:nvPr/>
        </p:nvGrpSpPr>
        <p:grpSpPr>
          <a:xfrm rot="0">
            <a:off x="524367" y="5143500"/>
            <a:ext cx="6855122" cy="5002684"/>
            <a:chOff x="0" y="0"/>
            <a:chExt cx="4453555" cy="3250085"/>
          </a:xfrm>
        </p:grpSpPr>
        <p:sp>
          <p:nvSpPr>
            <p:cNvPr name="Freeform 17" id="17"/>
            <p:cNvSpPr/>
            <p:nvPr/>
          </p:nvSpPr>
          <p:spPr>
            <a:xfrm flipH="false" flipV="false" rot="0">
              <a:off x="0" y="0"/>
              <a:ext cx="4453555" cy="3250085"/>
            </a:xfrm>
            <a:custGeom>
              <a:avLst/>
              <a:gdLst/>
              <a:ahLst/>
              <a:cxnLst/>
              <a:rect r="r" b="b" t="t" l="l"/>
              <a:pathLst>
                <a:path h="3250085" w="4453555">
                  <a:moveTo>
                    <a:pt x="0" y="2708404"/>
                  </a:moveTo>
                  <a:lnTo>
                    <a:pt x="0" y="541681"/>
                  </a:lnTo>
                  <a:cubicBezTo>
                    <a:pt x="0" y="242673"/>
                    <a:pt x="199519" y="0"/>
                    <a:pt x="445356" y="0"/>
                  </a:cubicBezTo>
                  <a:lnTo>
                    <a:pt x="4008200" y="0"/>
                  </a:lnTo>
                  <a:cubicBezTo>
                    <a:pt x="4254036" y="0"/>
                    <a:pt x="4453555" y="242673"/>
                    <a:pt x="4453555" y="541681"/>
                  </a:cubicBezTo>
                  <a:lnTo>
                    <a:pt x="4453555" y="2708404"/>
                  </a:lnTo>
                  <a:cubicBezTo>
                    <a:pt x="4453555" y="3007412"/>
                    <a:pt x="4254036" y="3250085"/>
                    <a:pt x="4008200" y="3250085"/>
                  </a:cubicBezTo>
                  <a:lnTo>
                    <a:pt x="445356" y="3250085"/>
                  </a:lnTo>
                  <a:cubicBezTo>
                    <a:pt x="199519" y="3250085"/>
                    <a:pt x="0" y="3007412"/>
                    <a:pt x="0" y="2708404"/>
                  </a:cubicBezTo>
                  <a:close/>
                </a:path>
              </a:pathLst>
            </a:custGeom>
            <a:blipFill>
              <a:blip r:embed="rId6"/>
              <a:stretch>
                <a:fillRect l="0" t="-8050" r="0" b="-8050"/>
              </a:stretch>
            </a:blipFill>
          </p:spPr>
        </p:sp>
      </p:grpSp>
      <p:sp>
        <p:nvSpPr>
          <p:cNvPr name="TextBox 18" id="18"/>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CREATE ABSENCE PLANS</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
        <p:nvSpPr>
          <p:cNvPr name="TextBox 20" id="20"/>
          <p:cNvSpPr txBox="true"/>
          <p:nvPr/>
        </p:nvSpPr>
        <p:spPr>
          <a:xfrm rot="0">
            <a:off x="729438" y="2125605"/>
            <a:ext cx="8976598" cy="2457450"/>
          </a:xfrm>
          <a:prstGeom prst="rect">
            <a:avLst/>
          </a:prstGeom>
        </p:spPr>
        <p:txBody>
          <a:bodyPr anchor="t" rtlCol="false" tIns="0" lIns="0" bIns="0" rIns="0">
            <a:spAutoFit/>
          </a:bodyPr>
          <a:lstStyle/>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the second step: elements associated with this plan</a:t>
            </a:r>
          </a:p>
          <a:p>
            <a:pPr algn="l">
              <a:lnSpc>
                <a:spcPts val="3265"/>
              </a:lnSpc>
              <a:spcBef>
                <a:spcPct val="0"/>
              </a:spcBef>
            </a:pPr>
          </a:p>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Total Compensation → Basic → Accrual Plans → Net Calculation Rules</a:t>
            </a:r>
          </a:p>
        </p:txBody>
      </p:sp>
      <p:sp>
        <p:nvSpPr>
          <p:cNvPr name="TextBox 21" id="21"/>
          <p:cNvSpPr txBox="true"/>
          <p:nvPr/>
        </p:nvSpPr>
        <p:spPr>
          <a:xfrm rot="0">
            <a:off x="7810075" y="6555122"/>
            <a:ext cx="8976598" cy="2457450"/>
          </a:xfrm>
          <a:prstGeom prst="rect">
            <a:avLst/>
          </a:prstGeom>
        </p:spPr>
        <p:txBody>
          <a:bodyPr anchor="t" rtlCol="false" tIns="0" lIns="0" bIns="0" rIns="0">
            <a:spAutoFit/>
          </a:bodyPr>
          <a:lstStyle/>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the third step:  Entitlement (30,21 days/year) and Carryover rules</a:t>
            </a:r>
          </a:p>
          <a:p>
            <a:pPr algn="l">
              <a:lnSpc>
                <a:spcPts val="3265"/>
              </a:lnSpc>
              <a:spcBef>
                <a:spcPct val="0"/>
              </a:spcBef>
            </a:pPr>
          </a:p>
          <a:p>
            <a:pPr algn="l">
              <a:lnSpc>
                <a:spcPts val="3265"/>
              </a:lnSpc>
              <a:spcBef>
                <a:spcPct val="0"/>
              </a:spcBef>
            </a:pPr>
            <a:r>
              <a:rPr lang="en-US" sz="2721">
                <a:solidFill>
                  <a:srgbClr val="FFFFFF"/>
                </a:solidFill>
                <a:latin typeface="DM Sans"/>
                <a:ea typeface="DM Sans"/>
                <a:cs typeface="DM Sans"/>
                <a:sym typeface="DM Sans"/>
              </a:rPr>
              <a:t>Total Compensation → Basic → Accrual Plans →Accrual Bands </a:t>
            </a:r>
          </a:p>
        </p:txBody>
      </p:sp>
      <p:sp>
        <p:nvSpPr>
          <p:cNvPr name="TextBox 22" id="22"/>
          <p:cNvSpPr txBox="true"/>
          <p:nvPr/>
        </p:nvSpPr>
        <p:spPr>
          <a:xfrm rot="0">
            <a:off x="13926468" y="814387"/>
            <a:ext cx="255389" cy="542925"/>
          </a:xfrm>
          <a:prstGeom prst="rect">
            <a:avLst/>
          </a:prstGeom>
        </p:spPr>
        <p:txBody>
          <a:bodyPr anchor="t" rtlCol="false" tIns="0" lIns="0" bIns="0" rIns="0">
            <a:spAutoFit/>
          </a:bodyPr>
          <a:lstStyle/>
          <a:p>
            <a:pPr algn="ctr">
              <a:lnSpc>
                <a:spcPts val="4225"/>
              </a:lnSpc>
              <a:spcBef>
                <a:spcPct val="0"/>
              </a:spcBef>
            </a:pPr>
            <a:r>
              <a:rPr lang="en-US" b="true" sz="3521">
                <a:solidFill>
                  <a:srgbClr val="FFFFFF"/>
                </a:solidFill>
                <a:latin typeface="DM Sans Bold"/>
                <a:ea typeface="DM Sans Bold"/>
                <a:cs typeface="DM Sans Bold"/>
                <a:sym typeface="DM Sans Bold"/>
              </a:rPr>
              <a:t>2</a:t>
            </a:r>
          </a:p>
        </p:txBody>
      </p:sp>
      <p:sp>
        <p:nvSpPr>
          <p:cNvPr name="TextBox 23" id="23"/>
          <p:cNvSpPr txBox="true"/>
          <p:nvPr/>
        </p:nvSpPr>
        <p:spPr>
          <a:xfrm rot="0">
            <a:off x="3484441" y="4600575"/>
            <a:ext cx="467487" cy="542925"/>
          </a:xfrm>
          <a:prstGeom prst="rect">
            <a:avLst/>
          </a:prstGeom>
        </p:spPr>
        <p:txBody>
          <a:bodyPr anchor="t" rtlCol="false" tIns="0" lIns="0" bIns="0" rIns="0">
            <a:spAutoFit/>
          </a:bodyPr>
          <a:lstStyle/>
          <a:p>
            <a:pPr algn="ctr">
              <a:lnSpc>
                <a:spcPts val="4225"/>
              </a:lnSpc>
              <a:spcBef>
                <a:spcPct val="0"/>
              </a:spcBef>
            </a:pPr>
            <a:r>
              <a:rPr lang="en-US" b="true" sz="3521">
                <a:solidFill>
                  <a:srgbClr val="FFFFFF"/>
                </a:solidFill>
                <a:latin typeface="DM Sans Bold"/>
                <a:ea typeface="DM Sans Bold"/>
                <a:cs typeface="DM Sans Bold"/>
                <a:sym typeface="DM Sans Bold"/>
              </a:rPr>
              <a:t>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15</a:t>
            </a:r>
          </a:p>
        </p:txBody>
      </p:sp>
      <p:sp>
        <p:nvSpPr>
          <p:cNvPr name="Freeform 3" id="3"/>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4" id="4"/>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TextBox 5" id="5"/>
          <p:cNvSpPr txBox="true"/>
          <p:nvPr/>
        </p:nvSpPr>
        <p:spPr>
          <a:xfrm rot="0">
            <a:off x="1028700" y="1376300"/>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CONFIGURE ABSENCE ELIGIBILITY:</a:t>
            </a:r>
          </a:p>
        </p:txBody>
      </p:sp>
      <p:sp>
        <p:nvSpPr>
          <p:cNvPr name="TextBox 6" id="6"/>
          <p:cNvSpPr txBox="true"/>
          <p:nvPr/>
        </p:nvSpPr>
        <p:spPr>
          <a:xfrm rot="0">
            <a:off x="2471427" y="3903649"/>
            <a:ext cx="9840440" cy="2840052"/>
          </a:xfrm>
          <a:prstGeom prst="rect">
            <a:avLst/>
          </a:prstGeom>
        </p:spPr>
        <p:txBody>
          <a:bodyPr anchor="t" rtlCol="false" tIns="0" lIns="0" bIns="0" rIns="0">
            <a:spAutoFit/>
          </a:bodyPr>
          <a:lstStyle/>
          <a:p>
            <a:pPr algn="just" marL="0" indent="0" lvl="1">
              <a:lnSpc>
                <a:spcPts val="4508"/>
              </a:lnSpc>
              <a:spcBef>
                <a:spcPct val="0"/>
              </a:spcBef>
            </a:pPr>
            <a:r>
              <a:rPr lang="en-US" sz="3266" strike="noStrike" u="none">
                <a:solidFill>
                  <a:srgbClr val="FFFFFF"/>
                </a:solidFill>
                <a:latin typeface="DM Sans"/>
                <a:ea typeface="DM Sans"/>
                <a:cs typeface="DM Sans"/>
                <a:sym typeface="DM Sans"/>
              </a:rPr>
              <a:t>Employees are eligible based on attributes such as:</a:t>
            </a:r>
          </a:p>
          <a:p>
            <a:pPr algn="just" marL="705285" indent="-352642" lvl="1">
              <a:lnSpc>
                <a:spcPts val="4508"/>
              </a:lnSpc>
              <a:buFont typeface="Arial"/>
              <a:buChar char="•"/>
            </a:pPr>
            <a:r>
              <a:rPr lang="en-US" sz="3266" strike="noStrike" u="none">
                <a:solidFill>
                  <a:srgbClr val="FFFFFF"/>
                </a:solidFill>
                <a:latin typeface="DM Sans"/>
                <a:ea typeface="DM Sans"/>
                <a:cs typeface="DM Sans"/>
                <a:sym typeface="DM Sans"/>
              </a:rPr>
              <a:t>Job</a:t>
            </a:r>
          </a:p>
          <a:p>
            <a:pPr algn="just" marL="705285" indent="-352642" lvl="1">
              <a:lnSpc>
                <a:spcPts val="4508"/>
              </a:lnSpc>
              <a:buFont typeface="Arial"/>
              <a:buChar char="•"/>
            </a:pPr>
            <a:r>
              <a:rPr lang="en-US" sz="3266" strike="noStrike" u="none">
                <a:solidFill>
                  <a:srgbClr val="FFFFFF"/>
                </a:solidFill>
                <a:latin typeface="DM Sans"/>
                <a:ea typeface="DM Sans"/>
                <a:cs typeface="DM Sans"/>
                <a:sym typeface="DM Sans"/>
              </a:rPr>
              <a:t>Grade</a:t>
            </a:r>
          </a:p>
          <a:p>
            <a:pPr algn="just" marL="705285" indent="-352642" lvl="1">
              <a:lnSpc>
                <a:spcPts val="4508"/>
              </a:lnSpc>
              <a:buFont typeface="Arial"/>
              <a:buChar char="•"/>
            </a:pPr>
            <a:r>
              <a:rPr lang="en-US" sz="3266" strike="noStrike" u="none">
                <a:solidFill>
                  <a:srgbClr val="FFFFFF"/>
                </a:solidFill>
                <a:latin typeface="DM Sans"/>
                <a:ea typeface="DM Sans"/>
                <a:cs typeface="DM Sans"/>
                <a:sym typeface="DM Sans"/>
              </a:rPr>
              <a:t>Organization</a:t>
            </a:r>
          </a:p>
          <a:p>
            <a:pPr algn="just" marL="705285" indent="-352642" lvl="1">
              <a:lnSpc>
                <a:spcPts val="4508"/>
              </a:lnSpc>
              <a:buFont typeface="Arial"/>
              <a:buChar char="•"/>
            </a:pPr>
            <a:r>
              <a:rPr lang="en-US" sz="3266" strike="noStrike" u="none">
                <a:solidFill>
                  <a:srgbClr val="FFFFFF"/>
                </a:solidFill>
                <a:latin typeface="DM Sans"/>
                <a:ea typeface="DM Sans"/>
                <a:cs typeface="DM Sans"/>
                <a:sym typeface="DM Sans"/>
              </a:rPr>
              <a:t>Payroll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294491" y="9559925"/>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14" id="14"/>
          <p:cNvSpPr/>
          <p:nvPr/>
        </p:nvSpPr>
        <p:spPr>
          <a:xfrm flipH="false" flipV="false" rot="0">
            <a:off x="7813597" y="2665175"/>
            <a:ext cx="9445703" cy="5642565"/>
          </a:xfrm>
          <a:custGeom>
            <a:avLst/>
            <a:gdLst/>
            <a:ahLst/>
            <a:cxnLst/>
            <a:rect r="r" b="b" t="t" l="l"/>
            <a:pathLst>
              <a:path h="5642565" w="9445703">
                <a:moveTo>
                  <a:pt x="0" y="0"/>
                </a:moveTo>
                <a:lnTo>
                  <a:pt x="9445703" y="0"/>
                </a:lnTo>
                <a:lnTo>
                  <a:pt x="9445703" y="5642564"/>
                </a:lnTo>
                <a:lnTo>
                  <a:pt x="0" y="5642564"/>
                </a:lnTo>
                <a:lnTo>
                  <a:pt x="0" y="0"/>
                </a:lnTo>
                <a:close/>
              </a:path>
            </a:pathLst>
          </a:custGeom>
          <a:blipFill>
            <a:blip r:embed="rId5"/>
            <a:stretch>
              <a:fillRect l="0" t="0" r="0" b="0"/>
            </a:stretch>
          </a:blipFill>
        </p:spPr>
      </p:sp>
      <p:sp>
        <p:nvSpPr>
          <p:cNvPr name="TextBox 15" id="15"/>
          <p:cNvSpPr txBox="true"/>
          <p:nvPr/>
        </p:nvSpPr>
        <p:spPr>
          <a:xfrm rot="0">
            <a:off x="524367" y="1286908"/>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CONFIGURE ABSENCE ELIGIBILITY:</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16</a:t>
            </a:r>
          </a:p>
        </p:txBody>
      </p:sp>
      <p:sp>
        <p:nvSpPr>
          <p:cNvPr name="TextBox 17" id="17"/>
          <p:cNvSpPr txBox="true"/>
          <p:nvPr/>
        </p:nvSpPr>
        <p:spPr>
          <a:xfrm rot="0">
            <a:off x="1204490" y="3270198"/>
            <a:ext cx="4565574" cy="520218"/>
          </a:xfrm>
          <a:prstGeom prst="rect">
            <a:avLst/>
          </a:prstGeom>
        </p:spPr>
        <p:txBody>
          <a:bodyPr anchor="t" rtlCol="false" tIns="0" lIns="0" bIns="0" rIns="0">
            <a:spAutoFit/>
          </a:bodyPr>
          <a:lstStyle/>
          <a:p>
            <a:pPr algn="just">
              <a:lnSpc>
                <a:spcPts val="4245"/>
              </a:lnSpc>
            </a:pPr>
            <a:r>
              <a:rPr lang="en-US" sz="3076" strike="noStrike" u="none">
                <a:solidFill>
                  <a:srgbClr val="FFFFFF"/>
                </a:solidFill>
                <a:latin typeface="DM Sans"/>
                <a:ea typeface="DM Sans"/>
                <a:cs typeface="DM Sans"/>
                <a:sym typeface="DM Sans"/>
              </a:rPr>
              <a:t>period of ineligibility</a:t>
            </a:r>
          </a:p>
        </p:txBody>
      </p:sp>
      <p:sp>
        <p:nvSpPr>
          <p:cNvPr name="TextBox 18" id="18"/>
          <p:cNvSpPr txBox="true"/>
          <p:nvPr/>
        </p:nvSpPr>
        <p:spPr>
          <a:xfrm rot="0">
            <a:off x="1456206" y="4295241"/>
            <a:ext cx="4818757" cy="848259"/>
          </a:xfrm>
          <a:prstGeom prst="rect">
            <a:avLst/>
          </a:prstGeom>
        </p:spPr>
        <p:txBody>
          <a:bodyPr anchor="t" rtlCol="false" tIns="0" lIns="0" bIns="0" rIns="0">
            <a:spAutoFit/>
          </a:bodyPr>
          <a:lstStyle/>
          <a:p>
            <a:pPr algn="just" marL="534707" indent="-267354" lvl="1">
              <a:lnSpc>
                <a:spcPts val="3417"/>
              </a:lnSpc>
              <a:spcBef>
                <a:spcPct val="0"/>
              </a:spcBef>
              <a:buFont typeface="Arial"/>
              <a:buChar char="•"/>
            </a:pPr>
            <a:r>
              <a:rPr lang="en-US" sz="2476" strike="noStrike" u="none">
                <a:solidFill>
                  <a:srgbClr val="FFFFFF"/>
                </a:solidFill>
                <a:latin typeface="DM Sans"/>
                <a:ea typeface="DM Sans"/>
                <a:cs typeface="DM Sans"/>
                <a:sym typeface="DM Sans"/>
              </a:rPr>
              <a:t>Total Compensation → Basic </a:t>
            </a:r>
          </a:p>
          <a:p>
            <a:pPr algn="just">
              <a:lnSpc>
                <a:spcPts val="3417"/>
              </a:lnSpc>
              <a:spcBef>
                <a:spcPct val="0"/>
              </a:spcBef>
            </a:pPr>
            <a:r>
              <a:rPr lang="en-US" sz="2476" strike="noStrike" u="none">
                <a:solidFill>
                  <a:srgbClr val="FFFFFF"/>
                </a:solidFill>
                <a:latin typeface="DM Sans"/>
                <a:ea typeface="DM Sans"/>
                <a:cs typeface="DM Sans"/>
                <a:sym typeface="DM Sans"/>
              </a:rPr>
              <a:t>    → Accrual Plans</a:t>
            </a:r>
          </a:p>
        </p:txBody>
      </p:sp>
      <p:sp>
        <p:nvSpPr>
          <p:cNvPr name="TextBox 19" id="19"/>
          <p:cNvSpPr txBox="true"/>
          <p:nvPr/>
        </p:nvSpPr>
        <p:spPr>
          <a:xfrm rot="0">
            <a:off x="1204490" y="6324600"/>
            <a:ext cx="5322189" cy="2680869"/>
          </a:xfrm>
          <a:prstGeom prst="rect">
            <a:avLst/>
          </a:prstGeom>
        </p:spPr>
        <p:txBody>
          <a:bodyPr anchor="t" rtlCol="false" tIns="0" lIns="0" bIns="0" rIns="0">
            <a:spAutoFit/>
          </a:bodyPr>
          <a:lstStyle/>
          <a:p>
            <a:pPr algn="just">
              <a:lnSpc>
                <a:spcPts val="3279"/>
              </a:lnSpc>
            </a:pPr>
            <a:r>
              <a:rPr lang="en-US" sz="2376">
                <a:solidFill>
                  <a:srgbClr val="FFFFFF"/>
                </a:solidFill>
                <a:latin typeface="DM Sans"/>
                <a:ea typeface="DM Sans"/>
                <a:cs typeface="DM Sans"/>
                <a:sym typeface="DM Sans"/>
              </a:rPr>
              <a:t>EX:</a:t>
            </a:r>
          </a:p>
          <a:p>
            <a:pPr algn="just" marL="0" indent="0" lvl="1">
              <a:lnSpc>
                <a:spcPts val="3279"/>
              </a:lnSpc>
              <a:spcBef>
                <a:spcPct val="0"/>
              </a:spcBef>
            </a:pPr>
            <a:r>
              <a:rPr lang="en-US" sz="2376" strike="noStrike" u="none">
                <a:solidFill>
                  <a:srgbClr val="FFFFFF"/>
                </a:solidFill>
                <a:latin typeface="DM Sans"/>
                <a:ea typeface="DM Sans"/>
                <a:cs typeface="DM Sans"/>
                <a:sym typeface="DM Sans"/>
              </a:rPr>
              <a:t>Only full-time employees with more than 6 months of service are eligible for Annual Leave Plan.</a:t>
            </a:r>
          </a:p>
          <a:p>
            <a:pPr algn="just" marL="0" indent="0" lvl="1">
              <a:lnSpc>
                <a:spcPts val="4245"/>
              </a:lnSpc>
              <a:spcBef>
                <a:spcPct val="0"/>
              </a:spcBef>
            </a:pPr>
          </a:p>
          <a:p>
            <a:pPr algn="just" marL="0" indent="0" lvl="1">
              <a:lnSpc>
                <a:spcPts val="4245"/>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4" id="4"/>
          <p:cNvSpPr/>
          <p:nvPr/>
        </p:nvSpPr>
        <p:spPr>
          <a:xfrm flipH="false" flipV="false" rot="0">
            <a:off x="8059468" y="3786588"/>
            <a:ext cx="9223742" cy="5471712"/>
          </a:xfrm>
          <a:custGeom>
            <a:avLst/>
            <a:gdLst/>
            <a:ahLst/>
            <a:cxnLst/>
            <a:rect r="r" b="b" t="t" l="l"/>
            <a:pathLst>
              <a:path h="5471712" w="9223742">
                <a:moveTo>
                  <a:pt x="0" y="0"/>
                </a:moveTo>
                <a:lnTo>
                  <a:pt x="9223743" y="0"/>
                </a:lnTo>
                <a:lnTo>
                  <a:pt x="9223743" y="5471712"/>
                </a:lnTo>
                <a:lnTo>
                  <a:pt x="0" y="5471712"/>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17</a:t>
            </a:r>
          </a:p>
        </p:txBody>
      </p:sp>
      <p:sp>
        <p:nvSpPr>
          <p:cNvPr name="TextBox 6" id="6"/>
          <p:cNvSpPr txBox="true"/>
          <p:nvPr/>
        </p:nvSpPr>
        <p:spPr>
          <a:xfrm rot="0">
            <a:off x="750370" y="1028700"/>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CONFIGURE ABSENCE ELIGIBILITY:</a:t>
            </a:r>
          </a:p>
        </p:txBody>
      </p:sp>
      <p:sp>
        <p:nvSpPr>
          <p:cNvPr name="TextBox 7" id="7"/>
          <p:cNvSpPr txBox="true"/>
          <p:nvPr/>
        </p:nvSpPr>
        <p:spPr>
          <a:xfrm rot="0">
            <a:off x="1028700" y="2732244"/>
            <a:ext cx="14831169" cy="469926"/>
          </a:xfrm>
          <a:prstGeom prst="rect">
            <a:avLst/>
          </a:prstGeom>
        </p:spPr>
        <p:txBody>
          <a:bodyPr anchor="t" rtlCol="false" tIns="0" lIns="0" bIns="0" rIns="0">
            <a:spAutoFit/>
          </a:bodyPr>
          <a:lstStyle/>
          <a:p>
            <a:pPr algn="just">
              <a:lnSpc>
                <a:spcPts val="3831"/>
              </a:lnSpc>
              <a:spcBef>
                <a:spcPct val="0"/>
              </a:spcBef>
            </a:pPr>
            <a:r>
              <a:rPr lang="en-US" sz="2776" strike="noStrike" u="none">
                <a:solidFill>
                  <a:srgbClr val="FFFFFF"/>
                </a:solidFill>
                <a:latin typeface="DM Sans"/>
                <a:ea typeface="DM Sans"/>
                <a:cs typeface="DM Sans"/>
                <a:sym typeface="DM Sans"/>
              </a:rPr>
              <a:t>Assign absence plans to employees based on their role, tenure, and employment contract. </a:t>
            </a:r>
          </a:p>
        </p:txBody>
      </p:sp>
      <p:sp>
        <p:nvSpPr>
          <p:cNvPr name="TextBox 8" id="8"/>
          <p:cNvSpPr txBox="true"/>
          <p:nvPr/>
        </p:nvSpPr>
        <p:spPr>
          <a:xfrm rot="0">
            <a:off x="750370" y="4641837"/>
            <a:ext cx="6376392" cy="955701"/>
          </a:xfrm>
          <a:prstGeom prst="rect">
            <a:avLst/>
          </a:prstGeom>
        </p:spPr>
        <p:txBody>
          <a:bodyPr anchor="t" rtlCol="false" tIns="0" lIns="0" bIns="0" rIns="0">
            <a:spAutoFit/>
          </a:bodyPr>
          <a:lstStyle/>
          <a:p>
            <a:pPr algn="just">
              <a:lnSpc>
                <a:spcPts val="3831"/>
              </a:lnSpc>
            </a:pPr>
            <a:r>
              <a:rPr lang="en-US" sz="2776" strike="noStrike" u="none">
                <a:solidFill>
                  <a:srgbClr val="FFFFFF"/>
                </a:solidFill>
                <a:latin typeface="DM Sans"/>
                <a:ea typeface="DM Sans"/>
                <a:cs typeface="DM Sans"/>
                <a:sym typeface="DM Sans"/>
              </a:rPr>
              <a:t>assigment → entries →</a:t>
            </a:r>
            <a:r>
              <a:rPr lang="en-US" sz="2776" strike="noStrike" u="none">
                <a:solidFill>
                  <a:srgbClr val="FFFFFF"/>
                </a:solidFill>
                <a:latin typeface="DM Sans"/>
                <a:ea typeface="DM Sans"/>
                <a:cs typeface="DM Sans"/>
                <a:sym typeface="DM Sans"/>
              </a:rPr>
              <a:t> adding accrual </a:t>
            </a:r>
          </a:p>
          <a:p>
            <a:pPr algn="just">
              <a:lnSpc>
                <a:spcPts val="3831"/>
              </a:lnSpc>
            </a:pPr>
            <a:r>
              <a:rPr lang="en-US" sz="2776" strike="noStrike" u="none">
                <a:solidFill>
                  <a:srgbClr val="FFFFFF"/>
                </a:solidFill>
                <a:latin typeface="DM Sans"/>
                <a:ea typeface="DM Sans"/>
                <a:cs typeface="DM Sans"/>
                <a:sym typeface="DM Sans"/>
              </a:rPr>
              <a:t>plan element</a:t>
            </a:r>
            <a:r>
              <a:rPr lang="en-US" sz="2776" strike="noStrike" u="none">
                <a:solidFill>
                  <a:srgbClr val="FFFFFF"/>
                </a:solidFill>
                <a:latin typeface="DM Sans"/>
                <a:ea typeface="DM Sans"/>
                <a:cs typeface="DM Sans"/>
                <a:sym typeface="DM Sans"/>
              </a:rPr>
              <a: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411699"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18</a:t>
            </a:r>
          </a:p>
        </p:txBody>
      </p:sp>
      <p:sp>
        <p:nvSpPr>
          <p:cNvPr name="TextBox 5" id="5"/>
          <p:cNvSpPr txBox="true"/>
          <p:nvPr/>
        </p:nvSpPr>
        <p:spPr>
          <a:xfrm rot="0">
            <a:off x="472235" y="1674607"/>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SET UP APPROVAL WORKFLOW:</a:t>
            </a:r>
          </a:p>
        </p:txBody>
      </p:sp>
      <p:sp>
        <p:nvSpPr>
          <p:cNvPr name="TextBox 6" id="6"/>
          <p:cNvSpPr txBox="true"/>
          <p:nvPr/>
        </p:nvSpPr>
        <p:spPr>
          <a:xfrm rot="0">
            <a:off x="1969875" y="3441203"/>
            <a:ext cx="9785527" cy="2947394"/>
          </a:xfrm>
          <a:prstGeom prst="rect">
            <a:avLst/>
          </a:prstGeom>
        </p:spPr>
        <p:txBody>
          <a:bodyPr anchor="t" rtlCol="false" tIns="0" lIns="0" bIns="0" rIns="0">
            <a:spAutoFit/>
          </a:bodyPr>
          <a:lstStyle/>
          <a:p>
            <a:pPr algn="just" marL="616399" indent="-308200" lvl="1">
              <a:lnSpc>
                <a:spcPts val="3939"/>
              </a:lnSpc>
              <a:buFont typeface="Arial"/>
              <a:buChar char="•"/>
            </a:pPr>
            <a:r>
              <a:rPr lang="en-US" sz="2855" strike="noStrike" u="none">
                <a:solidFill>
                  <a:srgbClr val="FFFFFF"/>
                </a:solidFill>
                <a:latin typeface="DM Sans"/>
                <a:ea typeface="DM Sans"/>
                <a:cs typeface="DM Sans"/>
                <a:sym typeface="DM Sans"/>
              </a:rPr>
              <a:t>Employee submits leave request via self-service.</a:t>
            </a:r>
          </a:p>
          <a:p>
            <a:pPr algn="just" marL="616399" indent="-308200" lvl="1">
              <a:lnSpc>
                <a:spcPts val="3939"/>
              </a:lnSpc>
              <a:buFont typeface="Arial"/>
              <a:buChar char="•"/>
            </a:pPr>
            <a:r>
              <a:rPr lang="en-US" sz="2855" strike="noStrike" u="none">
                <a:solidFill>
                  <a:srgbClr val="FFFFFF"/>
                </a:solidFill>
                <a:latin typeface="DM Sans"/>
                <a:ea typeface="DM Sans"/>
                <a:cs typeface="DM Sans"/>
                <a:sym typeface="DM Sans"/>
              </a:rPr>
              <a:t>Request is routed to the manager or supervisor </a:t>
            </a:r>
          </a:p>
          <a:p>
            <a:pPr algn="just">
              <a:lnSpc>
                <a:spcPts val="3939"/>
              </a:lnSpc>
            </a:pPr>
            <a:r>
              <a:rPr lang="en-US" sz="2855" strike="noStrike" u="none">
                <a:solidFill>
                  <a:srgbClr val="FFFFFF"/>
                </a:solidFill>
                <a:latin typeface="DM Sans"/>
                <a:ea typeface="DM Sans"/>
                <a:cs typeface="DM Sans"/>
                <a:sym typeface="DM Sans"/>
              </a:rPr>
              <a:t>    for approval.</a:t>
            </a:r>
          </a:p>
          <a:p>
            <a:pPr algn="just" marL="616399" indent="-308200" lvl="1">
              <a:lnSpc>
                <a:spcPts val="3939"/>
              </a:lnSpc>
              <a:buFont typeface="Arial"/>
              <a:buChar char="•"/>
            </a:pPr>
            <a:r>
              <a:rPr lang="en-US" sz="2855" strike="noStrike" u="none">
                <a:solidFill>
                  <a:srgbClr val="FFFFFF"/>
                </a:solidFill>
                <a:latin typeface="DM Sans"/>
                <a:ea typeface="DM Sans"/>
                <a:cs typeface="DM Sans"/>
                <a:sym typeface="DM Sans"/>
              </a:rPr>
              <a:t>Upon approval, the absence is recorded in the system </a:t>
            </a:r>
          </a:p>
          <a:p>
            <a:pPr algn="just">
              <a:lnSpc>
                <a:spcPts val="3939"/>
              </a:lnSpc>
            </a:pPr>
            <a:r>
              <a:rPr lang="en-US" sz="2855" strike="noStrike" u="none">
                <a:solidFill>
                  <a:srgbClr val="FFFFFF"/>
                </a:solidFill>
                <a:latin typeface="DM Sans"/>
                <a:ea typeface="DM Sans"/>
                <a:cs typeface="DM Sans"/>
                <a:sym typeface="DM Sans"/>
              </a:rPr>
              <a:t>    and updated in the absence screen.</a:t>
            </a:r>
          </a:p>
          <a:p>
            <a:pPr algn="just">
              <a:lnSpc>
                <a:spcPts val="3939"/>
              </a:lnSpc>
            </a:pPr>
          </a:p>
        </p:txBody>
      </p:sp>
      <p:sp>
        <p:nvSpPr>
          <p:cNvPr name="TextBox 7" id="7"/>
          <p:cNvSpPr txBox="true"/>
          <p:nvPr/>
        </p:nvSpPr>
        <p:spPr>
          <a:xfrm rot="0">
            <a:off x="9139238" y="4938712"/>
            <a:ext cx="9525" cy="409575"/>
          </a:xfrm>
          <a:prstGeom prst="rect">
            <a:avLst/>
          </a:prstGeom>
        </p:spPr>
        <p:txBody>
          <a:bodyPr anchor="t" rtlCol="false" tIns="0" lIns="0" bIns="0" rIns="0">
            <a:spAutoFit/>
          </a:bodyPr>
          <a:lstStyle/>
          <a:p>
            <a:pPr algn="ctr">
              <a:lnSpc>
                <a:spcPts val="3265"/>
              </a:lnSpc>
              <a:spcBef>
                <a:spcPct val="0"/>
              </a:spcBef>
            </a:pPr>
          </a:p>
        </p:txBody>
      </p:sp>
      <p:sp>
        <p:nvSpPr>
          <p:cNvPr name="TextBox 8" id="8"/>
          <p:cNvSpPr txBox="true"/>
          <p:nvPr/>
        </p:nvSpPr>
        <p:spPr>
          <a:xfrm rot="0">
            <a:off x="1676546" y="7022473"/>
            <a:ext cx="14240162" cy="1294311"/>
          </a:xfrm>
          <a:prstGeom prst="rect">
            <a:avLst/>
          </a:prstGeom>
        </p:spPr>
        <p:txBody>
          <a:bodyPr anchor="t" rtlCol="false" tIns="0" lIns="0" bIns="0" rIns="0">
            <a:spAutoFit/>
          </a:bodyPr>
          <a:lstStyle/>
          <a:p>
            <a:pPr algn="just" marL="545923" indent="-272961" lvl="1">
              <a:lnSpc>
                <a:spcPts val="3489"/>
              </a:lnSpc>
              <a:spcBef>
                <a:spcPct val="0"/>
              </a:spcBef>
              <a:buFont typeface="Arial"/>
              <a:buChar char="•"/>
            </a:pPr>
            <a:r>
              <a:rPr lang="en-US" sz="2528">
                <a:solidFill>
                  <a:srgbClr val="FFFFFF"/>
                </a:solidFill>
                <a:latin typeface="DM Sans"/>
                <a:ea typeface="DM Sans"/>
                <a:cs typeface="DM Sans"/>
                <a:sym typeface="DM Sans"/>
              </a:rPr>
              <a:t>-</a:t>
            </a:r>
            <a:r>
              <a:rPr lang="en-US" sz="2528" strike="noStrike" u="none">
                <a:solidFill>
                  <a:srgbClr val="FFFFFF"/>
                </a:solidFill>
                <a:latin typeface="DM Sans"/>
                <a:ea typeface="DM Sans"/>
                <a:cs typeface="DM Sans"/>
                <a:sym typeface="DM Sans"/>
              </a:rPr>
              <a:t> Sick Leave — requires additional approval steps. In these cases, the request is not approved by the supervisor alone; it also needs HR review and approval before it appears in the Absence Management screen and need attachements.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483253" y="9559925"/>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411699"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14" id="14"/>
          <p:cNvSpPr/>
          <p:nvPr/>
        </p:nvSpPr>
        <p:spPr>
          <a:xfrm flipH="false" flipV="false" rot="0">
            <a:off x="7415072" y="2036453"/>
            <a:ext cx="9666405" cy="6524823"/>
          </a:xfrm>
          <a:custGeom>
            <a:avLst/>
            <a:gdLst/>
            <a:ahLst/>
            <a:cxnLst/>
            <a:rect r="r" b="b" t="t" l="l"/>
            <a:pathLst>
              <a:path h="6524823" w="9666405">
                <a:moveTo>
                  <a:pt x="0" y="0"/>
                </a:moveTo>
                <a:lnTo>
                  <a:pt x="9666405" y="0"/>
                </a:lnTo>
                <a:lnTo>
                  <a:pt x="9666405" y="6524823"/>
                </a:lnTo>
                <a:lnTo>
                  <a:pt x="0" y="6524823"/>
                </a:lnTo>
                <a:lnTo>
                  <a:pt x="0" y="0"/>
                </a:lnTo>
                <a:close/>
              </a:path>
            </a:pathLst>
          </a:custGeom>
          <a:blipFill>
            <a:blip r:embed="rId5"/>
            <a:stretch>
              <a:fillRect l="0" t="0" r="0" b="0"/>
            </a:stretch>
          </a:blipFill>
        </p:spPr>
      </p:sp>
      <p:sp>
        <p:nvSpPr>
          <p:cNvPr name="TextBox 15" id="15"/>
          <p:cNvSpPr txBox="true"/>
          <p:nvPr/>
        </p:nvSpPr>
        <p:spPr>
          <a:xfrm rot="0">
            <a:off x="447981" y="106826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SET UP APPROVAL WORKFLOW</a:t>
            </a:r>
          </a:p>
        </p:txBody>
      </p:sp>
      <p:sp>
        <p:nvSpPr>
          <p:cNvPr name="TextBox 16" id="16"/>
          <p:cNvSpPr txBox="true"/>
          <p:nvPr/>
        </p:nvSpPr>
        <p:spPr>
          <a:xfrm rot="0">
            <a:off x="725817" y="3147214"/>
            <a:ext cx="7149595" cy="2458365"/>
          </a:xfrm>
          <a:prstGeom prst="rect">
            <a:avLst/>
          </a:prstGeom>
        </p:spPr>
        <p:txBody>
          <a:bodyPr anchor="t" rtlCol="false" tIns="0" lIns="0" bIns="0" rIns="0">
            <a:spAutoFit/>
          </a:bodyPr>
          <a:lstStyle/>
          <a:p>
            <a:pPr algn="just">
              <a:lnSpc>
                <a:spcPts val="3969"/>
              </a:lnSpc>
            </a:pPr>
            <a:r>
              <a:rPr lang="en-US" sz="2876">
                <a:solidFill>
                  <a:srgbClr val="FFFFFF"/>
                </a:solidFill>
                <a:latin typeface="DM Sans"/>
                <a:ea typeface="DM Sans"/>
                <a:cs typeface="DM Sans"/>
                <a:sym typeface="DM Sans"/>
              </a:rPr>
              <a:t>To set approval workflow:</a:t>
            </a:r>
          </a:p>
          <a:p>
            <a:pPr algn="just">
              <a:lnSpc>
                <a:spcPts val="3969"/>
              </a:lnSpc>
            </a:pPr>
          </a:p>
          <a:p>
            <a:pPr algn="just">
              <a:lnSpc>
                <a:spcPts val="3969"/>
              </a:lnSpc>
              <a:spcBef>
                <a:spcPct val="0"/>
              </a:spcBef>
            </a:pPr>
            <a:r>
              <a:rPr lang="en-US" sz="2876">
                <a:solidFill>
                  <a:srgbClr val="FFFFFF"/>
                </a:solidFill>
                <a:latin typeface="DM Sans"/>
                <a:ea typeface="DM Sans"/>
                <a:cs typeface="DM Sans"/>
                <a:sym typeface="DM Sans"/>
              </a:rPr>
              <a:t>First step:</a:t>
            </a:r>
          </a:p>
          <a:p>
            <a:pPr algn="just">
              <a:lnSpc>
                <a:spcPts val="3969"/>
              </a:lnSpc>
              <a:spcBef>
                <a:spcPct val="0"/>
              </a:spcBef>
            </a:pPr>
          </a:p>
          <a:p>
            <a:pPr algn="just">
              <a:lnSpc>
                <a:spcPts val="3969"/>
              </a:lnSpc>
              <a:spcBef>
                <a:spcPct val="0"/>
              </a:spcBef>
            </a:pP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19</a:t>
            </a:r>
          </a:p>
        </p:txBody>
      </p:sp>
      <p:sp>
        <p:nvSpPr>
          <p:cNvPr name="TextBox 18" id="18"/>
          <p:cNvSpPr txBox="true"/>
          <p:nvPr/>
        </p:nvSpPr>
        <p:spPr>
          <a:xfrm rot="0">
            <a:off x="1028700" y="5307171"/>
            <a:ext cx="5565198" cy="1963065"/>
          </a:xfrm>
          <a:prstGeom prst="rect">
            <a:avLst/>
          </a:prstGeom>
        </p:spPr>
        <p:txBody>
          <a:bodyPr anchor="t" rtlCol="false" tIns="0" lIns="0" bIns="0" rIns="0">
            <a:spAutoFit/>
          </a:bodyPr>
          <a:lstStyle/>
          <a:p>
            <a:pPr algn="just" marL="621065" indent="-310532" lvl="1">
              <a:lnSpc>
                <a:spcPts val="3969"/>
              </a:lnSpc>
              <a:buFont typeface="Arial"/>
              <a:buChar char="•"/>
            </a:pPr>
            <a:r>
              <a:rPr lang="en-US" sz="2876" strike="noStrike" u="none">
                <a:solidFill>
                  <a:srgbClr val="FFFFFF"/>
                </a:solidFill>
                <a:latin typeface="DM Sans"/>
                <a:ea typeface="DM Sans"/>
                <a:cs typeface="DM Sans"/>
                <a:sym typeface="DM Sans"/>
              </a:rPr>
              <a:t>assigment</a:t>
            </a:r>
            <a:r>
              <a:rPr lang="en-US" sz="2876" strike="noStrike" u="none">
                <a:solidFill>
                  <a:srgbClr val="FFFFFF"/>
                </a:solidFill>
                <a:latin typeface="DM Sans"/>
                <a:ea typeface="DM Sans"/>
                <a:cs typeface="DM Sans"/>
                <a:sym typeface="DM Sans"/>
              </a:rPr>
              <a:t> </a:t>
            </a:r>
            <a:r>
              <a:rPr lang="en-US" sz="2876" strike="noStrike" u="none">
                <a:solidFill>
                  <a:srgbClr val="FFFFFF"/>
                </a:solidFill>
                <a:latin typeface="DM Sans"/>
                <a:ea typeface="DM Sans"/>
                <a:cs typeface="DM Sans"/>
                <a:sym typeface="DM Sans"/>
              </a:rPr>
              <a:t>→ supervisor</a:t>
            </a:r>
          </a:p>
          <a:p>
            <a:pPr algn="just">
              <a:lnSpc>
                <a:spcPts val="3969"/>
              </a:lnSpc>
            </a:pPr>
          </a:p>
          <a:p>
            <a:pPr algn="just">
              <a:lnSpc>
                <a:spcPts val="3969"/>
              </a:lnSpc>
            </a:pPr>
            <a:r>
              <a:rPr lang="en-US" sz="2876" strike="noStrike" u="none">
                <a:solidFill>
                  <a:srgbClr val="FFFFFF"/>
                </a:solidFill>
                <a:latin typeface="DM Sans"/>
                <a:ea typeface="DM Sans"/>
                <a:cs typeface="DM Sans"/>
                <a:sym typeface="DM Sans"/>
              </a:rPr>
              <a:t>then fill the name and worker number.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411699"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4" id="4"/>
          <p:cNvSpPr/>
          <p:nvPr/>
        </p:nvSpPr>
        <p:spPr>
          <a:xfrm flipH="false" flipV="false" rot="0">
            <a:off x="5771785" y="3701977"/>
            <a:ext cx="11301259" cy="5707136"/>
          </a:xfrm>
          <a:custGeom>
            <a:avLst/>
            <a:gdLst/>
            <a:ahLst/>
            <a:cxnLst/>
            <a:rect r="r" b="b" t="t" l="l"/>
            <a:pathLst>
              <a:path h="5707136" w="11301259">
                <a:moveTo>
                  <a:pt x="0" y="0"/>
                </a:moveTo>
                <a:lnTo>
                  <a:pt x="11301259" y="0"/>
                </a:lnTo>
                <a:lnTo>
                  <a:pt x="11301259" y="5707135"/>
                </a:lnTo>
                <a:lnTo>
                  <a:pt x="0" y="5707135"/>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20</a:t>
            </a:r>
          </a:p>
        </p:txBody>
      </p:sp>
      <p:sp>
        <p:nvSpPr>
          <p:cNvPr name="TextBox 6" id="6"/>
          <p:cNvSpPr txBox="true"/>
          <p:nvPr/>
        </p:nvSpPr>
        <p:spPr>
          <a:xfrm rot="0">
            <a:off x="447981" y="106826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SET UP APPROVAL WORKFLOW</a:t>
            </a:r>
          </a:p>
        </p:txBody>
      </p:sp>
      <p:sp>
        <p:nvSpPr>
          <p:cNvPr name="TextBox 7" id="7"/>
          <p:cNvSpPr txBox="true"/>
          <p:nvPr/>
        </p:nvSpPr>
        <p:spPr>
          <a:xfrm rot="0">
            <a:off x="-231496" y="5095875"/>
            <a:ext cx="6321061" cy="1276884"/>
          </a:xfrm>
          <a:prstGeom prst="rect">
            <a:avLst/>
          </a:prstGeom>
        </p:spPr>
        <p:txBody>
          <a:bodyPr anchor="t" rtlCol="false" tIns="0" lIns="0" bIns="0" rIns="0">
            <a:spAutoFit/>
          </a:bodyPr>
          <a:lstStyle/>
          <a:p>
            <a:pPr algn="ctr">
              <a:lnSpc>
                <a:spcPts val="3417"/>
              </a:lnSpc>
            </a:pPr>
            <a:r>
              <a:rPr lang="en-US" sz="2476">
                <a:solidFill>
                  <a:srgbClr val="FFFFFF"/>
                </a:solidFill>
                <a:latin typeface="DM Sans"/>
                <a:ea typeface="DM Sans"/>
                <a:cs typeface="DM Sans"/>
                <a:sym typeface="DM Sans"/>
              </a:rPr>
              <a:t>employee self service → absence mangement → create absence</a:t>
            </a:r>
          </a:p>
          <a:p>
            <a:pPr algn="ctr">
              <a:lnSpc>
                <a:spcPts val="3417"/>
              </a:lnSpc>
            </a:pPr>
          </a:p>
        </p:txBody>
      </p:sp>
      <p:sp>
        <p:nvSpPr>
          <p:cNvPr name="TextBox 8" id="8"/>
          <p:cNvSpPr txBox="true"/>
          <p:nvPr/>
        </p:nvSpPr>
        <p:spPr>
          <a:xfrm rot="0">
            <a:off x="627984" y="2894433"/>
            <a:ext cx="13583394" cy="419634"/>
          </a:xfrm>
          <a:prstGeom prst="rect">
            <a:avLst/>
          </a:prstGeom>
        </p:spPr>
        <p:txBody>
          <a:bodyPr anchor="t" rtlCol="false" tIns="0" lIns="0" bIns="0" rIns="0">
            <a:spAutoFit/>
          </a:bodyPr>
          <a:lstStyle/>
          <a:p>
            <a:pPr algn="ctr" marL="0" indent="0" lvl="1">
              <a:lnSpc>
                <a:spcPts val="3417"/>
              </a:lnSpc>
              <a:spcBef>
                <a:spcPct val="0"/>
              </a:spcBef>
            </a:pPr>
            <a:r>
              <a:rPr lang="en-US" sz="2476" strike="noStrike" u="none">
                <a:solidFill>
                  <a:srgbClr val="FFFFFF"/>
                </a:solidFill>
                <a:latin typeface="DM Sans"/>
                <a:ea typeface="DM Sans"/>
                <a:cs typeface="DM Sans"/>
                <a:sym typeface="DM Sans"/>
              </a:rPr>
              <a:t>The employee logs into Employee Self‑Service and submits a request for the desired absence.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2453" t="0" r="-92453" b="0"/>
            </a:stretch>
          </a:blipFill>
        </p:spPr>
      </p:sp>
      <p:sp>
        <p:nvSpPr>
          <p:cNvPr name="Freeform 3" id="3"/>
          <p:cNvSpPr/>
          <p:nvPr/>
        </p:nvSpPr>
        <p:spPr>
          <a:xfrm flipH="false" flipV="false" rot="6150721">
            <a:off x="6411699"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sp>
        <p:nvSpPr>
          <p:cNvPr name="Freeform 4" id="4"/>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sp>
        <p:nvSpPr>
          <p:cNvPr name="Freeform 5" id="5"/>
          <p:cNvSpPr/>
          <p:nvPr/>
        </p:nvSpPr>
        <p:spPr>
          <a:xfrm flipH="false" flipV="false" rot="0">
            <a:off x="7133836" y="2304859"/>
            <a:ext cx="10562658" cy="5347346"/>
          </a:xfrm>
          <a:custGeom>
            <a:avLst/>
            <a:gdLst/>
            <a:ahLst/>
            <a:cxnLst/>
            <a:rect r="r" b="b" t="t" l="l"/>
            <a:pathLst>
              <a:path h="5347346" w="10562658">
                <a:moveTo>
                  <a:pt x="0" y="0"/>
                </a:moveTo>
                <a:lnTo>
                  <a:pt x="10562658" y="0"/>
                </a:lnTo>
                <a:lnTo>
                  <a:pt x="10562658" y="5347346"/>
                </a:lnTo>
                <a:lnTo>
                  <a:pt x="0" y="5347346"/>
                </a:lnTo>
                <a:lnTo>
                  <a:pt x="0" y="0"/>
                </a:lnTo>
                <a:close/>
              </a:path>
            </a:pathLst>
          </a:custGeom>
          <a:blipFill>
            <a:blip r:embed="rId4"/>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21</a:t>
            </a:r>
          </a:p>
        </p:txBody>
      </p:sp>
      <p:sp>
        <p:nvSpPr>
          <p:cNvPr name="TextBox 7" id="7"/>
          <p:cNvSpPr txBox="true"/>
          <p:nvPr/>
        </p:nvSpPr>
        <p:spPr>
          <a:xfrm rot="0">
            <a:off x="447981" y="106826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SET UP APPROVAL WORKFLOW</a:t>
            </a:r>
          </a:p>
        </p:txBody>
      </p:sp>
      <p:sp>
        <p:nvSpPr>
          <p:cNvPr name="TextBox 8" id="8"/>
          <p:cNvSpPr txBox="true"/>
          <p:nvPr/>
        </p:nvSpPr>
        <p:spPr>
          <a:xfrm rot="0">
            <a:off x="694312" y="3963591"/>
            <a:ext cx="5641584" cy="2991384"/>
          </a:xfrm>
          <a:prstGeom prst="rect">
            <a:avLst/>
          </a:prstGeom>
        </p:spPr>
        <p:txBody>
          <a:bodyPr anchor="t" rtlCol="false" tIns="0" lIns="0" bIns="0" rIns="0">
            <a:spAutoFit/>
          </a:bodyPr>
          <a:lstStyle/>
          <a:p>
            <a:pPr algn="ctr">
              <a:lnSpc>
                <a:spcPts val="3417"/>
              </a:lnSpc>
            </a:pPr>
            <a:r>
              <a:rPr lang="en-US" sz="2476">
                <a:solidFill>
                  <a:srgbClr val="FFFFFF"/>
                </a:solidFill>
                <a:latin typeface="DM Sans"/>
                <a:ea typeface="DM Sans"/>
                <a:cs typeface="DM Sans"/>
                <a:sym typeface="DM Sans"/>
              </a:rPr>
              <a:t>manager self service → all actions awaiting your attention</a:t>
            </a:r>
          </a:p>
          <a:p>
            <a:pPr algn="ctr">
              <a:lnSpc>
                <a:spcPts val="3417"/>
              </a:lnSpc>
            </a:pPr>
          </a:p>
          <a:p>
            <a:pPr algn="ctr">
              <a:lnSpc>
                <a:spcPts val="3417"/>
              </a:lnSpc>
            </a:pPr>
            <a:r>
              <a:rPr lang="en-US" sz="2476">
                <a:solidFill>
                  <a:srgbClr val="FFFFFF"/>
                </a:solidFill>
                <a:latin typeface="DM Sans"/>
                <a:ea typeface="DM Sans"/>
                <a:cs typeface="DM Sans"/>
                <a:sym typeface="DM Sans"/>
              </a:rPr>
              <a:t>or</a:t>
            </a:r>
          </a:p>
          <a:p>
            <a:pPr algn="ctr">
              <a:lnSpc>
                <a:spcPts val="3417"/>
              </a:lnSpc>
            </a:pPr>
          </a:p>
          <a:p>
            <a:pPr algn="ctr">
              <a:lnSpc>
                <a:spcPts val="3417"/>
              </a:lnSpc>
              <a:spcBef>
                <a:spcPct val="0"/>
              </a:spcBef>
            </a:pPr>
            <a:r>
              <a:rPr lang="en-US" sz="2476">
                <a:solidFill>
                  <a:srgbClr val="FFFFFF"/>
                </a:solidFill>
                <a:latin typeface="DM Sans"/>
                <a:ea typeface="DM Sans"/>
                <a:cs typeface="DM Sans"/>
                <a:sym typeface="DM Sans"/>
              </a:rPr>
              <a:t>absence management → choose the employee from action button</a:t>
            </a:r>
          </a:p>
        </p:txBody>
      </p:sp>
      <p:sp>
        <p:nvSpPr>
          <p:cNvPr name="TextBox 9" id="9"/>
          <p:cNvSpPr txBox="true"/>
          <p:nvPr/>
        </p:nvSpPr>
        <p:spPr>
          <a:xfrm rot="0">
            <a:off x="447981" y="2715283"/>
            <a:ext cx="6260269" cy="848259"/>
          </a:xfrm>
          <a:prstGeom prst="rect">
            <a:avLst/>
          </a:prstGeom>
        </p:spPr>
        <p:txBody>
          <a:bodyPr anchor="t" rtlCol="false" tIns="0" lIns="0" bIns="0" rIns="0">
            <a:spAutoFit/>
          </a:bodyPr>
          <a:lstStyle/>
          <a:p>
            <a:pPr algn="ctr">
              <a:lnSpc>
                <a:spcPts val="3417"/>
              </a:lnSpc>
              <a:spcBef>
                <a:spcPct val="0"/>
              </a:spcBef>
            </a:pPr>
            <a:r>
              <a:rPr lang="en-US" sz="2476">
                <a:solidFill>
                  <a:srgbClr val="FFFFFF"/>
                </a:solidFill>
                <a:latin typeface="DM Sans"/>
                <a:ea typeface="DM Sans"/>
                <a:cs typeface="DM Sans"/>
                <a:sym typeface="DM Sans"/>
              </a:rPr>
              <a:t>The</a:t>
            </a:r>
            <a:r>
              <a:rPr lang="en-US" sz="2476">
                <a:solidFill>
                  <a:srgbClr val="FFFFFF"/>
                </a:solidFill>
                <a:latin typeface="DM Sans"/>
                <a:ea typeface="DM Sans"/>
                <a:cs typeface="DM Sans"/>
                <a:sym typeface="DM Sans"/>
              </a:rPr>
              <a:t> manager approves or declines the absence request:</a:t>
            </a:r>
          </a:p>
        </p:txBody>
      </p:sp>
      <p:sp>
        <p:nvSpPr>
          <p:cNvPr name="TextBox 10" id="10"/>
          <p:cNvSpPr txBox="true"/>
          <p:nvPr/>
        </p:nvSpPr>
        <p:spPr>
          <a:xfrm rot="0">
            <a:off x="694312" y="8052255"/>
            <a:ext cx="15533568" cy="848259"/>
          </a:xfrm>
          <a:prstGeom prst="rect">
            <a:avLst/>
          </a:prstGeom>
        </p:spPr>
        <p:txBody>
          <a:bodyPr anchor="t" rtlCol="false" tIns="0" lIns="0" bIns="0" rIns="0">
            <a:spAutoFit/>
          </a:bodyPr>
          <a:lstStyle/>
          <a:p>
            <a:pPr algn="l" marL="0" indent="0" lvl="0">
              <a:lnSpc>
                <a:spcPts val="3417"/>
              </a:lnSpc>
              <a:spcBef>
                <a:spcPct val="0"/>
              </a:spcBef>
            </a:pPr>
            <a:r>
              <a:rPr lang="en-US" sz="2476" strike="noStrike" u="none">
                <a:solidFill>
                  <a:srgbClr val="FFFFFF"/>
                </a:solidFill>
                <a:latin typeface="DM Sans"/>
                <a:ea typeface="DM Sans"/>
                <a:cs typeface="DM Sans"/>
                <a:sym typeface="DM Sans"/>
              </a:rPr>
              <a:t>Note: A manager can also create an absence for themselves in Absence Management by selecting their own name in the Action button.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411699"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2"/>
            <a:stretch>
              <a:fillRect l="0" t="-137172" r="0" b="0"/>
            </a:stretch>
          </a:blipFill>
        </p:spPr>
      </p:sp>
      <p:sp>
        <p:nvSpPr>
          <p:cNvPr name="Freeform 4" id="4"/>
          <p:cNvSpPr/>
          <p:nvPr/>
        </p:nvSpPr>
        <p:spPr>
          <a:xfrm flipH="false" flipV="false" rot="0">
            <a:off x="4652343" y="2020521"/>
            <a:ext cx="8531756" cy="5752907"/>
          </a:xfrm>
          <a:custGeom>
            <a:avLst/>
            <a:gdLst/>
            <a:ahLst/>
            <a:cxnLst/>
            <a:rect r="r" b="b" t="t" l="l"/>
            <a:pathLst>
              <a:path h="5752907" w="8531756">
                <a:moveTo>
                  <a:pt x="0" y="0"/>
                </a:moveTo>
                <a:lnTo>
                  <a:pt x="8531756" y="0"/>
                </a:lnTo>
                <a:lnTo>
                  <a:pt x="8531756" y="5752907"/>
                </a:lnTo>
                <a:lnTo>
                  <a:pt x="0" y="5752907"/>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22</a:t>
            </a:r>
          </a:p>
        </p:txBody>
      </p:sp>
      <p:sp>
        <p:nvSpPr>
          <p:cNvPr name="TextBox 6" id="6"/>
          <p:cNvSpPr txBox="true"/>
          <p:nvPr/>
        </p:nvSpPr>
        <p:spPr>
          <a:xfrm rot="0">
            <a:off x="666030" y="619125"/>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ABSENCE TYPE AND POLICY CONFIGURATION:</a:t>
            </a:r>
          </a:p>
          <a:p>
            <a:pPr algn="l" marL="0" indent="0" lvl="0">
              <a:lnSpc>
                <a:spcPts val="3265"/>
              </a:lnSpc>
              <a:spcBef>
                <a:spcPct val="0"/>
              </a:spcBef>
            </a:pPr>
            <a:r>
              <a:rPr lang="en-US" b="true" sz="2721">
                <a:solidFill>
                  <a:srgbClr val="FFFFFF"/>
                </a:solidFill>
                <a:latin typeface="Now Bold"/>
                <a:ea typeface="Now Bold"/>
                <a:cs typeface="Now Bold"/>
                <a:sym typeface="Now Bold"/>
              </a:rPr>
              <a:t>SET UP APPROVAL WORKFLOW</a:t>
            </a:r>
          </a:p>
        </p:txBody>
      </p:sp>
      <p:sp>
        <p:nvSpPr>
          <p:cNvPr name="TextBox 7" id="7"/>
          <p:cNvSpPr txBox="true"/>
          <p:nvPr/>
        </p:nvSpPr>
        <p:spPr>
          <a:xfrm rot="0">
            <a:off x="1540372" y="8308048"/>
            <a:ext cx="13661493" cy="955701"/>
          </a:xfrm>
          <a:prstGeom prst="rect">
            <a:avLst/>
          </a:prstGeom>
        </p:spPr>
        <p:txBody>
          <a:bodyPr anchor="t" rtlCol="false" tIns="0" lIns="0" bIns="0" rIns="0">
            <a:spAutoFit/>
          </a:bodyPr>
          <a:lstStyle/>
          <a:p>
            <a:pPr algn="ctr" marL="0" indent="0" lvl="0">
              <a:lnSpc>
                <a:spcPts val="3831"/>
              </a:lnSpc>
              <a:spcBef>
                <a:spcPct val="0"/>
              </a:spcBef>
            </a:pPr>
            <a:r>
              <a:rPr lang="en-US" sz="2776" strike="noStrike" u="none">
                <a:solidFill>
                  <a:srgbClr val="FFFFFF"/>
                </a:solidFill>
                <a:latin typeface="DM Sans"/>
                <a:ea typeface="DM Sans"/>
                <a:cs typeface="DM Sans"/>
                <a:sym typeface="DM Sans"/>
              </a:rPr>
              <a:t> HR can manually create an absence request in an employee’s profile by completing the details on the Absence Details page.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2622339" y="7919689"/>
            <a:ext cx="6452848" cy="5596379"/>
          </a:xfrm>
          <a:custGeom>
            <a:avLst/>
            <a:gdLst/>
            <a:ahLst/>
            <a:cxnLst/>
            <a:rect r="r" b="b" t="t" l="l"/>
            <a:pathLst>
              <a:path h="5596379" w="6452848">
                <a:moveTo>
                  <a:pt x="0" y="0"/>
                </a:moveTo>
                <a:lnTo>
                  <a:pt x="6452849" y="0"/>
                </a:lnTo>
                <a:lnTo>
                  <a:pt x="6452849" y="5596379"/>
                </a:lnTo>
                <a:lnTo>
                  <a:pt x="0" y="5596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3367400" y="-2798190"/>
            <a:ext cx="6452848" cy="5596379"/>
          </a:xfrm>
          <a:custGeom>
            <a:avLst/>
            <a:gdLst/>
            <a:ahLst/>
            <a:cxnLst/>
            <a:rect r="r" b="b" t="t" l="l"/>
            <a:pathLst>
              <a:path h="5596379" w="6452848">
                <a:moveTo>
                  <a:pt x="0" y="0"/>
                </a:moveTo>
                <a:lnTo>
                  <a:pt x="6452849" y="0"/>
                </a:lnTo>
                <a:lnTo>
                  <a:pt x="6452849" y="5596380"/>
                </a:lnTo>
                <a:lnTo>
                  <a:pt x="0" y="5596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623780" y="-1121086"/>
            <a:ext cx="11408086" cy="11408086"/>
          </a:xfrm>
          <a:custGeom>
            <a:avLst/>
            <a:gdLst/>
            <a:ahLst/>
            <a:cxnLst/>
            <a:rect r="r" b="b" t="t" l="l"/>
            <a:pathLst>
              <a:path h="11408086" w="11408086">
                <a:moveTo>
                  <a:pt x="0" y="0"/>
                </a:moveTo>
                <a:lnTo>
                  <a:pt x="11408086" y="0"/>
                </a:lnTo>
                <a:lnTo>
                  <a:pt x="11408086" y="11408086"/>
                </a:lnTo>
                <a:lnTo>
                  <a:pt x="0" y="114080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255720" y="3102909"/>
            <a:ext cx="10144206" cy="1722433"/>
          </a:xfrm>
          <a:prstGeom prst="rect">
            <a:avLst/>
          </a:prstGeom>
        </p:spPr>
        <p:txBody>
          <a:bodyPr anchor="t" rtlCol="false" tIns="0" lIns="0" bIns="0" rIns="0">
            <a:spAutoFit/>
          </a:bodyPr>
          <a:lstStyle/>
          <a:p>
            <a:pPr algn="ctr" marL="0" indent="0" lvl="0">
              <a:lnSpc>
                <a:spcPts val="6728"/>
              </a:lnSpc>
              <a:spcBef>
                <a:spcPct val="0"/>
              </a:spcBef>
            </a:pPr>
            <a:r>
              <a:rPr lang="en-US" b="true" sz="5607">
                <a:solidFill>
                  <a:srgbClr val="FFFFFF"/>
                </a:solidFill>
                <a:latin typeface="Now Bold"/>
                <a:ea typeface="Now Bold"/>
                <a:cs typeface="Now Bold"/>
                <a:sym typeface="Now Bold"/>
              </a:rPr>
              <a:t>ABSENCE REPORTING AND PERIOD-END PROCESSING</a:t>
            </a:r>
          </a:p>
        </p:txBody>
      </p:sp>
      <p:sp>
        <p:nvSpPr>
          <p:cNvPr name="TextBox 6" id="6"/>
          <p:cNvSpPr txBox="true"/>
          <p:nvPr/>
        </p:nvSpPr>
        <p:spPr>
          <a:xfrm rot="0">
            <a:off x="4630147" y="5173715"/>
            <a:ext cx="7763827" cy="2000851"/>
          </a:xfrm>
          <a:prstGeom prst="rect">
            <a:avLst/>
          </a:prstGeom>
        </p:spPr>
        <p:txBody>
          <a:bodyPr anchor="t" rtlCol="false" tIns="0" lIns="0" bIns="0" rIns="0">
            <a:spAutoFit/>
          </a:bodyPr>
          <a:lstStyle/>
          <a:p>
            <a:pPr algn="l" marL="624036" indent="-312018" lvl="1">
              <a:lnSpc>
                <a:spcPts val="3988"/>
              </a:lnSpc>
              <a:buAutoNum type="arabicPeriod" startAt="1"/>
            </a:pPr>
            <a:r>
              <a:rPr lang="en-US" sz="2890">
                <a:solidFill>
                  <a:srgbClr val="FFFFFF"/>
                </a:solidFill>
                <a:latin typeface="DM Sans"/>
                <a:ea typeface="DM Sans"/>
                <a:cs typeface="DM Sans"/>
                <a:sym typeface="DM Sans"/>
              </a:rPr>
              <a:t>  Generate Absence Reports</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Absence Reconciliation</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Manage Year-End Absence Processing</a:t>
            </a:r>
          </a:p>
          <a:p>
            <a:pPr algn="just" marL="624036" indent="-312018" lvl="1">
              <a:lnSpc>
                <a:spcPts val="3988"/>
              </a:lnSpc>
              <a:buAutoNum type="arabicPeriod" startAt="1"/>
            </a:pPr>
            <a:r>
              <a:rPr lang="en-US" sz="2890">
                <a:solidFill>
                  <a:srgbClr val="FFFFFF"/>
                </a:solidFill>
                <a:latin typeface="DM Sans"/>
                <a:ea typeface="DM Sans"/>
                <a:cs typeface="DM Sans"/>
                <a:sym typeface="DM Sans"/>
              </a:rPr>
              <a:t>  Audit Absence Data</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14891" y="2139322"/>
            <a:ext cx="8132545" cy="5936758"/>
          </a:xfrm>
          <a:custGeom>
            <a:avLst/>
            <a:gdLst/>
            <a:ahLst/>
            <a:cxnLst/>
            <a:rect r="r" b="b" t="t" l="l"/>
            <a:pathLst>
              <a:path h="5936758" w="8132545">
                <a:moveTo>
                  <a:pt x="0" y="0"/>
                </a:moveTo>
                <a:lnTo>
                  <a:pt x="8132544" y="0"/>
                </a:lnTo>
                <a:lnTo>
                  <a:pt x="8132544" y="5936758"/>
                </a:lnTo>
                <a:lnTo>
                  <a:pt x="0" y="5936758"/>
                </a:lnTo>
                <a:lnTo>
                  <a:pt x="0" y="0"/>
                </a:lnTo>
                <a:close/>
              </a:path>
            </a:pathLst>
          </a:custGeom>
          <a:blipFill>
            <a:blip r:embed="rId4"/>
            <a:stretch>
              <a:fillRect l="0" t="0" r="0" b="0"/>
            </a:stretch>
          </a:blipFill>
        </p:spPr>
      </p:sp>
      <p:sp>
        <p:nvSpPr>
          <p:cNvPr name="Freeform 5" id="5"/>
          <p:cNvSpPr/>
          <p:nvPr/>
        </p:nvSpPr>
        <p:spPr>
          <a:xfrm flipH="false" flipV="false" rot="0">
            <a:off x="8717799" y="4235414"/>
            <a:ext cx="8796150" cy="5816454"/>
          </a:xfrm>
          <a:custGeom>
            <a:avLst/>
            <a:gdLst/>
            <a:ahLst/>
            <a:cxnLst/>
            <a:rect r="r" b="b" t="t" l="l"/>
            <a:pathLst>
              <a:path h="5816454" w="8796150">
                <a:moveTo>
                  <a:pt x="0" y="0"/>
                </a:moveTo>
                <a:lnTo>
                  <a:pt x="8796150" y="0"/>
                </a:lnTo>
                <a:lnTo>
                  <a:pt x="8796150" y="5816455"/>
                </a:lnTo>
                <a:lnTo>
                  <a:pt x="0" y="5816455"/>
                </a:lnTo>
                <a:lnTo>
                  <a:pt x="0" y="0"/>
                </a:lnTo>
                <a:close/>
              </a:path>
            </a:pathLst>
          </a:custGeom>
          <a:blipFill>
            <a:blip r:embed="rId5"/>
            <a:stretch>
              <a:fillRect l="0" t="0" r="0" b="0"/>
            </a:stretch>
          </a:blipFill>
        </p:spPr>
      </p:sp>
      <p:sp>
        <p:nvSpPr>
          <p:cNvPr name="TextBox 6" id="6"/>
          <p:cNvSpPr txBox="true"/>
          <p:nvPr/>
        </p:nvSpPr>
        <p:spPr>
          <a:xfrm rot="0">
            <a:off x="635867" y="1028700"/>
            <a:ext cx="12659850" cy="422124"/>
          </a:xfrm>
          <a:prstGeom prst="rect">
            <a:avLst/>
          </a:prstGeom>
        </p:spPr>
        <p:txBody>
          <a:bodyPr anchor="t" rtlCol="false" tIns="0" lIns="0" bIns="0" rIns="0">
            <a:spAutoFit/>
          </a:bodyPr>
          <a:lstStyle/>
          <a:p>
            <a:pPr algn="just" marL="0" indent="0" lvl="0">
              <a:lnSpc>
                <a:spcPts val="3265"/>
              </a:lnSpc>
              <a:spcBef>
                <a:spcPct val="0"/>
              </a:spcBef>
            </a:pPr>
            <a:r>
              <a:rPr lang="en-US" b="true" sz="2721">
                <a:solidFill>
                  <a:srgbClr val="FFFFFF"/>
                </a:solidFill>
                <a:latin typeface="Now Bold"/>
                <a:ea typeface="Now Bold"/>
                <a:cs typeface="Now Bold"/>
                <a:sym typeface="Now Bold"/>
              </a:rPr>
              <a:t>GENERATE ABSENCE REPORTS:</a:t>
            </a:r>
            <a:r>
              <a:rPr lang="en-US" b="true" sz="2721">
                <a:solidFill>
                  <a:srgbClr val="FFFFFF"/>
                </a:solidFill>
                <a:latin typeface="Now Bold"/>
                <a:ea typeface="Now Bold"/>
                <a:cs typeface="Now Bold"/>
                <a:sym typeface="Now Bold"/>
              </a:rPr>
              <a:t> </a:t>
            </a:r>
          </a:p>
        </p:txBody>
      </p:sp>
      <p:sp>
        <p:nvSpPr>
          <p:cNvPr name="TextBox 7" id="7"/>
          <p:cNvSpPr txBox="true"/>
          <p:nvPr/>
        </p:nvSpPr>
        <p:spPr>
          <a:xfrm rot="0">
            <a:off x="480122" y="3320689"/>
            <a:ext cx="4634149" cy="3796563"/>
          </a:xfrm>
          <a:prstGeom prst="rect">
            <a:avLst/>
          </a:prstGeom>
        </p:spPr>
        <p:txBody>
          <a:bodyPr anchor="t" rtlCol="false" tIns="0" lIns="0" bIns="0" rIns="0">
            <a:spAutoFit/>
          </a:bodyPr>
          <a:lstStyle/>
          <a:p>
            <a:pPr algn="l" marL="670936" indent="-335468" lvl="1">
              <a:lnSpc>
                <a:spcPts val="4288"/>
              </a:lnSpc>
              <a:spcBef>
                <a:spcPct val="0"/>
              </a:spcBef>
              <a:buFont typeface="Arial"/>
              <a:buChar char="•"/>
            </a:pPr>
            <a:r>
              <a:rPr lang="en-US" sz="3107">
                <a:solidFill>
                  <a:srgbClr val="FFFFFF"/>
                </a:solidFill>
                <a:latin typeface="DM Sans"/>
                <a:ea typeface="DM Sans"/>
                <a:cs typeface="DM Sans"/>
                <a:sym typeface="DM Sans"/>
              </a:rPr>
              <a:t>G</a:t>
            </a:r>
            <a:r>
              <a:rPr lang="en-US" sz="3107" strike="noStrike" u="none">
                <a:solidFill>
                  <a:srgbClr val="FFFFFF"/>
                </a:solidFill>
                <a:latin typeface="DM Sans"/>
                <a:ea typeface="DM Sans"/>
                <a:cs typeface="DM Sans"/>
                <a:sym typeface="DM Sans"/>
              </a:rPr>
              <a:t>o to requests page to request a report of ‘Absences Report’</a:t>
            </a:r>
          </a:p>
          <a:p>
            <a:pPr algn="l">
              <a:lnSpc>
                <a:spcPts val="4288"/>
              </a:lnSpc>
              <a:spcBef>
                <a:spcPct val="0"/>
              </a:spcBef>
            </a:pPr>
          </a:p>
          <a:p>
            <a:pPr algn="l" marL="670936" indent="-335468" lvl="1">
              <a:lnSpc>
                <a:spcPts val="4288"/>
              </a:lnSpc>
              <a:spcBef>
                <a:spcPct val="0"/>
              </a:spcBef>
              <a:buFont typeface="Arial"/>
              <a:buChar char="•"/>
            </a:pPr>
            <a:r>
              <a:rPr lang="en-US" sz="3107" strike="noStrike" u="none">
                <a:solidFill>
                  <a:srgbClr val="FFFFFF"/>
                </a:solidFill>
                <a:latin typeface="DM Sans"/>
                <a:ea typeface="DM Sans"/>
                <a:cs typeface="DM Sans"/>
                <a:sym typeface="DM Sans"/>
              </a:rPr>
              <a:t>V</a:t>
            </a:r>
            <a:r>
              <a:rPr lang="en-US" sz="3107" strike="noStrike" u="none">
                <a:solidFill>
                  <a:srgbClr val="FFFFFF"/>
                </a:solidFill>
                <a:latin typeface="DM Sans"/>
                <a:ea typeface="DM Sans"/>
                <a:cs typeface="DM Sans"/>
                <a:sym typeface="DM Sans"/>
              </a:rPr>
              <a:t>iew → Requests →  Submit a new request</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246411" y="2139322"/>
            <a:ext cx="8132545" cy="5936758"/>
          </a:xfrm>
          <a:custGeom>
            <a:avLst/>
            <a:gdLst/>
            <a:ahLst/>
            <a:cxnLst/>
            <a:rect r="r" b="b" t="t" l="l"/>
            <a:pathLst>
              <a:path h="5936758" w="8132545">
                <a:moveTo>
                  <a:pt x="0" y="0"/>
                </a:moveTo>
                <a:lnTo>
                  <a:pt x="8132544" y="0"/>
                </a:lnTo>
                <a:lnTo>
                  <a:pt x="8132544" y="5936758"/>
                </a:lnTo>
                <a:lnTo>
                  <a:pt x="0" y="5936758"/>
                </a:lnTo>
                <a:lnTo>
                  <a:pt x="0" y="0"/>
                </a:lnTo>
                <a:close/>
              </a:path>
            </a:pathLst>
          </a:custGeom>
          <a:blipFill>
            <a:blip r:embed="rId4"/>
            <a:stretch>
              <a:fillRect l="0" t="0" r="0" b="0"/>
            </a:stretch>
          </a:blipFill>
        </p:spPr>
      </p:sp>
      <p:sp>
        <p:nvSpPr>
          <p:cNvPr name="Freeform 5" id="5"/>
          <p:cNvSpPr/>
          <p:nvPr/>
        </p:nvSpPr>
        <p:spPr>
          <a:xfrm flipH="false" flipV="false" rot="0">
            <a:off x="8221410" y="4470546"/>
            <a:ext cx="8796150" cy="5816454"/>
          </a:xfrm>
          <a:custGeom>
            <a:avLst/>
            <a:gdLst/>
            <a:ahLst/>
            <a:cxnLst/>
            <a:rect r="r" b="b" t="t" l="l"/>
            <a:pathLst>
              <a:path h="5816454" w="8796150">
                <a:moveTo>
                  <a:pt x="0" y="0"/>
                </a:moveTo>
                <a:lnTo>
                  <a:pt x="8796150" y="0"/>
                </a:lnTo>
                <a:lnTo>
                  <a:pt x="8796150" y="5816454"/>
                </a:lnTo>
                <a:lnTo>
                  <a:pt x="0" y="5816454"/>
                </a:lnTo>
                <a:lnTo>
                  <a:pt x="0" y="0"/>
                </a:lnTo>
                <a:close/>
              </a:path>
            </a:pathLst>
          </a:custGeom>
          <a:blipFill>
            <a:blip r:embed="rId5"/>
            <a:stretch>
              <a:fillRect l="0" t="0" r="0" b="0"/>
            </a:stretch>
          </a:blipFill>
        </p:spPr>
      </p:sp>
      <p:sp>
        <p:nvSpPr>
          <p:cNvPr name="Freeform 6" id="6"/>
          <p:cNvSpPr/>
          <p:nvPr/>
        </p:nvSpPr>
        <p:spPr>
          <a:xfrm flipH="false" flipV="false" rot="0">
            <a:off x="3850105" y="0"/>
            <a:ext cx="14437895" cy="10287000"/>
          </a:xfrm>
          <a:custGeom>
            <a:avLst/>
            <a:gdLst/>
            <a:ahLst/>
            <a:cxnLst/>
            <a:rect r="r" b="b" t="t" l="l"/>
            <a:pathLst>
              <a:path h="10287000" w="14437895">
                <a:moveTo>
                  <a:pt x="0" y="0"/>
                </a:moveTo>
                <a:lnTo>
                  <a:pt x="14437895" y="0"/>
                </a:lnTo>
                <a:lnTo>
                  <a:pt x="14437895" y="10287000"/>
                </a:lnTo>
                <a:lnTo>
                  <a:pt x="0" y="10287000"/>
                </a:lnTo>
                <a:lnTo>
                  <a:pt x="0" y="0"/>
                </a:lnTo>
                <a:close/>
              </a:path>
            </a:pathLst>
          </a:custGeom>
          <a:blipFill>
            <a:blip r:embed="rId6"/>
            <a:stretch>
              <a:fillRect l="0" t="0" r="0" b="0"/>
            </a:stretch>
          </a:blipFill>
        </p:spPr>
      </p:sp>
      <p:sp>
        <p:nvSpPr>
          <p:cNvPr name="TextBox 7" id="7"/>
          <p:cNvSpPr txBox="true"/>
          <p:nvPr/>
        </p:nvSpPr>
        <p:spPr>
          <a:xfrm rot="0">
            <a:off x="503601" y="1161436"/>
            <a:ext cx="3279829" cy="823010"/>
          </a:xfrm>
          <a:prstGeom prst="rect">
            <a:avLst/>
          </a:prstGeom>
        </p:spPr>
        <p:txBody>
          <a:bodyPr anchor="t" rtlCol="false" tIns="0" lIns="0" bIns="0" rIns="0">
            <a:spAutoFit/>
          </a:bodyPr>
          <a:lstStyle/>
          <a:p>
            <a:pPr algn="just" marL="0" indent="0" lvl="0">
              <a:lnSpc>
                <a:spcPts val="3265"/>
              </a:lnSpc>
              <a:spcBef>
                <a:spcPct val="0"/>
              </a:spcBef>
            </a:pPr>
            <a:r>
              <a:rPr lang="en-US" b="true" sz="2721" strike="noStrike" u="none">
                <a:solidFill>
                  <a:srgbClr val="FFFFFF"/>
                </a:solidFill>
                <a:latin typeface="Now Bold"/>
                <a:ea typeface="Now Bold"/>
                <a:cs typeface="Now Bold"/>
                <a:sym typeface="Now Bold"/>
              </a:rPr>
              <a:t>GENERATE ABSENCE REPORT</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850" r="0" b="-5151"/>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975317" y="2185517"/>
            <a:ext cx="11100825" cy="6327470"/>
          </a:xfrm>
          <a:custGeom>
            <a:avLst/>
            <a:gdLst/>
            <a:ahLst/>
            <a:cxnLst/>
            <a:rect r="r" b="b" t="t" l="l"/>
            <a:pathLst>
              <a:path h="6327470" w="11100825">
                <a:moveTo>
                  <a:pt x="0" y="0"/>
                </a:moveTo>
                <a:lnTo>
                  <a:pt x="11100825" y="0"/>
                </a:lnTo>
                <a:lnTo>
                  <a:pt x="11100825" y="6327471"/>
                </a:lnTo>
                <a:lnTo>
                  <a:pt x="0" y="6327471"/>
                </a:lnTo>
                <a:lnTo>
                  <a:pt x="0" y="0"/>
                </a:lnTo>
                <a:close/>
              </a:path>
            </a:pathLst>
          </a:custGeom>
          <a:blipFill>
            <a:blip r:embed="rId4"/>
            <a:stretch>
              <a:fillRect l="0" t="0" r="0" b="0"/>
            </a:stretch>
          </a:blipFill>
        </p:spPr>
      </p:sp>
      <p:sp>
        <p:nvSpPr>
          <p:cNvPr name="TextBox 5" id="5"/>
          <p:cNvSpPr txBox="true"/>
          <p:nvPr/>
        </p:nvSpPr>
        <p:spPr>
          <a:xfrm rot="0">
            <a:off x="857250" y="1028700"/>
            <a:ext cx="12659850" cy="411505"/>
          </a:xfrm>
          <a:prstGeom prst="rect">
            <a:avLst/>
          </a:prstGeom>
        </p:spPr>
        <p:txBody>
          <a:bodyPr anchor="t" rtlCol="false" tIns="0" lIns="0" bIns="0" rIns="0">
            <a:spAutoFit/>
          </a:bodyPr>
          <a:lstStyle/>
          <a:p>
            <a:pPr algn="just" marL="0" indent="0" lvl="0">
              <a:lnSpc>
                <a:spcPts val="3265"/>
              </a:lnSpc>
              <a:spcBef>
                <a:spcPct val="0"/>
              </a:spcBef>
            </a:pPr>
            <a:r>
              <a:rPr lang="en-US" b="true" sz="2721">
                <a:solidFill>
                  <a:srgbClr val="FFFFFF"/>
                </a:solidFill>
                <a:latin typeface="Now Bold"/>
                <a:ea typeface="Now Bold"/>
                <a:cs typeface="Now Bold"/>
                <a:sym typeface="Now Bold"/>
              </a:rPr>
              <a:t>GENERATE RECONCILIATION REPORT</a:t>
            </a:r>
          </a:p>
        </p:txBody>
      </p:sp>
      <p:sp>
        <p:nvSpPr>
          <p:cNvPr name="TextBox 6" id="6"/>
          <p:cNvSpPr txBox="true"/>
          <p:nvPr/>
        </p:nvSpPr>
        <p:spPr>
          <a:xfrm rot="0">
            <a:off x="442022" y="3178389"/>
            <a:ext cx="4700517" cy="3796563"/>
          </a:xfrm>
          <a:prstGeom prst="rect">
            <a:avLst/>
          </a:prstGeom>
        </p:spPr>
        <p:txBody>
          <a:bodyPr anchor="t" rtlCol="false" tIns="0" lIns="0" bIns="0" rIns="0">
            <a:spAutoFit/>
          </a:bodyPr>
          <a:lstStyle/>
          <a:p>
            <a:pPr algn="l" marL="670936" indent="-335468" lvl="1">
              <a:lnSpc>
                <a:spcPts val="4288"/>
              </a:lnSpc>
              <a:spcBef>
                <a:spcPct val="0"/>
              </a:spcBef>
              <a:buFont typeface="Arial"/>
              <a:buChar char="•"/>
            </a:pPr>
            <a:r>
              <a:rPr lang="en-US" sz="3107">
                <a:solidFill>
                  <a:srgbClr val="FFFFFF"/>
                </a:solidFill>
                <a:latin typeface="DM Sans"/>
                <a:ea typeface="DM Sans"/>
                <a:cs typeface="DM Sans"/>
                <a:sym typeface="DM Sans"/>
              </a:rPr>
              <a:t>G</a:t>
            </a:r>
            <a:r>
              <a:rPr lang="en-US" sz="3107" strike="noStrike" u="none">
                <a:solidFill>
                  <a:srgbClr val="FFFFFF"/>
                </a:solidFill>
                <a:latin typeface="DM Sans"/>
                <a:ea typeface="DM Sans"/>
                <a:cs typeface="DM Sans"/>
                <a:sym typeface="DM Sans"/>
              </a:rPr>
              <a:t>o to requests page to request a report of ‘Reconciliation Report’</a:t>
            </a:r>
          </a:p>
          <a:p>
            <a:pPr algn="l">
              <a:lnSpc>
                <a:spcPts val="4288"/>
              </a:lnSpc>
              <a:spcBef>
                <a:spcPct val="0"/>
              </a:spcBef>
            </a:pPr>
          </a:p>
          <a:p>
            <a:pPr algn="l" marL="670936" indent="-335468" lvl="1">
              <a:lnSpc>
                <a:spcPts val="4288"/>
              </a:lnSpc>
              <a:spcBef>
                <a:spcPct val="0"/>
              </a:spcBef>
              <a:buFont typeface="Arial"/>
              <a:buChar char="•"/>
            </a:pPr>
            <a:r>
              <a:rPr lang="en-US" sz="3107" strike="noStrike" u="none">
                <a:solidFill>
                  <a:srgbClr val="FFFFFF"/>
                </a:solidFill>
                <a:latin typeface="DM Sans"/>
                <a:ea typeface="DM Sans"/>
                <a:cs typeface="DM Sans"/>
                <a:sym typeface="DM Sans"/>
              </a:rPr>
              <a:t>V</a:t>
            </a:r>
            <a:r>
              <a:rPr lang="en-US" sz="3107" strike="noStrike" u="none">
                <a:solidFill>
                  <a:srgbClr val="FFFFFF"/>
                </a:solidFill>
                <a:latin typeface="DM Sans"/>
                <a:ea typeface="DM Sans"/>
                <a:cs typeface="DM Sans"/>
                <a:sym typeface="DM Sans"/>
              </a:rPr>
              <a:t>iew →  Requests →  Submit a new request</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21410" y="4470546"/>
            <a:ext cx="8796150" cy="5816454"/>
          </a:xfrm>
          <a:custGeom>
            <a:avLst/>
            <a:gdLst/>
            <a:ahLst/>
            <a:cxnLst/>
            <a:rect r="r" b="b" t="t" l="l"/>
            <a:pathLst>
              <a:path h="5816454" w="8796150">
                <a:moveTo>
                  <a:pt x="0" y="0"/>
                </a:moveTo>
                <a:lnTo>
                  <a:pt x="8796150" y="0"/>
                </a:lnTo>
                <a:lnTo>
                  <a:pt x="8796150" y="5816454"/>
                </a:lnTo>
                <a:lnTo>
                  <a:pt x="0" y="5816454"/>
                </a:lnTo>
                <a:lnTo>
                  <a:pt x="0" y="0"/>
                </a:lnTo>
                <a:close/>
              </a:path>
            </a:pathLst>
          </a:custGeom>
          <a:blipFill>
            <a:blip r:embed="rId4"/>
            <a:stretch>
              <a:fillRect l="0" t="0" r="0" b="0"/>
            </a:stretch>
          </a:blipFill>
        </p:spPr>
      </p:sp>
      <p:sp>
        <p:nvSpPr>
          <p:cNvPr name="Freeform 5" id="5"/>
          <p:cNvSpPr/>
          <p:nvPr/>
        </p:nvSpPr>
        <p:spPr>
          <a:xfrm flipH="false" flipV="false" rot="0">
            <a:off x="7696494" y="-29361"/>
            <a:ext cx="10591506" cy="10287000"/>
          </a:xfrm>
          <a:custGeom>
            <a:avLst/>
            <a:gdLst/>
            <a:ahLst/>
            <a:cxnLst/>
            <a:rect r="r" b="b" t="t" l="l"/>
            <a:pathLst>
              <a:path h="10287000" w="10591506">
                <a:moveTo>
                  <a:pt x="0" y="0"/>
                </a:moveTo>
                <a:lnTo>
                  <a:pt x="10591506" y="0"/>
                </a:lnTo>
                <a:lnTo>
                  <a:pt x="10591506" y="10287000"/>
                </a:lnTo>
                <a:lnTo>
                  <a:pt x="0" y="10287000"/>
                </a:lnTo>
                <a:lnTo>
                  <a:pt x="0" y="0"/>
                </a:lnTo>
                <a:close/>
              </a:path>
            </a:pathLst>
          </a:custGeom>
          <a:blipFill>
            <a:blip r:embed="rId5"/>
            <a:stretch>
              <a:fillRect l="0" t="0" r="0" b="0"/>
            </a:stretch>
          </a:blipFill>
        </p:spPr>
      </p:sp>
      <p:sp>
        <p:nvSpPr>
          <p:cNvPr name="TextBox 6" id="6"/>
          <p:cNvSpPr txBox="true"/>
          <p:nvPr/>
        </p:nvSpPr>
        <p:spPr>
          <a:xfrm rot="0">
            <a:off x="566114" y="1161436"/>
            <a:ext cx="4790919" cy="823010"/>
          </a:xfrm>
          <a:prstGeom prst="rect">
            <a:avLst/>
          </a:prstGeom>
        </p:spPr>
        <p:txBody>
          <a:bodyPr anchor="t" rtlCol="false" tIns="0" lIns="0" bIns="0" rIns="0">
            <a:spAutoFit/>
          </a:bodyPr>
          <a:lstStyle/>
          <a:p>
            <a:pPr algn="just" marL="0" indent="0" lvl="0">
              <a:lnSpc>
                <a:spcPts val="3265"/>
              </a:lnSpc>
              <a:spcBef>
                <a:spcPct val="0"/>
              </a:spcBef>
            </a:pPr>
            <a:r>
              <a:rPr lang="en-US" b="true" sz="2721" strike="noStrike" u="none">
                <a:solidFill>
                  <a:srgbClr val="FFFFFF"/>
                </a:solidFill>
                <a:latin typeface="Now Bold"/>
                <a:ea typeface="Now Bold"/>
                <a:cs typeface="Now Bold"/>
                <a:sym typeface="Now Bold"/>
              </a:rPr>
              <a:t>GENERATE RE</a:t>
            </a:r>
            <a:r>
              <a:rPr lang="en-US" b="true" sz="2721" strike="noStrike" u="none">
                <a:solidFill>
                  <a:srgbClr val="FFFFFF"/>
                </a:solidFill>
                <a:latin typeface="Now Bold"/>
                <a:ea typeface="Now Bold"/>
                <a:cs typeface="Now Bold"/>
                <a:sym typeface="Now Bold"/>
              </a:rPr>
              <a:t>C</a:t>
            </a:r>
            <a:r>
              <a:rPr lang="en-US" b="true" sz="2721" strike="noStrike" u="none">
                <a:solidFill>
                  <a:srgbClr val="FFFFFF"/>
                </a:solidFill>
                <a:latin typeface="Now Bold"/>
                <a:ea typeface="Now Bold"/>
                <a:cs typeface="Now Bold"/>
                <a:sym typeface="Now Bold"/>
              </a:rPr>
              <a:t>ONC</a:t>
            </a:r>
            <a:r>
              <a:rPr lang="en-US" b="true" sz="2721" strike="noStrike" u="none">
                <a:solidFill>
                  <a:srgbClr val="FFFFFF"/>
                </a:solidFill>
                <a:latin typeface="Now Bold"/>
                <a:ea typeface="Now Bold"/>
                <a:cs typeface="Now Bold"/>
                <a:sym typeface="Now Bold"/>
              </a:rPr>
              <a:t>I</a:t>
            </a:r>
            <a:r>
              <a:rPr lang="en-US" b="true" sz="2721" strike="noStrike" u="none">
                <a:solidFill>
                  <a:srgbClr val="FFFFFF"/>
                </a:solidFill>
                <a:latin typeface="Now Bold"/>
                <a:ea typeface="Now Bold"/>
                <a:cs typeface="Now Bold"/>
                <a:sym typeface="Now Bold"/>
              </a:rPr>
              <a:t>L</a:t>
            </a:r>
            <a:r>
              <a:rPr lang="en-US" b="true" sz="2721" strike="noStrike" u="none">
                <a:solidFill>
                  <a:srgbClr val="FFFFFF"/>
                </a:solidFill>
                <a:latin typeface="Now Bold"/>
                <a:ea typeface="Now Bold"/>
                <a:cs typeface="Now Bold"/>
                <a:sym typeface="Now Bold"/>
              </a:rPr>
              <a:t>IATION</a:t>
            </a:r>
            <a:r>
              <a:rPr lang="en-US" b="true" sz="2721" strike="noStrike" u="none">
                <a:solidFill>
                  <a:srgbClr val="FFFFFF"/>
                </a:solidFill>
                <a:latin typeface="Now Bold"/>
                <a:ea typeface="Now Bold"/>
                <a:cs typeface="Now Bold"/>
                <a:sym typeface="Now Bold"/>
              </a:rPr>
              <a:t> REPORT</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6975317" y="-2198044"/>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2467" y="8377832"/>
            <a:ext cx="4337366" cy="4337366"/>
          </a:xfrm>
          <a:custGeom>
            <a:avLst/>
            <a:gdLst/>
            <a:ahLst/>
            <a:cxnLst/>
            <a:rect r="r" b="b" t="t" l="l"/>
            <a:pathLst>
              <a:path h="4337366" w="4337366">
                <a:moveTo>
                  <a:pt x="0" y="0"/>
                </a:moveTo>
                <a:lnTo>
                  <a:pt x="4337366" y="0"/>
                </a:lnTo>
                <a:lnTo>
                  <a:pt x="4337366" y="4337366"/>
                </a:lnTo>
                <a:lnTo>
                  <a:pt x="0" y="4337366"/>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23441" y="0"/>
            <a:ext cx="15364559" cy="10287000"/>
          </a:xfrm>
          <a:custGeom>
            <a:avLst/>
            <a:gdLst/>
            <a:ahLst/>
            <a:cxnLst/>
            <a:rect r="r" b="b" t="t" l="l"/>
            <a:pathLst>
              <a:path h="10287000" w="15364559">
                <a:moveTo>
                  <a:pt x="0" y="0"/>
                </a:moveTo>
                <a:lnTo>
                  <a:pt x="15364559" y="0"/>
                </a:lnTo>
                <a:lnTo>
                  <a:pt x="15364559" y="10287000"/>
                </a:lnTo>
                <a:lnTo>
                  <a:pt x="0" y="10287000"/>
                </a:lnTo>
                <a:lnTo>
                  <a:pt x="0" y="0"/>
                </a:lnTo>
                <a:close/>
              </a:path>
            </a:pathLst>
          </a:custGeom>
          <a:blipFill>
            <a:blip r:embed="rId4"/>
            <a:stretch>
              <a:fillRect l="-1208" t="0" r="-62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29</a:t>
            </a:r>
          </a:p>
        </p:txBody>
      </p:sp>
      <p:sp>
        <p:nvSpPr>
          <p:cNvPr name="TextBox 6" id="6"/>
          <p:cNvSpPr txBox="true"/>
          <p:nvPr/>
        </p:nvSpPr>
        <p:spPr>
          <a:xfrm rot="0">
            <a:off x="0" y="143240"/>
            <a:ext cx="2875548" cy="3507499"/>
          </a:xfrm>
          <a:prstGeom prst="rect">
            <a:avLst/>
          </a:prstGeom>
        </p:spPr>
        <p:txBody>
          <a:bodyPr anchor="t" rtlCol="false" tIns="0" lIns="0" bIns="0" rIns="0">
            <a:spAutoFit/>
          </a:bodyPr>
          <a:lstStyle/>
          <a:p>
            <a:pPr algn="just" marL="0" indent="0" lvl="0">
              <a:lnSpc>
                <a:spcPts val="3944"/>
              </a:lnSpc>
              <a:spcBef>
                <a:spcPct val="0"/>
              </a:spcBef>
            </a:pPr>
            <a:r>
              <a:rPr lang="en-US" b="true" sz="3286" strike="noStrike" u="none">
                <a:solidFill>
                  <a:srgbClr val="FFFFFF"/>
                </a:solidFill>
                <a:latin typeface="Now Bold"/>
                <a:ea typeface="Now Bold"/>
                <a:cs typeface="Now Bold"/>
                <a:sym typeface="Now Bold"/>
              </a:rPr>
              <a:t>REVIEW LEAVE ACCRUALS AND ENTITLEMENTS TO ENSURE ACCURACY.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3685745" y="5661440"/>
            <a:ext cx="4161751" cy="1184729"/>
            <a:chOff x="0" y="0"/>
            <a:chExt cx="2565722" cy="730386"/>
          </a:xfrm>
        </p:grpSpPr>
        <p:sp>
          <p:nvSpPr>
            <p:cNvPr name="Freeform 3" id="3"/>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p:spPr>
        </p:sp>
        <p:sp>
          <p:nvSpPr>
            <p:cNvPr name="TextBox 4" id="4"/>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5" id="5"/>
          <p:cNvGrpSpPr/>
          <p:nvPr/>
        </p:nvGrpSpPr>
        <p:grpSpPr>
          <a:xfrm rot="0">
            <a:off x="4016057" y="4488138"/>
            <a:ext cx="4161751" cy="1184729"/>
            <a:chOff x="0" y="0"/>
            <a:chExt cx="2565722" cy="730386"/>
          </a:xfrm>
        </p:grpSpPr>
        <p:sp>
          <p:nvSpPr>
            <p:cNvPr name="Freeform 6" id="6"/>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p:spPr>
        </p:sp>
        <p:sp>
          <p:nvSpPr>
            <p:cNvPr name="TextBox 7" id="7"/>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sp>
        <p:nvSpPr>
          <p:cNvPr name="TextBox 8" id="8"/>
          <p:cNvSpPr txBox="true"/>
          <p:nvPr/>
        </p:nvSpPr>
        <p:spPr>
          <a:xfrm rot="0">
            <a:off x="4393979" y="5910992"/>
            <a:ext cx="2745282" cy="628474"/>
          </a:xfrm>
          <a:prstGeom prst="rect">
            <a:avLst/>
          </a:prstGeom>
        </p:spPr>
        <p:txBody>
          <a:bodyPr anchor="t" rtlCol="false" tIns="0" lIns="0" bIns="0" rIns="0">
            <a:spAutoFit/>
          </a:bodyPr>
          <a:lstStyle/>
          <a:p>
            <a:pPr algn="ctr" marL="0" indent="0" lvl="0">
              <a:lnSpc>
                <a:spcPts val="5185"/>
              </a:lnSpc>
              <a:spcBef>
                <a:spcPct val="0"/>
              </a:spcBef>
            </a:pPr>
            <a:r>
              <a:rPr lang="en-US" b="true" sz="3757">
                <a:solidFill>
                  <a:srgbClr val="051D40"/>
                </a:solidFill>
                <a:latin typeface="DM Sans Bold"/>
                <a:ea typeface="DM Sans Bold"/>
                <a:cs typeface="DM Sans Bold"/>
                <a:sym typeface="DM Sans Bold"/>
              </a:rPr>
              <a:t>2</a:t>
            </a:r>
          </a:p>
        </p:txBody>
      </p:sp>
      <p:sp>
        <p:nvSpPr>
          <p:cNvPr name="TextBox 9" id="9"/>
          <p:cNvSpPr txBox="true"/>
          <p:nvPr/>
        </p:nvSpPr>
        <p:spPr>
          <a:xfrm rot="0">
            <a:off x="4639035" y="4737691"/>
            <a:ext cx="2745282" cy="628474"/>
          </a:xfrm>
          <a:prstGeom prst="rect">
            <a:avLst/>
          </a:prstGeom>
        </p:spPr>
        <p:txBody>
          <a:bodyPr anchor="t" rtlCol="false" tIns="0" lIns="0" bIns="0" rIns="0">
            <a:spAutoFit/>
          </a:bodyPr>
          <a:lstStyle/>
          <a:p>
            <a:pPr algn="ctr" marL="0" indent="0" lvl="0">
              <a:lnSpc>
                <a:spcPts val="5185"/>
              </a:lnSpc>
              <a:spcBef>
                <a:spcPct val="0"/>
              </a:spcBef>
            </a:pPr>
            <a:r>
              <a:rPr lang="en-US" b="true" sz="3757">
                <a:solidFill>
                  <a:srgbClr val="051D40"/>
                </a:solidFill>
                <a:latin typeface="DM Sans Bold"/>
                <a:ea typeface="DM Sans Bold"/>
                <a:cs typeface="DM Sans Bold"/>
                <a:sym typeface="DM Sans Bold"/>
              </a:rPr>
              <a:t>1</a:t>
            </a:r>
          </a:p>
        </p:txBody>
      </p:sp>
      <p:sp>
        <p:nvSpPr>
          <p:cNvPr name="TextBox 10" id="10"/>
          <p:cNvSpPr txBox="true"/>
          <p:nvPr/>
        </p:nvSpPr>
        <p:spPr>
          <a:xfrm rot="0">
            <a:off x="9241585" y="5835352"/>
            <a:ext cx="4490889" cy="827380"/>
          </a:xfrm>
          <a:prstGeom prst="rect">
            <a:avLst/>
          </a:prstGeom>
        </p:spPr>
        <p:txBody>
          <a:bodyPr anchor="t" rtlCol="false" tIns="0" lIns="0" bIns="0" rIns="0">
            <a:spAutoFit/>
          </a:bodyPr>
          <a:lstStyle/>
          <a:p>
            <a:pPr algn="ctr" marL="0" indent="0" lvl="0">
              <a:lnSpc>
                <a:spcPts val="3364"/>
              </a:lnSpc>
            </a:pPr>
            <a:r>
              <a:rPr lang="en-US" sz="2670">
                <a:solidFill>
                  <a:srgbClr val="FFFFFF"/>
                </a:solidFill>
                <a:latin typeface="DM Sans"/>
                <a:ea typeface="DM Sans"/>
                <a:cs typeface="DM Sans"/>
                <a:sym typeface="DM Sans"/>
              </a:rPr>
              <a:t>R</a:t>
            </a:r>
            <a:r>
              <a:rPr lang="en-US" sz="2670" strike="noStrike" u="none">
                <a:solidFill>
                  <a:srgbClr val="FFFFFF"/>
                </a:solidFill>
                <a:latin typeface="DM Sans"/>
                <a:ea typeface="DM Sans"/>
                <a:cs typeface="DM Sans"/>
                <a:sym typeface="DM Sans"/>
              </a:rPr>
              <a:t>esetting leave entitlements in the new year.</a:t>
            </a:r>
          </a:p>
        </p:txBody>
      </p:sp>
      <p:sp>
        <p:nvSpPr>
          <p:cNvPr name="TextBox 11" id="11"/>
          <p:cNvSpPr txBox="true"/>
          <p:nvPr/>
        </p:nvSpPr>
        <p:spPr>
          <a:xfrm rot="0">
            <a:off x="8515554" y="4662048"/>
            <a:ext cx="6086701" cy="827385"/>
          </a:xfrm>
          <a:prstGeom prst="rect">
            <a:avLst/>
          </a:prstGeom>
        </p:spPr>
        <p:txBody>
          <a:bodyPr anchor="t" rtlCol="false" tIns="0" lIns="0" bIns="0" rIns="0">
            <a:spAutoFit/>
          </a:bodyPr>
          <a:lstStyle/>
          <a:p>
            <a:pPr algn="ctr" marL="0" indent="0" lvl="0">
              <a:lnSpc>
                <a:spcPts val="3363"/>
              </a:lnSpc>
            </a:pPr>
            <a:r>
              <a:rPr lang="en-US" sz="2669">
                <a:solidFill>
                  <a:srgbClr val="FFFFFF"/>
                </a:solidFill>
                <a:latin typeface="DM Sans"/>
                <a:ea typeface="DM Sans"/>
                <a:cs typeface="DM Sans"/>
                <a:sym typeface="DM Sans"/>
              </a:rPr>
              <a:t>Close the absence pe</a:t>
            </a:r>
            <a:r>
              <a:rPr lang="en-US" sz="2669" strike="noStrike" u="none">
                <a:solidFill>
                  <a:srgbClr val="FFFFFF"/>
                </a:solidFill>
                <a:latin typeface="DM Sans"/>
                <a:ea typeface="DM Sans"/>
                <a:cs typeface="DM Sans"/>
                <a:sym typeface="DM Sans"/>
              </a:rPr>
              <a:t>riod by ensuring that carryover leave balances</a:t>
            </a:r>
          </a:p>
        </p:txBody>
      </p:sp>
      <p:sp>
        <p:nvSpPr>
          <p:cNvPr name="Freeform 12" id="12"/>
          <p:cNvSpPr/>
          <p:nvPr/>
        </p:nvSpPr>
        <p:spPr>
          <a:xfrm flipH="false" flipV="false" rot="0">
            <a:off x="-2519628" y="7227483"/>
            <a:ext cx="7086596" cy="7086596"/>
          </a:xfrm>
          <a:custGeom>
            <a:avLst/>
            <a:gdLst/>
            <a:ahLst/>
            <a:cxnLst/>
            <a:rect r="r" b="b" t="t" l="l"/>
            <a:pathLst>
              <a:path h="7086596" w="7086596">
                <a:moveTo>
                  <a:pt x="0" y="0"/>
                </a:moveTo>
                <a:lnTo>
                  <a:pt x="7086596" y="0"/>
                </a:lnTo>
                <a:lnTo>
                  <a:pt x="7086596" y="7086596"/>
                </a:lnTo>
                <a:lnTo>
                  <a:pt x="0" y="7086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0436461">
            <a:off x="14152110" y="-4118246"/>
            <a:ext cx="6566182" cy="6566182"/>
          </a:xfrm>
          <a:custGeom>
            <a:avLst/>
            <a:gdLst/>
            <a:ahLst/>
            <a:cxnLst/>
            <a:rect r="r" b="b" t="t" l="l"/>
            <a:pathLst>
              <a:path h="6566182" w="6566182">
                <a:moveTo>
                  <a:pt x="0" y="0"/>
                </a:moveTo>
                <a:lnTo>
                  <a:pt x="6566182" y="0"/>
                </a:lnTo>
                <a:lnTo>
                  <a:pt x="6566182" y="6566183"/>
                </a:lnTo>
                <a:lnTo>
                  <a:pt x="0" y="6566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2499249" y="1104900"/>
            <a:ext cx="13384753" cy="819150"/>
          </a:xfrm>
          <a:prstGeom prst="rect">
            <a:avLst/>
          </a:prstGeom>
        </p:spPr>
        <p:txBody>
          <a:bodyPr anchor="t" rtlCol="false" tIns="0" lIns="0" bIns="0" rIns="0">
            <a:spAutoFit/>
          </a:bodyPr>
          <a:lstStyle/>
          <a:p>
            <a:pPr algn="ctr" marL="0" indent="0" lvl="0">
              <a:lnSpc>
                <a:spcPts val="6359"/>
              </a:lnSpc>
              <a:spcBef>
                <a:spcPct val="0"/>
              </a:spcBef>
            </a:pPr>
            <a:r>
              <a:rPr lang="en-US" b="true" sz="5299">
                <a:solidFill>
                  <a:srgbClr val="F5FFF5"/>
                </a:solidFill>
                <a:latin typeface="Now Bold"/>
                <a:ea typeface="Now Bold"/>
                <a:cs typeface="Now Bold"/>
                <a:sym typeface="Now Bold"/>
              </a:rPr>
              <a:t>Manage Year-End Absence Processing</a:t>
            </a:r>
          </a:p>
        </p:txBody>
      </p:sp>
      <p:sp>
        <p:nvSpPr>
          <p:cNvPr name="TextBox 15" id="15"/>
          <p:cNvSpPr txBox="true"/>
          <p:nvPr/>
        </p:nvSpPr>
        <p:spPr>
          <a:xfrm rot="0">
            <a:off x="4228707" y="2095266"/>
            <a:ext cx="9302948" cy="455295"/>
          </a:xfrm>
          <a:prstGeom prst="rect">
            <a:avLst/>
          </a:prstGeom>
        </p:spPr>
        <p:txBody>
          <a:bodyPr anchor="t" rtlCol="false" tIns="0" lIns="0" bIns="0" rIns="0">
            <a:spAutoFit/>
          </a:bodyPr>
          <a:lstStyle/>
          <a:p>
            <a:pPr algn="ctr">
              <a:lnSpc>
                <a:spcPts val="3780"/>
              </a:lnSpc>
              <a:spcBef>
                <a:spcPct val="0"/>
              </a:spcBef>
            </a:pPr>
            <a:r>
              <a:rPr lang="en-US" sz="2700">
                <a:solidFill>
                  <a:srgbClr val="FFFFFF"/>
                </a:solidFill>
                <a:latin typeface="DM Sans"/>
                <a:ea typeface="DM Sans"/>
                <a:cs typeface="DM Sans"/>
                <a:sym typeface="DM Sans"/>
              </a:rPr>
              <a:t>Goal: </a:t>
            </a:r>
            <a:r>
              <a:rPr lang="en-US" sz="2700">
                <a:solidFill>
                  <a:srgbClr val="FFFFFF"/>
                </a:solidFill>
                <a:latin typeface="DM Sans"/>
                <a:ea typeface="DM Sans"/>
                <a:cs typeface="DM Sans"/>
                <a:sym typeface="DM Sans"/>
              </a:rPr>
              <a:t>Absence period closed, and leave entitlements reset.</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graphicFrame>
        <p:nvGraphicFramePr>
          <p:cNvPr name="Table 14" id="14"/>
          <p:cNvGraphicFramePr>
            <a:graphicFrameLocks noGrp="true"/>
          </p:cNvGraphicFramePr>
          <p:nvPr/>
        </p:nvGraphicFramePr>
        <p:xfrm>
          <a:off x="9898271" y="5034138"/>
          <a:ext cx="6515298" cy="1866900"/>
        </p:xfrm>
        <a:graphic>
          <a:graphicData uri="http://schemas.openxmlformats.org/drawingml/2006/table">
            <a:tbl>
              <a:tblPr/>
              <a:tblGrid>
                <a:gridCol w="3107623"/>
                <a:gridCol w="3407675"/>
              </a:tblGrid>
              <a:tr h="933450">
                <a:tc>
                  <a:txBody>
                    <a:bodyPr anchor="t" rtlCol="false"/>
                    <a:lstStyle/>
                    <a:p>
                      <a:pPr algn="ctr" marL="0" indent="0" lvl="0">
                        <a:lnSpc>
                          <a:spcPts val="3499"/>
                        </a:lnSpc>
                        <a:spcBef>
                          <a:spcPct val="0"/>
                        </a:spcBef>
                        <a:defRPr/>
                      </a:pPr>
                      <a:r>
                        <a:rPr lang="en-US" b="true" sz="2499" strike="noStrike" u="none">
                          <a:solidFill>
                            <a:srgbClr val="FFFFFF"/>
                          </a:solidFill>
                          <a:latin typeface="Canva Sans Bold"/>
                          <a:ea typeface="Canva Sans Bold"/>
                          <a:cs typeface="Canva Sans Bold"/>
                          <a:sym typeface="Canva Sans Bold"/>
                        </a:rPr>
                        <a:t>21 Days</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tcPr>
                </a:tc>
                <a:tc>
                  <a:txBody>
                    <a:bodyPr anchor="t" rtlCol="false"/>
                    <a:lstStyle/>
                    <a:p>
                      <a:pPr algn="ctr" marL="0" indent="0" lvl="0">
                        <a:lnSpc>
                          <a:spcPts val="3499"/>
                        </a:lnSpc>
                        <a:spcBef>
                          <a:spcPct val="0"/>
                        </a:spcBef>
                        <a:defRPr/>
                      </a:pPr>
                      <a:r>
                        <a:rPr lang="en-US" b="true" sz="2499" strike="noStrike" u="none">
                          <a:solidFill>
                            <a:srgbClr val="FFFFFF"/>
                          </a:solidFill>
                          <a:latin typeface="Canva Sans Bold"/>
                          <a:ea typeface="Canva Sans Bold"/>
                          <a:cs typeface="Canva Sans Bold"/>
                          <a:sym typeface="Canva Sans Bold"/>
                        </a:rPr>
                        <a:t>5 Days</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tcPr>
                </a:tc>
              </a:tr>
              <a:tr h="933450">
                <a:tc>
                  <a:txBody>
                    <a:bodyPr anchor="t" rtlCol="false"/>
                    <a:lstStyle/>
                    <a:p>
                      <a:pPr algn="ctr" marL="0" indent="0" lvl="0">
                        <a:lnSpc>
                          <a:spcPts val="3499"/>
                        </a:lnSpc>
                        <a:spcBef>
                          <a:spcPct val="0"/>
                        </a:spcBef>
                        <a:defRPr/>
                      </a:pPr>
                      <a:r>
                        <a:rPr lang="en-US" b="true" sz="2499">
                          <a:solidFill>
                            <a:srgbClr val="FFFFFF"/>
                          </a:solidFill>
                          <a:latin typeface="Canva Sans Bold"/>
                          <a:ea typeface="Canva Sans Bold"/>
                          <a:cs typeface="Canva Sans Bold"/>
                          <a:sym typeface="Canva Sans Bold"/>
                        </a:rPr>
                        <a:t>30</a:t>
                      </a:r>
                      <a:r>
                        <a:rPr lang="en-US" b="true" sz="2499" strike="noStrike" u="none">
                          <a:solidFill>
                            <a:srgbClr val="FFFFFF"/>
                          </a:solidFill>
                          <a:latin typeface="Canva Sans Bold"/>
                          <a:ea typeface="Canva Sans Bold"/>
                          <a:cs typeface="Canva Sans Bold"/>
                          <a:sym typeface="Canva Sans Bold"/>
                        </a:rPr>
                        <a:t> Days</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tcPr>
                </a:tc>
                <a:tc>
                  <a:txBody>
                    <a:bodyPr anchor="t" rtlCol="false"/>
                    <a:lstStyle/>
                    <a:p>
                      <a:pPr algn="ctr" marL="0" indent="0" lvl="0">
                        <a:lnSpc>
                          <a:spcPts val="3499"/>
                        </a:lnSpc>
                        <a:spcBef>
                          <a:spcPct val="0"/>
                        </a:spcBef>
                        <a:defRPr/>
                      </a:pPr>
                      <a:r>
                        <a:rPr lang="en-US" b="true" sz="2499">
                          <a:solidFill>
                            <a:srgbClr val="FFFFFF"/>
                          </a:solidFill>
                          <a:latin typeface="Canva Sans Bold"/>
                          <a:ea typeface="Canva Sans Bold"/>
                          <a:cs typeface="Canva Sans Bold"/>
                          <a:sym typeface="Canva Sans Bold"/>
                        </a:rPr>
                        <a:t>10 Days</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tcPr>
                </a:tc>
              </a:tr>
            </a:tbl>
          </a:graphicData>
        </a:graphic>
      </p:graphicFrame>
      <p:sp>
        <p:nvSpPr>
          <p:cNvPr name="TextBox 15" id="15"/>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MANAGE YEAR-END ABSENCE PROCESSING:</a:t>
            </a:r>
          </a:p>
          <a:p>
            <a:pPr algn="l" marL="0" indent="0" lvl="0">
              <a:lnSpc>
                <a:spcPts val="3265"/>
              </a:lnSpc>
              <a:spcBef>
                <a:spcPct val="0"/>
              </a:spcBef>
            </a:pPr>
            <a:r>
              <a:rPr lang="en-US" b="true" sz="2721">
                <a:solidFill>
                  <a:srgbClr val="FFFFFF"/>
                </a:solidFill>
                <a:latin typeface="Now Bold"/>
                <a:ea typeface="Now Bold"/>
                <a:cs typeface="Now Bold"/>
                <a:sym typeface="Now Bold"/>
              </a:rPr>
              <a:t>CARRYOVER POLICY</a:t>
            </a:r>
          </a:p>
        </p:txBody>
      </p:sp>
      <p:sp>
        <p:nvSpPr>
          <p:cNvPr name="TextBox 16" id="16"/>
          <p:cNvSpPr txBox="true"/>
          <p:nvPr/>
        </p:nvSpPr>
        <p:spPr>
          <a:xfrm rot="0">
            <a:off x="1764274" y="3917728"/>
            <a:ext cx="6700457" cy="445029"/>
          </a:xfrm>
          <a:prstGeom prst="rect">
            <a:avLst/>
          </a:prstGeom>
        </p:spPr>
        <p:txBody>
          <a:bodyPr anchor="t" rtlCol="false" tIns="0" lIns="0" bIns="0" rIns="0">
            <a:spAutoFit/>
          </a:bodyPr>
          <a:lstStyle/>
          <a:p>
            <a:pPr algn="l" marL="0" indent="0" lvl="0">
              <a:lnSpc>
                <a:spcPts val="3609"/>
              </a:lnSpc>
              <a:spcBef>
                <a:spcPct val="0"/>
              </a:spcBef>
            </a:pPr>
            <a:r>
              <a:rPr lang="en-US" b="true" sz="2615">
                <a:solidFill>
                  <a:srgbClr val="FFFFFF"/>
                </a:solidFill>
                <a:latin typeface="DM Sans Bold"/>
                <a:ea typeface="DM Sans Bold"/>
                <a:cs typeface="DM Sans Bold"/>
                <a:sym typeface="DM Sans Bold"/>
              </a:rPr>
              <a:t>CARRYOVER POLICY:</a:t>
            </a:r>
          </a:p>
        </p:txBody>
      </p:sp>
      <p:sp>
        <p:nvSpPr>
          <p:cNvPr name="TextBox 17" id="17"/>
          <p:cNvSpPr txBox="true"/>
          <p:nvPr/>
        </p:nvSpPr>
        <p:spPr>
          <a:xfrm rot="0">
            <a:off x="1708713" y="4264840"/>
            <a:ext cx="7425762" cy="2786433"/>
          </a:xfrm>
          <a:prstGeom prst="rect">
            <a:avLst/>
          </a:prstGeom>
        </p:spPr>
        <p:txBody>
          <a:bodyPr anchor="t" rtlCol="false" tIns="0" lIns="0" bIns="0" rIns="0">
            <a:spAutoFit/>
          </a:bodyPr>
          <a:lstStyle/>
          <a:p>
            <a:pPr algn="just">
              <a:lnSpc>
                <a:spcPts val="3715"/>
              </a:lnSpc>
            </a:pPr>
          </a:p>
          <a:p>
            <a:pPr algn="just" marL="581230" indent="-290615" lvl="1">
              <a:lnSpc>
                <a:spcPts val="3715"/>
              </a:lnSpc>
              <a:buFont typeface="Arial"/>
              <a:buChar char="•"/>
            </a:pPr>
            <a:r>
              <a:rPr lang="en-US" sz="2692">
                <a:solidFill>
                  <a:srgbClr val="FFFFFF"/>
                </a:solidFill>
                <a:latin typeface="DM Sans"/>
                <a:ea typeface="DM Sans"/>
                <a:cs typeface="DM Sans"/>
                <a:sym typeface="DM Sans"/>
              </a:rPr>
              <a:t>M</a:t>
            </a:r>
            <a:r>
              <a:rPr lang="en-US" sz="2692">
                <a:solidFill>
                  <a:srgbClr val="FFFFFF"/>
                </a:solidFill>
                <a:latin typeface="DM Sans"/>
                <a:ea typeface="DM Sans"/>
                <a:cs typeface="DM Sans"/>
                <a:sym typeface="DM Sans"/>
              </a:rPr>
              <a:t>aximum of 5 to 10 days per year.</a:t>
            </a:r>
          </a:p>
          <a:p>
            <a:pPr algn="just" marL="581230" indent="-290615" lvl="1">
              <a:lnSpc>
                <a:spcPts val="3715"/>
              </a:lnSpc>
              <a:buFont typeface="Arial"/>
              <a:buChar char="•"/>
            </a:pPr>
            <a:r>
              <a:rPr lang="en-US" b="true" sz="2692" strike="noStrike" u="none">
                <a:solidFill>
                  <a:srgbClr val="FFFFFF"/>
                </a:solidFill>
                <a:latin typeface="DM Sans Bold"/>
                <a:ea typeface="DM Sans Bold"/>
                <a:cs typeface="DM Sans Bold"/>
                <a:sym typeface="DM Sans Bold"/>
              </a:rPr>
              <a:t>Carryover Expiration</a:t>
            </a:r>
            <a:r>
              <a:rPr lang="en-US" sz="2692" strike="noStrike" u="none">
                <a:solidFill>
                  <a:srgbClr val="FFFFFF"/>
                </a:solidFill>
                <a:latin typeface="DM Sans"/>
                <a:ea typeface="DM Sans"/>
                <a:cs typeface="DM Sans"/>
                <a:sym typeface="DM Sans"/>
              </a:rPr>
              <a:t>: </a:t>
            </a:r>
          </a:p>
          <a:p>
            <a:pPr algn="just">
              <a:lnSpc>
                <a:spcPts val="3715"/>
              </a:lnSpc>
            </a:pPr>
            <a:r>
              <a:rPr lang="en-US" sz="2692" strike="noStrike" u="none">
                <a:solidFill>
                  <a:srgbClr val="FFFFFF"/>
                </a:solidFill>
                <a:latin typeface="DM Sans"/>
                <a:ea typeface="DM Sans"/>
                <a:cs typeface="DM Sans"/>
                <a:sym typeface="DM Sans"/>
              </a:rPr>
              <a:t>     At the end of the first 3 months of the year</a:t>
            </a:r>
          </a:p>
          <a:p>
            <a:pPr algn="just">
              <a:lnSpc>
                <a:spcPts val="3715"/>
              </a:lnSpc>
            </a:pPr>
            <a:r>
              <a:rPr lang="en-US" sz="2692" strike="noStrike" u="none">
                <a:solidFill>
                  <a:srgbClr val="FFFFFF"/>
                </a:solidFill>
                <a:latin typeface="DM Sans"/>
                <a:ea typeface="DM Sans"/>
                <a:cs typeface="DM Sans"/>
                <a:sym typeface="DM Sans"/>
              </a:rPr>
              <a:t>     Expire </a:t>
            </a:r>
            <a:r>
              <a:rPr lang="en-US" sz="2692" strike="noStrike" u="none">
                <a:solidFill>
                  <a:srgbClr val="FFFFFF"/>
                </a:solidFill>
                <a:latin typeface="DM Sans"/>
                <a:ea typeface="DM Sans"/>
                <a:cs typeface="DM Sans"/>
                <a:sym typeface="DM Sans"/>
              </a:rPr>
              <a:t>(March 31)</a:t>
            </a:r>
          </a:p>
          <a:p>
            <a:pPr algn="just">
              <a:lnSpc>
                <a:spcPts val="3715"/>
              </a:lnSpc>
            </a:pP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31</a:t>
            </a:r>
          </a:p>
        </p:txBody>
      </p:sp>
      <p:sp>
        <p:nvSpPr>
          <p:cNvPr name="TextBox 19" id="19"/>
          <p:cNvSpPr txBox="true"/>
          <p:nvPr/>
        </p:nvSpPr>
        <p:spPr>
          <a:xfrm rot="0">
            <a:off x="10344568" y="3946303"/>
            <a:ext cx="5505152" cy="454386"/>
          </a:xfrm>
          <a:prstGeom prst="rect">
            <a:avLst/>
          </a:prstGeom>
        </p:spPr>
        <p:txBody>
          <a:bodyPr anchor="t" rtlCol="false" tIns="0" lIns="0" bIns="0" rIns="0">
            <a:spAutoFit/>
          </a:bodyPr>
          <a:lstStyle/>
          <a:p>
            <a:pPr algn="ctr">
              <a:lnSpc>
                <a:spcPts val="3615"/>
              </a:lnSpc>
              <a:spcBef>
                <a:spcPct val="0"/>
              </a:spcBef>
            </a:pPr>
            <a:r>
              <a:rPr lang="en-US" sz="2869">
                <a:solidFill>
                  <a:srgbClr val="FFFFFF"/>
                </a:solidFill>
                <a:latin typeface="DM Sans"/>
                <a:ea typeface="DM Sans"/>
                <a:cs typeface="DM Sans"/>
                <a:sym typeface="DM Sans"/>
              </a:rPr>
              <a:t>| Carryover Rule | Max Carryover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grpSp>
        <p:nvGrpSpPr>
          <p:cNvPr name="Group 4" id="4"/>
          <p:cNvGrpSpPr/>
          <p:nvPr/>
        </p:nvGrpSpPr>
        <p:grpSpPr>
          <a:xfrm rot="0">
            <a:off x="7966224" y="2492087"/>
            <a:ext cx="9774220" cy="5864532"/>
            <a:chOff x="0" y="0"/>
            <a:chExt cx="6350000" cy="3810000"/>
          </a:xfrm>
        </p:grpSpPr>
        <p:sp>
          <p:nvSpPr>
            <p:cNvPr name="Freeform 5" id="5"/>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4"/>
              <a:stretch>
                <a:fillRect l="0" t="0" r="-8390" b="-29000"/>
              </a:stretch>
            </a:blipFill>
          </p:spPr>
        </p:sp>
      </p:grpSp>
      <p:grpSp>
        <p:nvGrpSpPr>
          <p:cNvPr name="Group 6" id="6"/>
          <p:cNvGrpSpPr/>
          <p:nvPr/>
        </p:nvGrpSpPr>
        <p:grpSpPr>
          <a:xfrm rot="-10800000">
            <a:off x="15966396" y="9258300"/>
            <a:ext cx="13457996" cy="3264379"/>
            <a:chOff x="0" y="0"/>
            <a:chExt cx="17943995" cy="4352506"/>
          </a:xfrm>
        </p:grpSpPr>
        <p:sp>
          <p:nvSpPr>
            <p:cNvPr name="Freeform 7" id="7"/>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5">
                <a:extLst>
                  <a:ext uri="{96DAC541-7B7A-43D3-8B79-37D633B846F1}">
                    <asvg:svgBlip xmlns:asvg="http://schemas.microsoft.com/office/drawing/2016/SVG/main" r:embed="rId6"/>
                  </a:ext>
                </a:extLst>
              </a:blip>
              <a:stretch>
                <a:fillRect l="0" t="0" r="0" b="-26202"/>
              </a:stretch>
            </a:blipFill>
          </p:spPr>
        </p:sp>
        <p:sp>
          <p:nvSpPr>
            <p:cNvPr name="Freeform 9" id="9"/>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5">
                <a:extLst>
                  <a:ext uri="{96DAC541-7B7A-43D3-8B79-37D633B846F1}">
                    <asvg:svgBlip xmlns:asvg="http://schemas.microsoft.com/office/drawing/2016/SVG/main" r:embed="rId6"/>
                  </a:ext>
                </a:extLst>
              </a:blip>
              <a:stretch>
                <a:fillRect l="0" t="0" r="0" b="-26202"/>
              </a:stretch>
            </a:blipFill>
          </p:spPr>
        </p:sp>
      </p:grpSp>
      <p:sp>
        <p:nvSpPr>
          <p:cNvPr name="TextBox 11" id="11"/>
          <p:cNvSpPr txBox="true"/>
          <p:nvPr/>
        </p:nvSpPr>
        <p:spPr>
          <a:xfrm rot="0">
            <a:off x="524367" y="857250"/>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MANAGE YEAR-END ABSENCE PROCESSING:</a:t>
            </a:r>
          </a:p>
          <a:p>
            <a:pPr algn="just" marL="0" indent="0" lvl="0">
              <a:lnSpc>
                <a:spcPts val="3265"/>
              </a:lnSpc>
              <a:spcBef>
                <a:spcPct val="0"/>
              </a:spcBef>
            </a:pPr>
            <a:r>
              <a:rPr lang="en-US" b="true" sz="2721">
                <a:solidFill>
                  <a:srgbClr val="FFFFFF"/>
                </a:solidFill>
                <a:latin typeface="Now Bold"/>
                <a:ea typeface="Now Bold"/>
                <a:cs typeface="Now Bold"/>
                <a:sym typeface="Now Bold"/>
              </a:rPr>
              <a:t>RESET DATE: “ JANUARY 1 "</a:t>
            </a:r>
          </a:p>
        </p:txBody>
      </p:sp>
      <p:sp>
        <p:nvSpPr>
          <p:cNvPr name="TextBox 12" id="12"/>
          <p:cNvSpPr txBox="true"/>
          <p:nvPr/>
        </p:nvSpPr>
        <p:spPr>
          <a:xfrm rot="0">
            <a:off x="305292" y="4296694"/>
            <a:ext cx="7192380" cy="2217219"/>
          </a:xfrm>
          <a:prstGeom prst="rect">
            <a:avLst/>
          </a:prstGeom>
        </p:spPr>
        <p:txBody>
          <a:bodyPr anchor="t" rtlCol="false" tIns="0" lIns="0" bIns="0" rIns="0">
            <a:spAutoFit/>
          </a:bodyPr>
          <a:lstStyle/>
          <a:p>
            <a:pPr algn="just" marL="559640" indent="-279820" lvl="1">
              <a:lnSpc>
                <a:spcPts val="3577"/>
              </a:lnSpc>
              <a:buFont typeface="Arial"/>
              <a:buChar char="•"/>
            </a:pPr>
            <a:r>
              <a:rPr lang="en-US" sz="2592">
                <a:solidFill>
                  <a:srgbClr val="FFFFFF"/>
                </a:solidFill>
                <a:latin typeface="DM Sans"/>
                <a:ea typeface="DM Sans"/>
                <a:cs typeface="DM Sans"/>
                <a:sym typeface="DM Sans"/>
              </a:rPr>
              <a:t>Using a Request from :</a:t>
            </a:r>
          </a:p>
          <a:p>
            <a:pPr algn="just">
              <a:lnSpc>
                <a:spcPts val="3577"/>
              </a:lnSpc>
            </a:pPr>
            <a:r>
              <a:rPr lang="en-US" sz="2592">
                <a:solidFill>
                  <a:srgbClr val="FFFFFF"/>
                </a:solidFill>
                <a:latin typeface="DM Sans"/>
                <a:ea typeface="DM Sans"/>
                <a:cs typeface="DM Sans"/>
                <a:sym typeface="DM Sans"/>
              </a:rPr>
              <a:t>      View → Request → Submit A New Request</a:t>
            </a:r>
          </a:p>
          <a:p>
            <a:pPr algn="just">
              <a:lnSpc>
                <a:spcPts val="3577"/>
              </a:lnSpc>
            </a:pPr>
          </a:p>
          <a:p>
            <a:pPr algn="just" marL="559640" indent="-279820" lvl="1">
              <a:lnSpc>
                <a:spcPts val="3577"/>
              </a:lnSpc>
              <a:buFont typeface="Arial"/>
              <a:buChar char="•"/>
            </a:pPr>
            <a:r>
              <a:rPr lang="en-US" sz="2592">
                <a:solidFill>
                  <a:srgbClr val="FFFFFF"/>
                </a:solidFill>
                <a:latin typeface="DM Sans"/>
                <a:ea typeface="DM Sans"/>
                <a:cs typeface="DM Sans"/>
                <a:sym typeface="DM Sans"/>
              </a:rPr>
              <a:t>Run the Request “ PTO CARRY OVER “ </a:t>
            </a:r>
          </a:p>
          <a:p>
            <a:pPr algn="just" marL="559640" indent="-279820" lvl="1">
              <a:lnSpc>
                <a:spcPts val="3577"/>
              </a:lnSpc>
              <a:buFont typeface="Arial"/>
              <a:buChar char="•"/>
            </a:pPr>
            <a:r>
              <a:rPr lang="en-US" sz="2592">
                <a:solidFill>
                  <a:srgbClr val="FFFFFF"/>
                </a:solidFill>
                <a:latin typeface="DM Sans"/>
                <a:ea typeface="DM Sans"/>
                <a:cs typeface="DM Sans"/>
                <a:sym typeface="DM Sans"/>
              </a:rPr>
              <a:t>Choose the Parameters</a:t>
            </a:r>
          </a:p>
        </p:txBody>
      </p:sp>
      <p:sp>
        <p:nvSpPr>
          <p:cNvPr name="TextBox 13" id="13"/>
          <p:cNvSpPr txBox="true"/>
          <p:nvPr/>
        </p:nvSpPr>
        <p:spPr>
          <a:xfrm rot="0">
            <a:off x="452721" y="3734987"/>
            <a:ext cx="7593141" cy="385212"/>
          </a:xfrm>
          <a:prstGeom prst="rect">
            <a:avLst/>
          </a:prstGeom>
        </p:spPr>
        <p:txBody>
          <a:bodyPr anchor="t" rtlCol="false" tIns="0" lIns="0" bIns="0" rIns="0">
            <a:spAutoFit/>
          </a:bodyPr>
          <a:lstStyle/>
          <a:p>
            <a:pPr algn="l" marL="0" indent="0" lvl="0">
              <a:lnSpc>
                <a:spcPts val="3195"/>
              </a:lnSpc>
              <a:spcBef>
                <a:spcPct val="0"/>
              </a:spcBef>
            </a:pPr>
            <a:r>
              <a:rPr lang="en-US" b="true" sz="2315">
                <a:solidFill>
                  <a:srgbClr val="FFFFFF"/>
                </a:solidFill>
                <a:latin typeface="DM Sans Bold"/>
                <a:ea typeface="DM Sans Bold"/>
                <a:cs typeface="DM Sans Bold"/>
                <a:sym typeface="DM Sans Bold"/>
              </a:rPr>
              <a:t>HOW TO CARRYOVER THE ABSENCE DAYS?</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sp>
        <p:nvSpPr>
          <p:cNvPr name="Freeform 3" id="3"/>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3"/>
            <a:stretch>
              <a:fillRect l="0" t="-137172" r="0" b="0"/>
            </a:stretch>
          </a:blipFill>
        </p:spPr>
      </p:sp>
      <p:grpSp>
        <p:nvGrpSpPr>
          <p:cNvPr name="Group 4" id="4"/>
          <p:cNvGrpSpPr/>
          <p:nvPr/>
        </p:nvGrpSpPr>
        <p:grpSpPr>
          <a:xfrm rot="0">
            <a:off x="10194605" y="2432690"/>
            <a:ext cx="7545838" cy="5864532"/>
            <a:chOff x="0" y="0"/>
            <a:chExt cx="4902291" cy="3810000"/>
          </a:xfrm>
        </p:grpSpPr>
        <p:sp>
          <p:nvSpPr>
            <p:cNvPr name="Freeform 5" id="5"/>
            <p:cNvSpPr/>
            <p:nvPr/>
          </p:nvSpPr>
          <p:spPr>
            <a:xfrm flipH="false" flipV="false" rot="0">
              <a:off x="0" y="0"/>
              <a:ext cx="4902291" cy="3810000"/>
            </a:xfrm>
            <a:custGeom>
              <a:avLst/>
              <a:gdLst/>
              <a:ahLst/>
              <a:cxnLst/>
              <a:rect r="r" b="b" t="t" l="l"/>
              <a:pathLst>
                <a:path h="3810000" w="4902291">
                  <a:moveTo>
                    <a:pt x="0" y="3175000"/>
                  </a:moveTo>
                  <a:lnTo>
                    <a:pt x="0" y="635000"/>
                  </a:lnTo>
                  <a:cubicBezTo>
                    <a:pt x="0" y="284480"/>
                    <a:pt x="219623" y="0"/>
                    <a:pt x="490229" y="0"/>
                  </a:cubicBezTo>
                  <a:lnTo>
                    <a:pt x="4412062" y="0"/>
                  </a:lnTo>
                  <a:cubicBezTo>
                    <a:pt x="4682668" y="0"/>
                    <a:pt x="4902291" y="284480"/>
                    <a:pt x="4902291" y="635000"/>
                  </a:cubicBezTo>
                  <a:lnTo>
                    <a:pt x="4902291" y="3175000"/>
                  </a:lnTo>
                  <a:cubicBezTo>
                    <a:pt x="4902291" y="3525520"/>
                    <a:pt x="4682668" y="3810000"/>
                    <a:pt x="4412062" y="3810000"/>
                  </a:cubicBezTo>
                  <a:lnTo>
                    <a:pt x="490229" y="3810000"/>
                  </a:lnTo>
                  <a:cubicBezTo>
                    <a:pt x="219623" y="3810000"/>
                    <a:pt x="0" y="3525520"/>
                    <a:pt x="0" y="3175000"/>
                  </a:cubicBezTo>
                  <a:close/>
                </a:path>
              </a:pathLst>
            </a:custGeom>
            <a:blipFill>
              <a:blip r:embed="rId4"/>
              <a:stretch>
                <a:fillRect l="0" t="0" r="0" b="-17810"/>
              </a:stretch>
            </a:blipFill>
          </p:spPr>
        </p:sp>
      </p:grpSp>
      <p:grpSp>
        <p:nvGrpSpPr>
          <p:cNvPr name="Group 6" id="6"/>
          <p:cNvGrpSpPr/>
          <p:nvPr/>
        </p:nvGrpSpPr>
        <p:grpSpPr>
          <a:xfrm rot="-10800000">
            <a:off x="15966396" y="9258300"/>
            <a:ext cx="13457996" cy="3264379"/>
            <a:chOff x="0" y="0"/>
            <a:chExt cx="17943995" cy="4352506"/>
          </a:xfrm>
        </p:grpSpPr>
        <p:sp>
          <p:nvSpPr>
            <p:cNvPr name="Freeform 7" id="7"/>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5">
                <a:extLst>
                  <a:ext uri="{96DAC541-7B7A-43D3-8B79-37D633B846F1}">
                    <asvg:svgBlip xmlns:asvg="http://schemas.microsoft.com/office/drawing/2016/SVG/main" r:embed="rId6"/>
                  </a:ext>
                </a:extLst>
              </a:blip>
              <a:stretch>
                <a:fillRect l="0" t="0" r="0" b="-26202"/>
              </a:stretch>
            </a:blipFill>
          </p:spPr>
        </p:sp>
        <p:sp>
          <p:nvSpPr>
            <p:cNvPr name="Freeform 9" id="9"/>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5">
                <a:extLst>
                  <a:ext uri="{96DAC541-7B7A-43D3-8B79-37D633B846F1}">
                    <asvg:svgBlip xmlns:asvg="http://schemas.microsoft.com/office/drawing/2016/SVG/main" r:embed="rId6"/>
                  </a:ext>
                </a:extLst>
              </a:blip>
              <a:stretch>
                <a:fillRect l="0" t="0" r="0" b="-26202"/>
              </a:stretch>
            </a:blipFill>
          </p:spPr>
        </p:sp>
      </p:grpSp>
      <p:grpSp>
        <p:nvGrpSpPr>
          <p:cNvPr name="Group 11" id="11"/>
          <p:cNvGrpSpPr/>
          <p:nvPr/>
        </p:nvGrpSpPr>
        <p:grpSpPr>
          <a:xfrm rot="0">
            <a:off x="494155" y="2432690"/>
            <a:ext cx="8464718" cy="5864532"/>
            <a:chOff x="0" y="0"/>
            <a:chExt cx="5499258" cy="3810000"/>
          </a:xfrm>
        </p:grpSpPr>
        <p:sp>
          <p:nvSpPr>
            <p:cNvPr name="Freeform 12" id="12"/>
            <p:cNvSpPr/>
            <p:nvPr/>
          </p:nvSpPr>
          <p:spPr>
            <a:xfrm flipH="false" flipV="false" rot="0">
              <a:off x="0" y="0"/>
              <a:ext cx="5499258" cy="3810000"/>
            </a:xfrm>
            <a:custGeom>
              <a:avLst/>
              <a:gdLst/>
              <a:ahLst/>
              <a:cxnLst/>
              <a:rect r="r" b="b" t="t" l="l"/>
              <a:pathLst>
                <a:path h="3810000" w="5499258">
                  <a:moveTo>
                    <a:pt x="0" y="3175000"/>
                  </a:moveTo>
                  <a:lnTo>
                    <a:pt x="0" y="635000"/>
                  </a:lnTo>
                  <a:cubicBezTo>
                    <a:pt x="0" y="284480"/>
                    <a:pt x="246367" y="0"/>
                    <a:pt x="549926" y="0"/>
                  </a:cubicBezTo>
                  <a:lnTo>
                    <a:pt x="4949332" y="0"/>
                  </a:lnTo>
                  <a:cubicBezTo>
                    <a:pt x="5252891" y="0"/>
                    <a:pt x="5499258" y="284480"/>
                    <a:pt x="5499258" y="635000"/>
                  </a:cubicBezTo>
                  <a:lnTo>
                    <a:pt x="5499258" y="3175000"/>
                  </a:lnTo>
                  <a:cubicBezTo>
                    <a:pt x="5499258" y="3525520"/>
                    <a:pt x="5252891" y="3810000"/>
                    <a:pt x="4949332" y="3810000"/>
                  </a:cubicBezTo>
                  <a:lnTo>
                    <a:pt x="549926" y="3810000"/>
                  </a:lnTo>
                  <a:cubicBezTo>
                    <a:pt x="246367" y="3810000"/>
                    <a:pt x="0" y="3525520"/>
                    <a:pt x="0" y="3175000"/>
                  </a:cubicBezTo>
                  <a:close/>
                </a:path>
              </a:pathLst>
            </a:custGeom>
            <a:blipFill>
              <a:blip r:embed="rId7"/>
              <a:stretch>
                <a:fillRect l="0" t="0" r="-41098" b="-20671"/>
              </a:stretch>
            </a:blipFill>
          </p:spPr>
        </p:sp>
      </p:grpSp>
      <p:sp>
        <p:nvSpPr>
          <p:cNvPr name="Freeform 13" id="13"/>
          <p:cNvSpPr/>
          <p:nvPr/>
        </p:nvSpPr>
        <p:spPr>
          <a:xfrm flipH="false" flipV="false" rot="0">
            <a:off x="14657933" y="4242701"/>
            <a:ext cx="146888" cy="262853"/>
          </a:xfrm>
          <a:custGeom>
            <a:avLst/>
            <a:gdLst/>
            <a:ahLst/>
            <a:cxnLst/>
            <a:rect r="r" b="b" t="t" l="l"/>
            <a:pathLst>
              <a:path h="262853" w="146888">
                <a:moveTo>
                  <a:pt x="0" y="0"/>
                </a:moveTo>
                <a:lnTo>
                  <a:pt x="146888" y="0"/>
                </a:lnTo>
                <a:lnTo>
                  <a:pt x="146888" y="262853"/>
                </a:lnTo>
                <a:lnTo>
                  <a:pt x="0" y="262853"/>
                </a:lnTo>
                <a:lnTo>
                  <a:pt x="0" y="0"/>
                </a:lnTo>
                <a:close/>
              </a:path>
            </a:pathLst>
          </a:custGeom>
          <a:blipFill>
            <a:blip r:embed="rId8"/>
            <a:stretch>
              <a:fillRect l="0" t="0" r="0" b="0"/>
            </a:stretch>
          </a:blipFill>
        </p:spPr>
      </p:sp>
      <p:sp>
        <p:nvSpPr>
          <p:cNvPr name="TextBox 14" id="14"/>
          <p:cNvSpPr txBox="true"/>
          <p:nvPr/>
        </p:nvSpPr>
        <p:spPr>
          <a:xfrm rot="0">
            <a:off x="524367" y="857250"/>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MANAGE YEAR-END ABSENCE PROCESSING:</a:t>
            </a:r>
          </a:p>
          <a:p>
            <a:pPr algn="l" marL="0" indent="0" lvl="0">
              <a:lnSpc>
                <a:spcPts val="3265"/>
              </a:lnSpc>
              <a:spcBef>
                <a:spcPct val="0"/>
              </a:spcBef>
            </a:pPr>
            <a:r>
              <a:rPr lang="en-US" b="true" sz="2721">
                <a:solidFill>
                  <a:srgbClr val="FFFFFF"/>
                </a:solidFill>
                <a:latin typeface="Now Bold"/>
                <a:ea typeface="Now Bold"/>
                <a:cs typeface="Now Bold"/>
                <a:sym typeface="Now Bold"/>
              </a:rPr>
              <a:t>CARRYOVER VALIDATION</a:t>
            </a:r>
          </a:p>
        </p:txBody>
      </p:sp>
      <p:sp>
        <p:nvSpPr>
          <p:cNvPr name="TextBox 15" id="15"/>
          <p:cNvSpPr txBox="true"/>
          <p:nvPr/>
        </p:nvSpPr>
        <p:spPr>
          <a:xfrm rot="0">
            <a:off x="4039910" y="9053513"/>
            <a:ext cx="10573941" cy="819150"/>
          </a:xfrm>
          <a:prstGeom prst="rect">
            <a:avLst/>
          </a:prstGeom>
        </p:spPr>
        <p:txBody>
          <a:bodyPr anchor="t" rtlCol="false" tIns="0" lIns="0" bIns="0" rIns="0">
            <a:spAutoFit/>
          </a:bodyPr>
          <a:lstStyle/>
          <a:p>
            <a:pPr algn="ctr">
              <a:lnSpc>
                <a:spcPts val="3265"/>
              </a:lnSpc>
            </a:pPr>
            <a:r>
              <a:rPr lang="en-US" b="true" sz="2721">
                <a:solidFill>
                  <a:srgbClr val="FFFFFF"/>
                </a:solidFill>
                <a:latin typeface="Now Bold"/>
                <a:ea typeface="Now Bold"/>
                <a:cs typeface="Now Bold"/>
                <a:sym typeface="Now Bold"/>
              </a:rPr>
              <a:t>THE EMPLOYEE HAD 10 DAYS LEFT SO HIS NEW BALANCE IS 5</a:t>
            </a:r>
          </a:p>
          <a:p>
            <a:pPr algn="ctr">
              <a:lnSpc>
                <a:spcPts val="3265"/>
              </a:lnSpc>
              <a:spcBef>
                <a:spcPct val="0"/>
              </a:spcBef>
            </a:pPr>
            <a:r>
              <a:rPr lang="en-US" b="true" sz="2721">
                <a:solidFill>
                  <a:srgbClr val="FFFFFF"/>
                </a:solidFill>
                <a:latin typeface="Now Bold"/>
                <a:ea typeface="Now Bold"/>
                <a:cs typeface="Now Bold"/>
                <a:sym typeface="Now Bold"/>
              </a:rPr>
              <a:t>“MAX DAYS”</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grpSp>
        <p:nvGrpSpPr>
          <p:cNvPr name="Group 14" id="14"/>
          <p:cNvGrpSpPr/>
          <p:nvPr/>
        </p:nvGrpSpPr>
        <p:grpSpPr>
          <a:xfrm rot="0">
            <a:off x="524367" y="2685825"/>
            <a:ext cx="7545838" cy="5864532"/>
            <a:chOff x="0" y="0"/>
            <a:chExt cx="4902291" cy="3810000"/>
          </a:xfrm>
        </p:grpSpPr>
        <p:sp>
          <p:nvSpPr>
            <p:cNvPr name="Freeform 15" id="15"/>
            <p:cNvSpPr/>
            <p:nvPr/>
          </p:nvSpPr>
          <p:spPr>
            <a:xfrm flipH="false" flipV="false" rot="0">
              <a:off x="0" y="0"/>
              <a:ext cx="4902291" cy="3810000"/>
            </a:xfrm>
            <a:custGeom>
              <a:avLst/>
              <a:gdLst/>
              <a:ahLst/>
              <a:cxnLst/>
              <a:rect r="r" b="b" t="t" l="l"/>
              <a:pathLst>
                <a:path h="3810000" w="4902291">
                  <a:moveTo>
                    <a:pt x="0" y="3175000"/>
                  </a:moveTo>
                  <a:lnTo>
                    <a:pt x="0" y="635000"/>
                  </a:lnTo>
                  <a:cubicBezTo>
                    <a:pt x="0" y="284480"/>
                    <a:pt x="219623" y="0"/>
                    <a:pt x="490229" y="0"/>
                  </a:cubicBezTo>
                  <a:lnTo>
                    <a:pt x="4412062" y="0"/>
                  </a:lnTo>
                  <a:cubicBezTo>
                    <a:pt x="4682668" y="0"/>
                    <a:pt x="4902291" y="284480"/>
                    <a:pt x="4902291" y="635000"/>
                  </a:cubicBezTo>
                  <a:lnTo>
                    <a:pt x="4902291" y="3175000"/>
                  </a:lnTo>
                  <a:cubicBezTo>
                    <a:pt x="4902291" y="3525520"/>
                    <a:pt x="4682668" y="3810000"/>
                    <a:pt x="4412062" y="3810000"/>
                  </a:cubicBezTo>
                  <a:lnTo>
                    <a:pt x="490229" y="3810000"/>
                  </a:lnTo>
                  <a:cubicBezTo>
                    <a:pt x="219623" y="3810000"/>
                    <a:pt x="0" y="3525520"/>
                    <a:pt x="0" y="3175000"/>
                  </a:cubicBezTo>
                  <a:close/>
                </a:path>
              </a:pathLst>
            </a:custGeom>
            <a:blipFill>
              <a:blip r:embed="rId5"/>
              <a:stretch>
                <a:fillRect l="0" t="0" r="0" b="-17810"/>
              </a:stretch>
            </a:blipFill>
          </p:spPr>
        </p:sp>
      </p:grpSp>
      <p:sp>
        <p:nvSpPr>
          <p:cNvPr name="Freeform 16" id="16"/>
          <p:cNvSpPr/>
          <p:nvPr/>
        </p:nvSpPr>
        <p:spPr>
          <a:xfrm flipH="false" flipV="false" rot="0">
            <a:off x="710805" y="2708177"/>
            <a:ext cx="7131271" cy="306355"/>
          </a:xfrm>
          <a:custGeom>
            <a:avLst/>
            <a:gdLst/>
            <a:ahLst/>
            <a:cxnLst/>
            <a:rect r="r" b="b" t="t" l="l"/>
            <a:pathLst>
              <a:path h="306355" w="7131271">
                <a:moveTo>
                  <a:pt x="0" y="0"/>
                </a:moveTo>
                <a:lnTo>
                  <a:pt x="7131271" y="0"/>
                </a:lnTo>
                <a:lnTo>
                  <a:pt x="7131271" y="306356"/>
                </a:lnTo>
                <a:lnTo>
                  <a:pt x="0" y="306356"/>
                </a:lnTo>
                <a:lnTo>
                  <a:pt x="0" y="0"/>
                </a:lnTo>
                <a:close/>
              </a:path>
            </a:pathLst>
          </a:custGeom>
          <a:blipFill>
            <a:blip r:embed="rId6"/>
            <a:stretch>
              <a:fillRect l="-1747" t="-28854" r="0" b="0"/>
            </a:stretch>
          </a:blipFill>
        </p:spPr>
      </p:sp>
      <p:sp>
        <p:nvSpPr>
          <p:cNvPr name="TextBox 17" id="17"/>
          <p:cNvSpPr txBox="true"/>
          <p:nvPr/>
        </p:nvSpPr>
        <p:spPr>
          <a:xfrm rot="0">
            <a:off x="524367" y="939176"/>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MANAGE YEAR-END ABSENCE PROCESSING:</a:t>
            </a:r>
          </a:p>
          <a:p>
            <a:pPr algn="l" marL="0" indent="0" lvl="0">
              <a:lnSpc>
                <a:spcPts val="3265"/>
              </a:lnSpc>
              <a:spcBef>
                <a:spcPct val="0"/>
              </a:spcBef>
            </a:pPr>
            <a:r>
              <a:rPr lang="en-US" b="true" sz="2721">
                <a:solidFill>
                  <a:srgbClr val="FFFFFF"/>
                </a:solidFill>
                <a:latin typeface="Now Bold"/>
                <a:ea typeface="Now Bold"/>
                <a:cs typeface="Now Bold"/>
                <a:sym typeface="Now Bold"/>
              </a:rPr>
              <a:t>RESET LEAVE ENTITLEMENTS </a:t>
            </a:r>
          </a:p>
        </p:txBody>
      </p:sp>
      <p:sp>
        <p:nvSpPr>
          <p:cNvPr name="TextBox 18" id="18"/>
          <p:cNvSpPr txBox="true"/>
          <p:nvPr/>
        </p:nvSpPr>
        <p:spPr>
          <a:xfrm rot="0">
            <a:off x="9891172" y="3052056"/>
            <a:ext cx="7089431" cy="785262"/>
          </a:xfrm>
          <a:prstGeom prst="rect">
            <a:avLst/>
          </a:prstGeom>
        </p:spPr>
        <p:txBody>
          <a:bodyPr anchor="t" rtlCol="false" tIns="0" lIns="0" bIns="0" rIns="0">
            <a:spAutoFit/>
          </a:bodyPr>
          <a:lstStyle/>
          <a:p>
            <a:pPr algn="l">
              <a:lnSpc>
                <a:spcPts val="3195"/>
              </a:lnSpc>
            </a:pPr>
            <a:r>
              <a:rPr lang="en-US" sz="2315" b="true">
                <a:solidFill>
                  <a:srgbClr val="FFFFFF"/>
                </a:solidFill>
                <a:latin typeface="DM Sans Bold"/>
                <a:ea typeface="DM Sans Bold"/>
                <a:cs typeface="DM Sans Bold"/>
                <a:sym typeface="DM Sans Bold"/>
              </a:rPr>
              <a:t>LEAVE ENTITLEMENTS:</a:t>
            </a:r>
          </a:p>
          <a:p>
            <a:pPr algn="l" marL="0" indent="0" lvl="0">
              <a:lnSpc>
                <a:spcPts val="3195"/>
              </a:lnSpc>
              <a:spcBef>
                <a:spcPct val="0"/>
              </a:spcBef>
            </a:pPr>
            <a:r>
              <a:rPr lang="en-US" b="true" sz="2315">
                <a:solidFill>
                  <a:srgbClr val="FFFFFF"/>
                </a:solidFill>
                <a:latin typeface="DM Sans Bold"/>
                <a:ea typeface="DM Sans Bold"/>
                <a:cs typeface="DM Sans Bold"/>
                <a:sym typeface="DM Sans Bold"/>
              </a:rPr>
              <a:t>CARRY OVER ELEMENT</a:t>
            </a:r>
          </a:p>
        </p:txBody>
      </p:sp>
      <p:sp>
        <p:nvSpPr>
          <p:cNvPr name="TextBox 19" id="19"/>
          <p:cNvSpPr txBox="true"/>
          <p:nvPr/>
        </p:nvSpPr>
        <p:spPr>
          <a:xfrm rot="0">
            <a:off x="9659558" y="4122463"/>
            <a:ext cx="7149595" cy="1321869"/>
          </a:xfrm>
          <a:prstGeom prst="rect">
            <a:avLst/>
          </a:prstGeom>
        </p:spPr>
        <p:txBody>
          <a:bodyPr anchor="t" rtlCol="false" tIns="0" lIns="0" bIns="0" rIns="0">
            <a:spAutoFit/>
          </a:bodyPr>
          <a:lstStyle/>
          <a:p>
            <a:pPr algn="just" marL="559640" indent="-279820" lvl="1">
              <a:lnSpc>
                <a:spcPts val="3577"/>
              </a:lnSpc>
              <a:spcBef>
                <a:spcPct val="0"/>
              </a:spcBef>
              <a:buFont typeface="Arial"/>
              <a:buChar char="•"/>
            </a:pPr>
            <a:r>
              <a:rPr lang="en-US" sz="2592">
                <a:solidFill>
                  <a:srgbClr val="FFFFFF"/>
                </a:solidFill>
                <a:latin typeface="DM Sans"/>
                <a:ea typeface="DM Sans"/>
                <a:cs typeface="DM Sans"/>
                <a:sym typeface="DM Sans"/>
              </a:rPr>
              <a:t>The employee balance was 5 days in 1/1/25</a:t>
            </a:r>
          </a:p>
          <a:p>
            <a:pPr algn="just" marL="559640" indent="-279820" lvl="1">
              <a:lnSpc>
                <a:spcPts val="3577"/>
              </a:lnSpc>
              <a:spcBef>
                <a:spcPct val="0"/>
              </a:spcBef>
              <a:buFont typeface="Arial"/>
              <a:buChar char="•"/>
            </a:pPr>
            <a:r>
              <a:rPr lang="en-US" sz="2592" strike="noStrike" u="none">
                <a:solidFill>
                  <a:srgbClr val="FFFFFF"/>
                </a:solidFill>
                <a:latin typeface="DM Sans"/>
                <a:ea typeface="DM Sans"/>
                <a:cs typeface="DM Sans"/>
                <a:sym typeface="DM Sans"/>
              </a:rPr>
              <a:t>It expires by , March 31</a:t>
            </a:r>
          </a:p>
          <a:p>
            <a:pPr algn="just" marL="559640" indent="-279820" lvl="1">
              <a:lnSpc>
                <a:spcPts val="3577"/>
              </a:lnSpc>
              <a:spcBef>
                <a:spcPct val="0"/>
              </a:spcBef>
              <a:buFont typeface="Arial"/>
              <a:buChar char="•"/>
            </a:pPr>
            <a:r>
              <a:rPr lang="en-US" sz="2592" strike="noStrike" u="none">
                <a:solidFill>
                  <a:srgbClr val="FFFFFF"/>
                </a:solidFill>
                <a:latin typeface="DM Sans"/>
                <a:ea typeface="DM Sans"/>
                <a:cs typeface="DM Sans"/>
                <a:sym typeface="DM Sans"/>
              </a:rPr>
              <a:t>So at 1/4/25  the balance is 0</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34</a:t>
            </a:r>
          </a:p>
        </p:txBody>
      </p:sp>
      <p:sp>
        <p:nvSpPr>
          <p:cNvPr name="TextBox 21" id="21"/>
          <p:cNvSpPr txBox="true"/>
          <p:nvPr/>
        </p:nvSpPr>
        <p:spPr>
          <a:xfrm rot="0">
            <a:off x="4964377" y="4475038"/>
            <a:ext cx="161032" cy="285750"/>
          </a:xfrm>
          <a:prstGeom prst="rect">
            <a:avLst/>
          </a:prstGeom>
        </p:spPr>
        <p:txBody>
          <a:bodyPr anchor="t" rtlCol="false" tIns="0" lIns="0" bIns="0" rIns="0">
            <a:spAutoFit/>
          </a:bodyPr>
          <a:lstStyle/>
          <a:p>
            <a:pPr algn="ctr">
              <a:lnSpc>
                <a:spcPts val="2305"/>
              </a:lnSpc>
              <a:spcBef>
                <a:spcPct val="0"/>
              </a:spcBef>
            </a:pPr>
            <a:r>
              <a:rPr lang="en-US" sz="1921">
                <a:solidFill>
                  <a:srgbClr val="737373"/>
                </a:solidFill>
                <a:latin typeface="Open Sauce"/>
                <a:ea typeface="Open Sauce"/>
                <a:cs typeface="Open Sauce"/>
                <a:sym typeface="Open Sauce"/>
              </a:rPr>
              <a:t>0</a:t>
            </a:r>
          </a:p>
        </p:txBody>
      </p:sp>
      <p:grpSp>
        <p:nvGrpSpPr>
          <p:cNvPr name="Group 22" id="22"/>
          <p:cNvGrpSpPr/>
          <p:nvPr/>
        </p:nvGrpSpPr>
        <p:grpSpPr>
          <a:xfrm rot="0">
            <a:off x="389572" y="2466269"/>
            <a:ext cx="830580" cy="681038"/>
            <a:chOff x="0" y="0"/>
            <a:chExt cx="1107440" cy="908050"/>
          </a:xfrm>
        </p:grpSpPr>
        <p:sp>
          <p:nvSpPr>
            <p:cNvPr name="Freeform 23" id="23"/>
            <p:cNvSpPr/>
            <p:nvPr/>
          </p:nvSpPr>
          <p:spPr>
            <a:xfrm flipH="false" flipV="false" rot="0">
              <a:off x="48260" y="49530"/>
              <a:ext cx="1010920" cy="808990"/>
            </a:xfrm>
            <a:custGeom>
              <a:avLst/>
              <a:gdLst/>
              <a:ahLst/>
              <a:cxnLst/>
              <a:rect r="r" b="b" t="t" l="l"/>
              <a:pathLst>
                <a:path h="808990" w="1010920">
                  <a:moveTo>
                    <a:pt x="539750" y="317500"/>
                  </a:moveTo>
                  <a:cubicBezTo>
                    <a:pt x="250190" y="474980"/>
                    <a:pt x="241300" y="471170"/>
                    <a:pt x="236220" y="464820"/>
                  </a:cubicBezTo>
                  <a:cubicBezTo>
                    <a:pt x="232410" y="457200"/>
                    <a:pt x="232410" y="443230"/>
                    <a:pt x="240030" y="430530"/>
                  </a:cubicBezTo>
                  <a:cubicBezTo>
                    <a:pt x="256540" y="400050"/>
                    <a:pt x="340360" y="346710"/>
                    <a:pt x="392430" y="311150"/>
                  </a:cubicBezTo>
                  <a:cubicBezTo>
                    <a:pt x="443230" y="274320"/>
                    <a:pt x="510540" y="234950"/>
                    <a:pt x="549910" y="213360"/>
                  </a:cubicBezTo>
                  <a:cubicBezTo>
                    <a:pt x="571500" y="201930"/>
                    <a:pt x="590550" y="185420"/>
                    <a:pt x="604520" y="189230"/>
                  </a:cubicBezTo>
                  <a:cubicBezTo>
                    <a:pt x="614680" y="191770"/>
                    <a:pt x="628650" y="205740"/>
                    <a:pt x="627380" y="218440"/>
                  </a:cubicBezTo>
                  <a:cubicBezTo>
                    <a:pt x="622300" y="265430"/>
                    <a:pt x="363220" y="420370"/>
                    <a:pt x="295910" y="482600"/>
                  </a:cubicBezTo>
                  <a:cubicBezTo>
                    <a:pt x="262890" y="511810"/>
                    <a:pt x="245110" y="546100"/>
                    <a:pt x="226060" y="553720"/>
                  </a:cubicBezTo>
                  <a:cubicBezTo>
                    <a:pt x="217170" y="557530"/>
                    <a:pt x="209550" y="558800"/>
                    <a:pt x="203200" y="554990"/>
                  </a:cubicBezTo>
                  <a:cubicBezTo>
                    <a:pt x="195580" y="551180"/>
                    <a:pt x="187960" y="539750"/>
                    <a:pt x="187960" y="530860"/>
                  </a:cubicBezTo>
                  <a:cubicBezTo>
                    <a:pt x="189230" y="514350"/>
                    <a:pt x="208280" y="497840"/>
                    <a:pt x="233680" y="471170"/>
                  </a:cubicBezTo>
                  <a:cubicBezTo>
                    <a:pt x="304800" y="396240"/>
                    <a:pt x="609600" y="137160"/>
                    <a:pt x="681990" y="93980"/>
                  </a:cubicBezTo>
                  <a:cubicBezTo>
                    <a:pt x="702310" y="81280"/>
                    <a:pt x="715010" y="72390"/>
                    <a:pt x="725170" y="76200"/>
                  </a:cubicBezTo>
                  <a:cubicBezTo>
                    <a:pt x="734060" y="78740"/>
                    <a:pt x="745490" y="93980"/>
                    <a:pt x="742950" y="109220"/>
                  </a:cubicBezTo>
                  <a:cubicBezTo>
                    <a:pt x="732790" y="161290"/>
                    <a:pt x="515620" y="303530"/>
                    <a:pt x="412750" y="400050"/>
                  </a:cubicBezTo>
                  <a:cubicBezTo>
                    <a:pt x="318770" y="490220"/>
                    <a:pt x="198120" y="652780"/>
                    <a:pt x="149860" y="666750"/>
                  </a:cubicBezTo>
                  <a:cubicBezTo>
                    <a:pt x="135890" y="671830"/>
                    <a:pt x="121920" y="666750"/>
                    <a:pt x="116840" y="660400"/>
                  </a:cubicBezTo>
                  <a:cubicBezTo>
                    <a:pt x="111760" y="652780"/>
                    <a:pt x="111760" y="641350"/>
                    <a:pt x="119380" y="626110"/>
                  </a:cubicBezTo>
                  <a:cubicBezTo>
                    <a:pt x="152400" y="560070"/>
                    <a:pt x="480060" y="289560"/>
                    <a:pt x="596900" y="195580"/>
                  </a:cubicBezTo>
                  <a:cubicBezTo>
                    <a:pt x="659130" y="143510"/>
                    <a:pt x="716280" y="91440"/>
                    <a:pt x="748030" y="85090"/>
                  </a:cubicBezTo>
                  <a:cubicBezTo>
                    <a:pt x="760730" y="82550"/>
                    <a:pt x="770890" y="85090"/>
                    <a:pt x="777240" y="90170"/>
                  </a:cubicBezTo>
                  <a:cubicBezTo>
                    <a:pt x="782320" y="96520"/>
                    <a:pt x="786130" y="106680"/>
                    <a:pt x="781050" y="119380"/>
                  </a:cubicBezTo>
                  <a:cubicBezTo>
                    <a:pt x="759460" y="175260"/>
                    <a:pt x="469900" y="375920"/>
                    <a:pt x="355600" y="477520"/>
                  </a:cubicBezTo>
                  <a:cubicBezTo>
                    <a:pt x="275590" y="548640"/>
                    <a:pt x="214630" y="605790"/>
                    <a:pt x="157480" y="665480"/>
                  </a:cubicBezTo>
                  <a:cubicBezTo>
                    <a:pt x="111760" y="713740"/>
                    <a:pt x="67310" y="795020"/>
                    <a:pt x="39370" y="805180"/>
                  </a:cubicBezTo>
                  <a:cubicBezTo>
                    <a:pt x="27940" y="808990"/>
                    <a:pt x="16510" y="806450"/>
                    <a:pt x="10160" y="800100"/>
                  </a:cubicBezTo>
                  <a:cubicBezTo>
                    <a:pt x="5080" y="793750"/>
                    <a:pt x="2540" y="782320"/>
                    <a:pt x="7620" y="765810"/>
                  </a:cubicBezTo>
                  <a:cubicBezTo>
                    <a:pt x="38100" y="689610"/>
                    <a:pt x="476250" y="307340"/>
                    <a:pt x="588010" y="215900"/>
                  </a:cubicBezTo>
                  <a:cubicBezTo>
                    <a:pt x="631190" y="181610"/>
                    <a:pt x="659130" y="152400"/>
                    <a:pt x="680720" y="151130"/>
                  </a:cubicBezTo>
                  <a:cubicBezTo>
                    <a:pt x="692150" y="149860"/>
                    <a:pt x="702310" y="156210"/>
                    <a:pt x="707390" y="163830"/>
                  </a:cubicBezTo>
                  <a:cubicBezTo>
                    <a:pt x="711200" y="170180"/>
                    <a:pt x="711200" y="179070"/>
                    <a:pt x="704850" y="191770"/>
                  </a:cubicBezTo>
                  <a:cubicBezTo>
                    <a:pt x="674370" y="251460"/>
                    <a:pt x="359410" y="472440"/>
                    <a:pt x="243840" y="580390"/>
                  </a:cubicBezTo>
                  <a:cubicBezTo>
                    <a:pt x="167640" y="650240"/>
                    <a:pt x="101600" y="753110"/>
                    <a:pt x="64770" y="762000"/>
                  </a:cubicBezTo>
                  <a:cubicBezTo>
                    <a:pt x="50800" y="765810"/>
                    <a:pt x="36830" y="759460"/>
                    <a:pt x="31750" y="751840"/>
                  </a:cubicBezTo>
                  <a:cubicBezTo>
                    <a:pt x="27940" y="745490"/>
                    <a:pt x="27940" y="736600"/>
                    <a:pt x="34290" y="723900"/>
                  </a:cubicBezTo>
                  <a:cubicBezTo>
                    <a:pt x="62230" y="666750"/>
                    <a:pt x="317500" y="476250"/>
                    <a:pt x="453390" y="367030"/>
                  </a:cubicBezTo>
                  <a:cubicBezTo>
                    <a:pt x="576580" y="266700"/>
                    <a:pt x="723900" y="151130"/>
                    <a:pt x="812800" y="92710"/>
                  </a:cubicBezTo>
                  <a:cubicBezTo>
                    <a:pt x="862330" y="60960"/>
                    <a:pt x="906780" y="25400"/>
                    <a:pt x="930910" y="26670"/>
                  </a:cubicBezTo>
                  <a:cubicBezTo>
                    <a:pt x="942340" y="26670"/>
                    <a:pt x="952500" y="34290"/>
                    <a:pt x="955040" y="41910"/>
                  </a:cubicBezTo>
                  <a:cubicBezTo>
                    <a:pt x="958850" y="48260"/>
                    <a:pt x="957580" y="57150"/>
                    <a:pt x="949960" y="69850"/>
                  </a:cubicBezTo>
                  <a:cubicBezTo>
                    <a:pt x="915670" y="121920"/>
                    <a:pt x="636270" y="288290"/>
                    <a:pt x="514350" y="381000"/>
                  </a:cubicBezTo>
                  <a:cubicBezTo>
                    <a:pt x="424180" y="450850"/>
                    <a:pt x="354330" y="504190"/>
                    <a:pt x="281940" y="570230"/>
                  </a:cubicBezTo>
                  <a:cubicBezTo>
                    <a:pt x="210820" y="635000"/>
                    <a:pt x="121920" y="762000"/>
                    <a:pt x="83820" y="770890"/>
                  </a:cubicBezTo>
                  <a:cubicBezTo>
                    <a:pt x="72390" y="773430"/>
                    <a:pt x="60960" y="767080"/>
                    <a:pt x="57150" y="760730"/>
                  </a:cubicBezTo>
                  <a:cubicBezTo>
                    <a:pt x="52070" y="754380"/>
                    <a:pt x="50800" y="744220"/>
                    <a:pt x="55880" y="731520"/>
                  </a:cubicBezTo>
                  <a:cubicBezTo>
                    <a:pt x="71120" y="692150"/>
                    <a:pt x="191770" y="581660"/>
                    <a:pt x="250190" y="521970"/>
                  </a:cubicBezTo>
                  <a:cubicBezTo>
                    <a:pt x="295910" y="476250"/>
                    <a:pt x="321310" y="450850"/>
                    <a:pt x="378460" y="402590"/>
                  </a:cubicBezTo>
                  <a:cubicBezTo>
                    <a:pt x="477520" y="317500"/>
                    <a:pt x="707390" y="134620"/>
                    <a:pt x="803910" y="67310"/>
                  </a:cubicBezTo>
                  <a:cubicBezTo>
                    <a:pt x="852170" y="34290"/>
                    <a:pt x="890270" y="2540"/>
                    <a:pt x="915670" y="1270"/>
                  </a:cubicBezTo>
                  <a:cubicBezTo>
                    <a:pt x="928370" y="0"/>
                    <a:pt x="942340" y="7620"/>
                    <a:pt x="946150" y="15240"/>
                  </a:cubicBezTo>
                  <a:cubicBezTo>
                    <a:pt x="949960" y="22860"/>
                    <a:pt x="947420" y="30480"/>
                    <a:pt x="939800" y="43180"/>
                  </a:cubicBezTo>
                  <a:cubicBezTo>
                    <a:pt x="904240" y="102870"/>
                    <a:pt x="595630" y="318770"/>
                    <a:pt x="455930" y="440690"/>
                  </a:cubicBezTo>
                  <a:cubicBezTo>
                    <a:pt x="344170" y="537210"/>
                    <a:pt x="207010" y="688340"/>
                    <a:pt x="162560" y="708660"/>
                  </a:cubicBezTo>
                  <a:cubicBezTo>
                    <a:pt x="151130" y="713740"/>
                    <a:pt x="144780" y="713740"/>
                    <a:pt x="138430" y="711200"/>
                  </a:cubicBezTo>
                  <a:cubicBezTo>
                    <a:pt x="132080" y="708660"/>
                    <a:pt x="124460" y="699770"/>
                    <a:pt x="123190" y="693420"/>
                  </a:cubicBezTo>
                  <a:cubicBezTo>
                    <a:pt x="121920" y="685800"/>
                    <a:pt x="121920" y="680720"/>
                    <a:pt x="129540" y="670560"/>
                  </a:cubicBezTo>
                  <a:cubicBezTo>
                    <a:pt x="173990" y="601980"/>
                    <a:pt x="774700" y="121920"/>
                    <a:pt x="867410" y="96520"/>
                  </a:cubicBezTo>
                  <a:cubicBezTo>
                    <a:pt x="886460" y="91440"/>
                    <a:pt x="899160" y="95250"/>
                    <a:pt x="904240" y="102870"/>
                  </a:cubicBezTo>
                  <a:cubicBezTo>
                    <a:pt x="909320" y="109220"/>
                    <a:pt x="908050" y="121920"/>
                    <a:pt x="900430" y="135890"/>
                  </a:cubicBezTo>
                  <a:cubicBezTo>
                    <a:pt x="868680" y="189230"/>
                    <a:pt x="642620" y="330200"/>
                    <a:pt x="528320" y="426720"/>
                  </a:cubicBezTo>
                  <a:cubicBezTo>
                    <a:pt x="425450" y="514350"/>
                    <a:pt x="290830" y="664210"/>
                    <a:pt x="242570" y="687070"/>
                  </a:cubicBezTo>
                  <a:cubicBezTo>
                    <a:pt x="229870" y="693420"/>
                    <a:pt x="222250" y="694690"/>
                    <a:pt x="214630" y="692150"/>
                  </a:cubicBezTo>
                  <a:cubicBezTo>
                    <a:pt x="208280" y="689610"/>
                    <a:pt x="201930" y="680720"/>
                    <a:pt x="200660" y="674370"/>
                  </a:cubicBezTo>
                  <a:cubicBezTo>
                    <a:pt x="199390" y="666750"/>
                    <a:pt x="200660" y="661670"/>
                    <a:pt x="207010" y="651510"/>
                  </a:cubicBezTo>
                  <a:cubicBezTo>
                    <a:pt x="242570" y="599440"/>
                    <a:pt x="523240" y="373380"/>
                    <a:pt x="652780" y="273050"/>
                  </a:cubicBezTo>
                  <a:cubicBezTo>
                    <a:pt x="746760" y="198120"/>
                    <a:pt x="861060" y="101600"/>
                    <a:pt x="906780" y="90170"/>
                  </a:cubicBezTo>
                  <a:cubicBezTo>
                    <a:pt x="922020" y="87630"/>
                    <a:pt x="934720" y="90170"/>
                    <a:pt x="939800" y="96520"/>
                  </a:cubicBezTo>
                  <a:cubicBezTo>
                    <a:pt x="944880" y="102870"/>
                    <a:pt x="946150" y="115570"/>
                    <a:pt x="938530" y="129540"/>
                  </a:cubicBezTo>
                  <a:cubicBezTo>
                    <a:pt x="909320" y="186690"/>
                    <a:pt x="654050" y="349250"/>
                    <a:pt x="528320" y="455930"/>
                  </a:cubicBezTo>
                  <a:cubicBezTo>
                    <a:pt x="416560" y="549910"/>
                    <a:pt x="271780" y="718820"/>
                    <a:pt x="218440" y="734060"/>
                  </a:cubicBezTo>
                  <a:cubicBezTo>
                    <a:pt x="204470" y="739140"/>
                    <a:pt x="191770" y="735330"/>
                    <a:pt x="185420" y="728980"/>
                  </a:cubicBezTo>
                  <a:cubicBezTo>
                    <a:pt x="180340" y="722630"/>
                    <a:pt x="179070" y="711200"/>
                    <a:pt x="186690" y="695960"/>
                  </a:cubicBezTo>
                  <a:cubicBezTo>
                    <a:pt x="223520" y="619760"/>
                    <a:pt x="693420" y="247650"/>
                    <a:pt x="800100" y="171450"/>
                  </a:cubicBezTo>
                  <a:cubicBezTo>
                    <a:pt x="834390" y="147320"/>
                    <a:pt x="853440" y="129540"/>
                    <a:pt x="872490" y="129540"/>
                  </a:cubicBezTo>
                  <a:cubicBezTo>
                    <a:pt x="882650" y="129540"/>
                    <a:pt x="894080" y="135890"/>
                    <a:pt x="896620" y="143510"/>
                  </a:cubicBezTo>
                  <a:cubicBezTo>
                    <a:pt x="900430" y="149860"/>
                    <a:pt x="900430" y="158750"/>
                    <a:pt x="892810" y="171450"/>
                  </a:cubicBezTo>
                  <a:cubicBezTo>
                    <a:pt x="853440" y="242570"/>
                    <a:pt x="314960" y="657860"/>
                    <a:pt x="245110" y="692150"/>
                  </a:cubicBezTo>
                  <a:cubicBezTo>
                    <a:pt x="233680" y="698500"/>
                    <a:pt x="228600" y="699770"/>
                    <a:pt x="222250" y="698500"/>
                  </a:cubicBezTo>
                  <a:cubicBezTo>
                    <a:pt x="215900" y="697230"/>
                    <a:pt x="207010" y="689610"/>
                    <a:pt x="204470" y="683260"/>
                  </a:cubicBezTo>
                  <a:cubicBezTo>
                    <a:pt x="201930" y="675640"/>
                    <a:pt x="203200" y="666750"/>
                    <a:pt x="210820" y="655320"/>
                  </a:cubicBezTo>
                  <a:cubicBezTo>
                    <a:pt x="243840" y="600710"/>
                    <a:pt x="495300" y="407670"/>
                    <a:pt x="612140" y="316230"/>
                  </a:cubicBezTo>
                  <a:cubicBezTo>
                    <a:pt x="695960" y="248920"/>
                    <a:pt x="787400" y="177800"/>
                    <a:pt x="836930" y="149860"/>
                  </a:cubicBezTo>
                  <a:cubicBezTo>
                    <a:pt x="859790" y="137160"/>
                    <a:pt x="877570" y="124460"/>
                    <a:pt x="890270" y="127000"/>
                  </a:cubicBezTo>
                  <a:cubicBezTo>
                    <a:pt x="899160" y="129540"/>
                    <a:pt x="908050" y="140970"/>
                    <a:pt x="909320" y="148590"/>
                  </a:cubicBezTo>
                  <a:cubicBezTo>
                    <a:pt x="910590" y="156210"/>
                    <a:pt x="906780" y="162560"/>
                    <a:pt x="900430" y="171450"/>
                  </a:cubicBezTo>
                  <a:cubicBezTo>
                    <a:pt x="883920" y="191770"/>
                    <a:pt x="830580" y="210820"/>
                    <a:pt x="778510" y="248920"/>
                  </a:cubicBezTo>
                  <a:cubicBezTo>
                    <a:pt x="675640" y="322580"/>
                    <a:pt x="407670" y="576580"/>
                    <a:pt x="332740" y="612140"/>
                  </a:cubicBezTo>
                  <a:cubicBezTo>
                    <a:pt x="309880" y="622300"/>
                    <a:pt x="293370" y="626110"/>
                    <a:pt x="284480" y="619760"/>
                  </a:cubicBezTo>
                  <a:cubicBezTo>
                    <a:pt x="278130" y="615950"/>
                    <a:pt x="275590" y="604520"/>
                    <a:pt x="278130" y="594360"/>
                  </a:cubicBezTo>
                  <a:cubicBezTo>
                    <a:pt x="284480" y="568960"/>
                    <a:pt x="339090" y="524510"/>
                    <a:pt x="381000" y="486410"/>
                  </a:cubicBezTo>
                  <a:cubicBezTo>
                    <a:pt x="440690" y="433070"/>
                    <a:pt x="542290" y="354330"/>
                    <a:pt x="607060" y="313690"/>
                  </a:cubicBezTo>
                  <a:cubicBezTo>
                    <a:pt x="650240" y="287020"/>
                    <a:pt x="683260" y="271780"/>
                    <a:pt x="721360" y="255270"/>
                  </a:cubicBezTo>
                  <a:cubicBezTo>
                    <a:pt x="758190" y="240030"/>
                    <a:pt x="805180" y="222250"/>
                    <a:pt x="834390" y="218440"/>
                  </a:cubicBezTo>
                  <a:cubicBezTo>
                    <a:pt x="850900" y="215900"/>
                    <a:pt x="867410" y="213360"/>
                    <a:pt x="875030" y="219710"/>
                  </a:cubicBezTo>
                  <a:cubicBezTo>
                    <a:pt x="881380" y="227330"/>
                    <a:pt x="883920" y="245110"/>
                    <a:pt x="876300" y="257810"/>
                  </a:cubicBezTo>
                  <a:cubicBezTo>
                    <a:pt x="858520" y="287020"/>
                    <a:pt x="763270" y="307340"/>
                    <a:pt x="698500" y="342900"/>
                  </a:cubicBezTo>
                  <a:cubicBezTo>
                    <a:pt x="613410" y="388620"/>
                    <a:pt x="463550" y="514350"/>
                    <a:pt x="417830" y="515620"/>
                  </a:cubicBezTo>
                  <a:cubicBezTo>
                    <a:pt x="402590" y="515620"/>
                    <a:pt x="391160" y="506730"/>
                    <a:pt x="387350" y="499110"/>
                  </a:cubicBezTo>
                  <a:cubicBezTo>
                    <a:pt x="384810" y="491490"/>
                    <a:pt x="387350" y="482600"/>
                    <a:pt x="396240" y="471170"/>
                  </a:cubicBezTo>
                  <a:cubicBezTo>
                    <a:pt x="421640" y="434340"/>
                    <a:pt x="551180" y="340360"/>
                    <a:pt x="636270" y="293370"/>
                  </a:cubicBezTo>
                  <a:cubicBezTo>
                    <a:pt x="717550" y="248920"/>
                    <a:pt x="830580" y="213360"/>
                    <a:pt x="890270" y="193040"/>
                  </a:cubicBezTo>
                  <a:cubicBezTo>
                    <a:pt x="922020" y="182880"/>
                    <a:pt x="953770" y="166370"/>
                    <a:pt x="962660" y="172720"/>
                  </a:cubicBezTo>
                  <a:cubicBezTo>
                    <a:pt x="967740" y="177800"/>
                    <a:pt x="960120" y="200660"/>
                    <a:pt x="962660" y="200660"/>
                  </a:cubicBezTo>
                  <a:cubicBezTo>
                    <a:pt x="963930" y="201930"/>
                    <a:pt x="970280" y="172720"/>
                    <a:pt x="977900" y="170180"/>
                  </a:cubicBezTo>
                  <a:cubicBezTo>
                    <a:pt x="984250" y="167640"/>
                    <a:pt x="1000760" y="172720"/>
                    <a:pt x="1004570" y="179070"/>
                  </a:cubicBezTo>
                  <a:cubicBezTo>
                    <a:pt x="1009650" y="186690"/>
                    <a:pt x="1009650" y="199390"/>
                    <a:pt x="1004570" y="208280"/>
                  </a:cubicBezTo>
                  <a:cubicBezTo>
                    <a:pt x="999490" y="219710"/>
                    <a:pt x="984250" y="228600"/>
                    <a:pt x="966470" y="238760"/>
                  </a:cubicBezTo>
                  <a:cubicBezTo>
                    <a:pt x="934720" y="255270"/>
                    <a:pt x="871220" y="269240"/>
                    <a:pt x="826770" y="288290"/>
                  </a:cubicBezTo>
                  <a:cubicBezTo>
                    <a:pt x="782320" y="308610"/>
                    <a:pt x="715010" y="364490"/>
                    <a:pt x="695960" y="356870"/>
                  </a:cubicBezTo>
                  <a:cubicBezTo>
                    <a:pt x="687070" y="353060"/>
                    <a:pt x="681990" y="336550"/>
                    <a:pt x="684530" y="325120"/>
                  </a:cubicBezTo>
                  <a:cubicBezTo>
                    <a:pt x="688340" y="311150"/>
                    <a:pt x="708660" y="295910"/>
                    <a:pt x="727710" y="281940"/>
                  </a:cubicBezTo>
                  <a:cubicBezTo>
                    <a:pt x="756920" y="262890"/>
                    <a:pt x="825500" y="229870"/>
                    <a:pt x="849630" y="229870"/>
                  </a:cubicBezTo>
                  <a:cubicBezTo>
                    <a:pt x="859790" y="229870"/>
                    <a:pt x="867410" y="233680"/>
                    <a:pt x="871220" y="240030"/>
                  </a:cubicBezTo>
                  <a:cubicBezTo>
                    <a:pt x="875030" y="246380"/>
                    <a:pt x="876300" y="262890"/>
                    <a:pt x="871220" y="270510"/>
                  </a:cubicBezTo>
                  <a:cubicBezTo>
                    <a:pt x="867410" y="276860"/>
                    <a:pt x="857250" y="280670"/>
                    <a:pt x="849630" y="280670"/>
                  </a:cubicBezTo>
                  <a:cubicBezTo>
                    <a:pt x="843280" y="280670"/>
                    <a:pt x="833120" y="274320"/>
                    <a:pt x="829310" y="267970"/>
                  </a:cubicBezTo>
                  <a:cubicBezTo>
                    <a:pt x="825500" y="262890"/>
                    <a:pt x="824230" y="251460"/>
                    <a:pt x="828040" y="245110"/>
                  </a:cubicBezTo>
                  <a:cubicBezTo>
                    <a:pt x="831850" y="237490"/>
                    <a:pt x="847090" y="229870"/>
                    <a:pt x="854710" y="229870"/>
                  </a:cubicBezTo>
                  <a:cubicBezTo>
                    <a:pt x="862330" y="231140"/>
                    <a:pt x="871220" y="237490"/>
                    <a:pt x="873760" y="243840"/>
                  </a:cubicBezTo>
                  <a:cubicBezTo>
                    <a:pt x="877570" y="250190"/>
                    <a:pt x="878840" y="259080"/>
                    <a:pt x="872490" y="267970"/>
                  </a:cubicBezTo>
                  <a:cubicBezTo>
                    <a:pt x="855980" y="294640"/>
                    <a:pt x="712470" y="375920"/>
                    <a:pt x="678180" y="369570"/>
                  </a:cubicBezTo>
                  <a:cubicBezTo>
                    <a:pt x="664210" y="367030"/>
                    <a:pt x="654050" y="350520"/>
                    <a:pt x="652780" y="340360"/>
                  </a:cubicBezTo>
                  <a:cubicBezTo>
                    <a:pt x="652780" y="332740"/>
                    <a:pt x="659130" y="323850"/>
                    <a:pt x="666750" y="316230"/>
                  </a:cubicBezTo>
                  <a:cubicBezTo>
                    <a:pt x="683260" y="299720"/>
                    <a:pt x="722630" y="283210"/>
                    <a:pt x="760730" y="264160"/>
                  </a:cubicBezTo>
                  <a:cubicBezTo>
                    <a:pt x="816610" y="236220"/>
                    <a:pt x="938530" y="168910"/>
                    <a:pt x="977900" y="170180"/>
                  </a:cubicBezTo>
                  <a:cubicBezTo>
                    <a:pt x="991870" y="170180"/>
                    <a:pt x="1004570" y="177800"/>
                    <a:pt x="1007110" y="185420"/>
                  </a:cubicBezTo>
                  <a:cubicBezTo>
                    <a:pt x="1010920" y="191770"/>
                    <a:pt x="1000760" y="213360"/>
                    <a:pt x="1000760" y="213360"/>
                  </a:cubicBezTo>
                  <a:cubicBezTo>
                    <a:pt x="1000760" y="213360"/>
                    <a:pt x="1008380" y="190500"/>
                    <a:pt x="1007110" y="189230"/>
                  </a:cubicBezTo>
                  <a:cubicBezTo>
                    <a:pt x="1003300" y="187960"/>
                    <a:pt x="991870" y="212090"/>
                    <a:pt x="972820" y="223520"/>
                  </a:cubicBezTo>
                  <a:cubicBezTo>
                    <a:pt x="929640" y="248920"/>
                    <a:pt x="792480" y="273050"/>
                    <a:pt x="726440" y="302260"/>
                  </a:cubicBezTo>
                  <a:cubicBezTo>
                    <a:pt x="679450" y="323850"/>
                    <a:pt x="652780" y="342900"/>
                    <a:pt x="610870" y="370840"/>
                  </a:cubicBezTo>
                  <a:cubicBezTo>
                    <a:pt x="554990" y="408940"/>
                    <a:pt x="459740" y="504190"/>
                    <a:pt x="422910" y="513080"/>
                  </a:cubicBezTo>
                  <a:cubicBezTo>
                    <a:pt x="410210" y="516890"/>
                    <a:pt x="400050" y="514350"/>
                    <a:pt x="394970" y="509270"/>
                  </a:cubicBezTo>
                  <a:cubicBezTo>
                    <a:pt x="388620" y="502920"/>
                    <a:pt x="386080" y="487680"/>
                    <a:pt x="391160" y="474980"/>
                  </a:cubicBezTo>
                  <a:cubicBezTo>
                    <a:pt x="405130" y="447040"/>
                    <a:pt x="485140" y="408940"/>
                    <a:pt x="543560" y="373380"/>
                  </a:cubicBezTo>
                  <a:cubicBezTo>
                    <a:pt x="621030" y="326390"/>
                    <a:pt x="759460" y="245110"/>
                    <a:pt x="815340" y="226060"/>
                  </a:cubicBezTo>
                  <a:cubicBezTo>
                    <a:pt x="839470" y="217170"/>
                    <a:pt x="858520" y="212090"/>
                    <a:pt x="869950" y="217170"/>
                  </a:cubicBezTo>
                  <a:cubicBezTo>
                    <a:pt x="877570" y="219710"/>
                    <a:pt x="882650" y="228600"/>
                    <a:pt x="883920" y="236220"/>
                  </a:cubicBezTo>
                  <a:cubicBezTo>
                    <a:pt x="885190" y="242570"/>
                    <a:pt x="882650" y="251460"/>
                    <a:pt x="876300" y="257810"/>
                  </a:cubicBezTo>
                  <a:cubicBezTo>
                    <a:pt x="858520" y="275590"/>
                    <a:pt x="784860" y="284480"/>
                    <a:pt x="744220" y="300990"/>
                  </a:cubicBezTo>
                  <a:cubicBezTo>
                    <a:pt x="704850" y="317500"/>
                    <a:pt x="679450" y="327660"/>
                    <a:pt x="635000" y="355600"/>
                  </a:cubicBezTo>
                  <a:cubicBezTo>
                    <a:pt x="554990" y="407670"/>
                    <a:pt x="359410" y="619760"/>
                    <a:pt x="317500" y="610870"/>
                  </a:cubicBezTo>
                  <a:cubicBezTo>
                    <a:pt x="303530" y="608330"/>
                    <a:pt x="295910" y="585470"/>
                    <a:pt x="297180" y="575310"/>
                  </a:cubicBezTo>
                  <a:cubicBezTo>
                    <a:pt x="298450" y="566420"/>
                    <a:pt x="307340" y="563880"/>
                    <a:pt x="321310" y="552450"/>
                  </a:cubicBezTo>
                  <a:cubicBezTo>
                    <a:pt x="381000" y="500380"/>
                    <a:pt x="715010" y="220980"/>
                    <a:pt x="808990" y="162560"/>
                  </a:cubicBezTo>
                  <a:cubicBezTo>
                    <a:pt x="843280" y="140970"/>
                    <a:pt x="866140" y="125730"/>
                    <a:pt x="883920" y="127000"/>
                  </a:cubicBezTo>
                  <a:cubicBezTo>
                    <a:pt x="894080" y="127000"/>
                    <a:pt x="904240" y="135890"/>
                    <a:pt x="908050" y="143510"/>
                  </a:cubicBezTo>
                  <a:cubicBezTo>
                    <a:pt x="910590" y="149860"/>
                    <a:pt x="908050" y="160020"/>
                    <a:pt x="900430" y="171450"/>
                  </a:cubicBezTo>
                  <a:cubicBezTo>
                    <a:pt x="881380" y="198120"/>
                    <a:pt x="810260" y="226060"/>
                    <a:pt x="745490" y="274320"/>
                  </a:cubicBezTo>
                  <a:cubicBezTo>
                    <a:pt x="623570" y="365760"/>
                    <a:pt x="302260" y="694690"/>
                    <a:pt x="234950" y="698500"/>
                  </a:cubicBezTo>
                  <a:cubicBezTo>
                    <a:pt x="218440" y="698500"/>
                    <a:pt x="205740" y="685800"/>
                    <a:pt x="203200" y="676910"/>
                  </a:cubicBezTo>
                  <a:cubicBezTo>
                    <a:pt x="200660" y="668020"/>
                    <a:pt x="208280" y="659130"/>
                    <a:pt x="220980" y="643890"/>
                  </a:cubicBezTo>
                  <a:cubicBezTo>
                    <a:pt x="276860" y="577850"/>
                    <a:pt x="662940" y="276860"/>
                    <a:pt x="773430" y="195580"/>
                  </a:cubicBezTo>
                  <a:cubicBezTo>
                    <a:pt x="817880" y="162560"/>
                    <a:pt x="849630" y="130810"/>
                    <a:pt x="872490" y="129540"/>
                  </a:cubicBezTo>
                  <a:cubicBezTo>
                    <a:pt x="882650" y="129540"/>
                    <a:pt x="894080" y="135890"/>
                    <a:pt x="896620" y="143510"/>
                  </a:cubicBezTo>
                  <a:cubicBezTo>
                    <a:pt x="900430" y="149860"/>
                    <a:pt x="900430" y="161290"/>
                    <a:pt x="892810" y="171450"/>
                  </a:cubicBezTo>
                  <a:cubicBezTo>
                    <a:pt x="877570" y="198120"/>
                    <a:pt x="814070" y="222250"/>
                    <a:pt x="754380" y="269240"/>
                  </a:cubicBezTo>
                  <a:cubicBezTo>
                    <a:pt x="632460" y="364490"/>
                    <a:pt x="288290" y="709930"/>
                    <a:pt x="218440" y="734060"/>
                  </a:cubicBezTo>
                  <a:cubicBezTo>
                    <a:pt x="204470" y="739140"/>
                    <a:pt x="196850" y="737870"/>
                    <a:pt x="190500" y="732790"/>
                  </a:cubicBezTo>
                  <a:cubicBezTo>
                    <a:pt x="184150" y="727710"/>
                    <a:pt x="180340" y="712470"/>
                    <a:pt x="182880" y="701040"/>
                  </a:cubicBezTo>
                  <a:cubicBezTo>
                    <a:pt x="189230" y="681990"/>
                    <a:pt x="213360" y="668020"/>
                    <a:pt x="243840" y="640080"/>
                  </a:cubicBezTo>
                  <a:cubicBezTo>
                    <a:pt x="327660" y="562610"/>
                    <a:pt x="608330" y="320040"/>
                    <a:pt x="732790" y="220980"/>
                  </a:cubicBezTo>
                  <a:cubicBezTo>
                    <a:pt x="806450" y="162560"/>
                    <a:pt x="876300" y="92710"/>
                    <a:pt x="913130" y="87630"/>
                  </a:cubicBezTo>
                  <a:cubicBezTo>
                    <a:pt x="925830" y="86360"/>
                    <a:pt x="939800" y="93980"/>
                    <a:pt x="943610" y="101600"/>
                  </a:cubicBezTo>
                  <a:cubicBezTo>
                    <a:pt x="947420" y="109220"/>
                    <a:pt x="941070" y="123190"/>
                    <a:pt x="930910" y="137160"/>
                  </a:cubicBezTo>
                  <a:cubicBezTo>
                    <a:pt x="900430" y="177800"/>
                    <a:pt x="777240" y="240030"/>
                    <a:pt x="684530" y="312420"/>
                  </a:cubicBezTo>
                  <a:cubicBezTo>
                    <a:pt x="556260" y="411480"/>
                    <a:pt x="300990" y="670560"/>
                    <a:pt x="238760" y="690880"/>
                  </a:cubicBezTo>
                  <a:cubicBezTo>
                    <a:pt x="224790" y="695960"/>
                    <a:pt x="214630" y="694690"/>
                    <a:pt x="209550" y="689610"/>
                  </a:cubicBezTo>
                  <a:cubicBezTo>
                    <a:pt x="203200" y="683260"/>
                    <a:pt x="200660" y="666750"/>
                    <a:pt x="207010" y="651510"/>
                  </a:cubicBezTo>
                  <a:cubicBezTo>
                    <a:pt x="223520" y="610870"/>
                    <a:pt x="317500" y="543560"/>
                    <a:pt x="396240" y="474980"/>
                  </a:cubicBezTo>
                  <a:cubicBezTo>
                    <a:pt x="516890" y="370840"/>
                    <a:pt x="805180" y="107950"/>
                    <a:pt x="872490" y="93980"/>
                  </a:cubicBezTo>
                  <a:cubicBezTo>
                    <a:pt x="887730" y="90170"/>
                    <a:pt x="900430" y="95250"/>
                    <a:pt x="904240" y="102870"/>
                  </a:cubicBezTo>
                  <a:cubicBezTo>
                    <a:pt x="909320" y="109220"/>
                    <a:pt x="909320" y="120650"/>
                    <a:pt x="900430" y="135890"/>
                  </a:cubicBezTo>
                  <a:cubicBezTo>
                    <a:pt x="853440" y="215900"/>
                    <a:pt x="254000" y="689610"/>
                    <a:pt x="162560" y="708660"/>
                  </a:cubicBezTo>
                  <a:cubicBezTo>
                    <a:pt x="143510" y="712470"/>
                    <a:pt x="129540" y="706120"/>
                    <a:pt x="125730" y="698500"/>
                  </a:cubicBezTo>
                  <a:cubicBezTo>
                    <a:pt x="120650" y="689610"/>
                    <a:pt x="132080" y="671830"/>
                    <a:pt x="143510" y="654050"/>
                  </a:cubicBezTo>
                  <a:cubicBezTo>
                    <a:pt x="170180" y="615950"/>
                    <a:pt x="234950" y="566420"/>
                    <a:pt x="307340" y="502920"/>
                  </a:cubicBezTo>
                  <a:cubicBezTo>
                    <a:pt x="443230" y="383540"/>
                    <a:pt x="831850" y="22860"/>
                    <a:pt x="909320" y="3810"/>
                  </a:cubicBezTo>
                  <a:cubicBezTo>
                    <a:pt x="925830" y="0"/>
                    <a:pt x="937260" y="3810"/>
                    <a:pt x="942340" y="10160"/>
                  </a:cubicBezTo>
                  <a:cubicBezTo>
                    <a:pt x="947420" y="16510"/>
                    <a:pt x="947420" y="33020"/>
                    <a:pt x="939800" y="43180"/>
                  </a:cubicBezTo>
                  <a:cubicBezTo>
                    <a:pt x="927100" y="64770"/>
                    <a:pt x="880110" y="76200"/>
                    <a:pt x="835660" y="107950"/>
                  </a:cubicBezTo>
                  <a:cubicBezTo>
                    <a:pt x="740410" y="173990"/>
                    <a:pt x="539750" y="326390"/>
                    <a:pt x="412750" y="440690"/>
                  </a:cubicBezTo>
                  <a:cubicBezTo>
                    <a:pt x="295910" y="544830"/>
                    <a:pt x="146050" y="737870"/>
                    <a:pt x="93980" y="764540"/>
                  </a:cubicBezTo>
                  <a:cubicBezTo>
                    <a:pt x="81280" y="770890"/>
                    <a:pt x="73660" y="772160"/>
                    <a:pt x="66040" y="768350"/>
                  </a:cubicBezTo>
                  <a:cubicBezTo>
                    <a:pt x="59690" y="765810"/>
                    <a:pt x="52070" y="756920"/>
                    <a:pt x="52070" y="749300"/>
                  </a:cubicBezTo>
                  <a:cubicBezTo>
                    <a:pt x="52070" y="736600"/>
                    <a:pt x="64770" y="720090"/>
                    <a:pt x="82550" y="698500"/>
                  </a:cubicBezTo>
                  <a:cubicBezTo>
                    <a:pt x="125730" y="643890"/>
                    <a:pt x="262890" y="523240"/>
                    <a:pt x="355600" y="444500"/>
                  </a:cubicBezTo>
                  <a:cubicBezTo>
                    <a:pt x="444500" y="368300"/>
                    <a:pt x="533400" y="300990"/>
                    <a:pt x="626110" y="232410"/>
                  </a:cubicBezTo>
                  <a:cubicBezTo>
                    <a:pt x="721360" y="162560"/>
                    <a:pt x="871220" y="41910"/>
                    <a:pt x="919480" y="29210"/>
                  </a:cubicBezTo>
                  <a:cubicBezTo>
                    <a:pt x="933450" y="25400"/>
                    <a:pt x="942340" y="26670"/>
                    <a:pt x="948690" y="31750"/>
                  </a:cubicBezTo>
                  <a:cubicBezTo>
                    <a:pt x="955040" y="36830"/>
                    <a:pt x="960120" y="46990"/>
                    <a:pt x="956310" y="59690"/>
                  </a:cubicBezTo>
                  <a:cubicBezTo>
                    <a:pt x="937260" y="114300"/>
                    <a:pt x="635000" y="287020"/>
                    <a:pt x="485140" y="406400"/>
                  </a:cubicBezTo>
                  <a:cubicBezTo>
                    <a:pt x="340360" y="520700"/>
                    <a:pt x="133350" y="737870"/>
                    <a:pt x="69850" y="759460"/>
                  </a:cubicBezTo>
                  <a:cubicBezTo>
                    <a:pt x="53340" y="764540"/>
                    <a:pt x="41910" y="762000"/>
                    <a:pt x="35560" y="756920"/>
                  </a:cubicBezTo>
                  <a:cubicBezTo>
                    <a:pt x="30480" y="751840"/>
                    <a:pt x="27940" y="740410"/>
                    <a:pt x="30480" y="728980"/>
                  </a:cubicBezTo>
                  <a:cubicBezTo>
                    <a:pt x="38100" y="701040"/>
                    <a:pt x="85090" y="657860"/>
                    <a:pt x="135890" y="608330"/>
                  </a:cubicBezTo>
                  <a:cubicBezTo>
                    <a:pt x="237490" y="506730"/>
                    <a:pt x="547370" y="243840"/>
                    <a:pt x="631190" y="184150"/>
                  </a:cubicBezTo>
                  <a:cubicBezTo>
                    <a:pt x="657860" y="165100"/>
                    <a:pt x="673100" y="151130"/>
                    <a:pt x="687070" y="151130"/>
                  </a:cubicBezTo>
                  <a:cubicBezTo>
                    <a:pt x="694690" y="151130"/>
                    <a:pt x="703580" y="157480"/>
                    <a:pt x="707390" y="163830"/>
                  </a:cubicBezTo>
                  <a:cubicBezTo>
                    <a:pt x="709930" y="170180"/>
                    <a:pt x="712470" y="177800"/>
                    <a:pt x="707390" y="186690"/>
                  </a:cubicBezTo>
                  <a:cubicBezTo>
                    <a:pt x="694690" y="217170"/>
                    <a:pt x="605790" y="265430"/>
                    <a:pt x="534670" y="328930"/>
                  </a:cubicBezTo>
                  <a:cubicBezTo>
                    <a:pt x="408940" y="439420"/>
                    <a:pt x="100330" y="802640"/>
                    <a:pt x="33020" y="806450"/>
                  </a:cubicBezTo>
                  <a:cubicBezTo>
                    <a:pt x="17780" y="807720"/>
                    <a:pt x="5080" y="793750"/>
                    <a:pt x="2540" y="783590"/>
                  </a:cubicBezTo>
                  <a:cubicBezTo>
                    <a:pt x="0" y="770890"/>
                    <a:pt x="13970" y="756920"/>
                    <a:pt x="30480" y="735330"/>
                  </a:cubicBezTo>
                  <a:cubicBezTo>
                    <a:pt x="73660" y="676910"/>
                    <a:pt x="213360" y="539750"/>
                    <a:pt x="322580" y="439420"/>
                  </a:cubicBezTo>
                  <a:cubicBezTo>
                    <a:pt x="447040" y="323850"/>
                    <a:pt x="683260" y="110490"/>
                    <a:pt x="742950" y="87630"/>
                  </a:cubicBezTo>
                  <a:cubicBezTo>
                    <a:pt x="756920" y="82550"/>
                    <a:pt x="765810" y="82550"/>
                    <a:pt x="772160" y="86360"/>
                  </a:cubicBezTo>
                  <a:cubicBezTo>
                    <a:pt x="778510" y="91440"/>
                    <a:pt x="784860" y="106680"/>
                    <a:pt x="781050" y="119380"/>
                  </a:cubicBezTo>
                  <a:cubicBezTo>
                    <a:pt x="770890" y="148590"/>
                    <a:pt x="693420" y="181610"/>
                    <a:pt x="629920" y="233680"/>
                  </a:cubicBezTo>
                  <a:cubicBezTo>
                    <a:pt x="514350" y="330200"/>
                    <a:pt x="215900" y="645160"/>
                    <a:pt x="149860" y="666750"/>
                  </a:cubicBezTo>
                  <a:cubicBezTo>
                    <a:pt x="135890" y="671830"/>
                    <a:pt x="127000" y="669290"/>
                    <a:pt x="120650" y="664210"/>
                  </a:cubicBezTo>
                  <a:cubicBezTo>
                    <a:pt x="115570" y="659130"/>
                    <a:pt x="111760" y="646430"/>
                    <a:pt x="115570" y="631190"/>
                  </a:cubicBezTo>
                  <a:cubicBezTo>
                    <a:pt x="132080" y="581660"/>
                    <a:pt x="284480" y="452120"/>
                    <a:pt x="378460" y="363220"/>
                  </a:cubicBezTo>
                  <a:cubicBezTo>
                    <a:pt x="478790" y="267970"/>
                    <a:pt x="647700" y="100330"/>
                    <a:pt x="702310" y="81280"/>
                  </a:cubicBezTo>
                  <a:cubicBezTo>
                    <a:pt x="717550" y="74930"/>
                    <a:pt x="728980" y="76200"/>
                    <a:pt x="736600" y="81280"/>
                  </a:cubicBezTo>
                  <a:cubicBezTo>
                    <a:pt x="741680" y="86360"/>
                    <a:pt x="746760" y="96520"/>
                    <a:pt x="742950" y="109220"/>
                  </a:cubicBezTo>
                  <a:cubicBezTo>
                    <a:pt x="721360" y="172720"/>
                    <a:pt x="294640" y="530860"/>
                    <a:pt x="226060" y="553720"/>
                  </a:cubicBezTo>
                  <a:cubicBezTo>
                    <a:pt x="212090" y="558800"/>
                    <a:pt x="204470" y="557530"/>
                    <a:pt x="198120" y="552450"/>
                  </a:cubicBezTo>
                  <a:cubicBezTo>
                    <a:pt x="191770" y="547370"/>
                    <a:pt x="186690" y="534670"/>
                    <a:pt x="189230" y="524510"/>
                  </a:cubicBezTo>
                  <a:cubicBezTo>
                    <a:pt x="194310" y="502920"/>
                    <a:pt x="228600" y="474980"/>
                    <a:pt x="264160" y="443230"/>
                  </a:cubicBezTo>
                  <a:cubicBezTo>
                    <a:pt x="332740" y="379730"/>
                    <a:pt x="544830" y="205740"/>
                    <a:pt x="591820" y="191770"/>
                  </a:cubicBezTo>
                  <a:cubicBezTo>
                    <a:pt x="603250" y="187960"/>
                    <a:pt x="609600" y="189230"/>
                    <a:pt x="615950" y="193040"/>
                  </a:cubicBezTo>
                  <a:cubicBezTo>
                    <a:pt x="622300" y="196850"/>
                    <a:pt x="631190" y="208280"/>
                    <a:pt x="627380" y="218440"/>
                  </a:cubicBezTo>
                  <a:cubicBezTo>
                    <a:pt x="618490" y="248920"/>
                    <a:pt x="485140" y="307340"/>
                    <a:pt x="422910" y="351790"/>
                  </a:cubicBezTo>
                  <a:cubicBezTo>
                    <a:pt x="367030" y="391160"/>
                    <a:pt x="303530" y="463550"/>
                    <a:pt x="269240" y="471170"/>
                  </a:cubicBezTo>
                  <a:cubicBezTo>
                    <a:pt x="255270" y="474980"/>
                    <a:pt x="241300" y="471170"/>
                    <a:pt x="236220" y="464820"/>
                  </a:cubicBezTo>
                  <a:cubicBezTo>
                    <a:pt x="231140" y="457200"/>
                    <a:pt x="231140" y="443230"/>
                    <a:pt x="240030" y="430530"/>
                  </a:cubicBezTo>
                  <a:cubicBezTo>
                    <a:pt x="264160" y="392430"/>
                    <a:pt x="472440" y="274320"/>
                    <a:pt x="519430" y="271780"/>
                  </a:cubicBezTo>
                  <a:cubicBezTo>
                    <a:pt x="534670" y="270510"/>
                    <a:pt x="546100" y="278130"/>
                    <a:pt x="549910" y="285750"/>
                  </a:cubicBezTo>
                  <a:cubicBezTo>
                    <a:pt x="553720" y="293370"/>
                    <a:pt x="539750" y="317500"/>
                    <a:pt x="539750" y="317500"/>
                  </a:cubicBezTo>
                </a:path>
              </a:pathLst>
            </a:custGeom>
            <a:solidFill>
              <a:srgbClr val="051D40"/>
            </a:solidFill>
            <a:ln cap="sq">
              <a:noFill/>
              <a:prstDash val="solid"/>
              <a:miter/>
            </a:ln>
          </p:spPr>
        </p:sp>
      </p:grpSp>
      <p:grpSp>
        <p:nvGrpSpPr>
          <p:cNvPr name="Group 24" id="24"/>
          <p:cNvGrpSpPr/>
          <p:nvPr/>
        </p:nvGrpSpPr>
        <p:grpSpPr>
          <a:xfrm rot="0">
            <a:off x="610552" y="2615811"/>
            <a:ext cx="679132" cy="447675"/>
            <a:chOff x="0" y="0"/>
            <a:chExt cx="905510" cy="596900"/>
          </a:xfrm>
        </p:grpSpPr>
        <p:sp>
          <p:nvSpPr>
            <p:cNvPr name="Freeform 25" id="25"/>
            <p:cNvSpPr/>
            <p:nvPr/>
          </p:nvSpPr>
          <p:spPr>
            <a:xfrm flipH="false" flipV="false" rot="0">
              <a:off x="46990" y="50800"/>
              <a:ext cx="810260" cy="499110"/>
            </a:xfrm>
            <a:custGeom>
              <a:avLst/>
              <a:gdLst/>
              <a:ahLst/>
              <a:cxnLst/>
              <a:rect r="r" b="b" t="t" l="l"/>
              <a:pathLst>
                <a:path h="499110" w="810260">
                  <a:moveTo>
                    <a:pt x="8890" y="453390"/>
                  </a:moveTo>
                  <a:cubicBezTo>
                    <a:pt x="435610" y="107950"/>
                    <a:pt x="482600" y="76200"/>
                    <a:pt x="541020" y="49530"/>
                  </a:cubicBezTo>
                  <a:cubicBezTo>
                    <a:pt x="595630" y="25400"/>
                    <a:pt x="661670" y="0"/>
                    <a:pt x="711200" y="0"/>
                  </a:cubicBezTo>
                  <a:cubicBezTo>
                    <a:pt x="748030" y="1270"/>
                    <a:pt x="800100" y="17780"/>
                    <a:pt x="807720" y="31750"/>
                  </a:cubicBezTo>
                  <a:cubicBezTo>
                    <a:pt x="810260" y="38100"/>
                    <a:pt x="805180" y="49530"/>
                    <a:pt x="800100" y="53340"/>
                  </a:cubicBezTo>
                  <a:cubicBezTo>
                    <a:pt x="795020" y="58420"/>
                    <a:pt x="783590" y="62230"/>
                    <a:pt x="777240" y="60960"/>
                  </a:cubicBezTo>
                  <a:cubicBezTo>
                    <a:pt x="769620" y="58420"/>
                    <a:pt x="760730" y="52070"/>
                    <a:pt x="758190" y="44450"/>
                  </a:cubicBezTo>
                  <a:cubicBezTo>
                    <a:pt x="756920" y="36830"/>
                    <a:pt x="765810" y="15240"/>
                    <a:pt x="774700" y="11430"/>
                  </a:cubicBezTo>
                  <a:cubicBezTo>
                    <a:pt x="781050" y="8890"/>
                    <a:pt x="798830" y="13970"/>
                    <a:pt x="803910" y="21590"/>
                  </a:cubicBezTo>
                  <a:cubicBezTo>
                    <a:pt x="807720" y="29210"/>
                    <a:pt x="802640" y="52070"/>
                    <a:pt x="795020" y="57150"/>
                  </a:cubicBezTo>
                  <a:cubicBezTo>
                    <a:pt x="789940" y="62230"/>
                    <a:pt x="778510" y="60960"/>
                    <a:pt x="772160" y="58420"/>
                  </a:cubicBezTo>
                  <a:cubicBezTo>
                    <a:pt x="765810" y="55880"/>
                    <a:pt x="767080" y="43180"/>
                    <a:pt x="756920" y="39370"/>
                  </a:cubicBezTo>
                  <a:cubicBezTo>
                    <a:pt x="727710" y="30480"/>
                    <a:pt x="609600" y="71120"/>
                    <a:pt x="534670" y="107950"/>
                  </a:cubicBezTo>
                  <a:cubicBezTo>
                    <a:pt x="448310" y="149860"/>
                    <a:pt x="355600" y="223520"/>
                    <a:pt x="273050" y="289560"/>
                  </a:cubicBezTo>
                  <a:cubicBezTo>
                    <a:pt x="190500" y="353060"/>
                    <a:pt x="81280" y="483870"/>
                    <a:pt x="36830" y="495300"/>
                  </a:cubicBezTo>
                  <a:cubicBezTo>
                    <a:pt x="22860" y="499110"/>
                    <a:pt x="8890" y="494030"/>
                    <a:pt x="3810" y="486410"/>
                  </a:cubicBezTo>
                  <a:cubicBezTo>
                    <a:pt x="0" y="480060"/>
                    <a:pt x="8890" y="453390"/>
                    <a:pt x="8890" y="453390"/>
                  </a:cubicBezTo>
                </a:path>
              </a:pathLst>
            </a:custGeom>
            <a:solidFill>
              <a:srgbClr val="051D40"/>
            </a:solidFill>
            <a:ln cap="sq">
              <a:noFill/>
              <a:prstDash val="solid"/>
              <a:miter/>
            </a:ln>
          </p:spPr>
        </p:sp>
      </p:grpSp>
      <p:grpSp>
        <p:nvGrpSpPr>
          <p:cNvPr name="Group 26" id="26"/>
          <p:cNvGrpSpPr/>
          <p:nvPr/>
        </p:nvGrpSpPr>
        <p:grpSpPr>
          <a:xfrm rot="0">
            <a:off x="1151573" y="2541516"/>
            <a:ext cx="111442" cy="108585"/>
            <a:chOff x="0" y="0"/>
            <a:chExt cx="148590" cy="144780"/>
          </a:xfrm>
        </p:grpSpPr>
        <p:sp>
          <p:nvSpPr>
            <p:cNvPr name="Freeform 27" id="27"/>
            <p:cNvSpPr/>
            <p:nvPr/>
          </p:nvSpPr>
          <p:spPr>
            <a:xfrm flipH="false" flipV="false" rot="0">
              <a:off x="45720" y="45720"/>
              <a:ext cx="50800" cy="52070"/>
            </a:xfrm>
            <a:custGeom>
              <a:avLst/>
              <a:gdLst/>
              <a:ahLst/>
              <a:cxnLst/>
              <a:rect r="r" b="b" t="t" l="l"/>
              <a:pathLst>
                <a:path h="52070" w="50800">
                  <a:moveTo>
                    <a:pt x="50800" y="17780"/>
                  </a:moveTo>
                  <a:cubicBezTo>
                    <a:pt x="29210" y="52070"/>
                    <a:pt x="8890" y="45720"/>
                    <a:pt x="5080" y="38100"/>
                  </a:cubicBezTo>
                  <a:cubicBezTo>
                    <a:pt x="0" y="31750"/>
                    <a:pt x="3810" y="10160"/>
                    <a:pt x="11430" y="5080"/>
                  </a:cubicBezTo>
                  <a:cubicBezTo>
                    <a:pt x="17780" y="0"/>
                    <a:pt x="44450" y="7620"/>
                    <a:pt x="44450" y="7620"/>
                  </a:cubicBezTo>
                </a:path>
              </a:pathLst>
            </a:custGeom>
            <a:solidFill>
              <a:srgbClr val="051D40"/>
            </a:solidFill>
            <a:ln cap="sq">
              <a:noFill/>
              <a:prstDash val="solid"/>
              <a:miter/>
            </a:ln>
          </p:spPr>
        </p:sp>
      </p:grpSp>
      <p:grpSp>
        <p:nvGrpSpPr>
          <p:cNvPr name="Group 28" id="28"/>
          <p:cNvGrpSpPr/>
          <p:nvPr/>
        </p:nvGrpSpPr>
        <p:grpSpPr>
          <a:xfrm rot="0">
            <a:off x="7412355" y="2599619"/>
            <a:ext cx="517207" cy="397192"/>
            <a:chOff x="0" y="0"/>
            <a:chExt cx="689610" cy="529590"/>
          </a:xfrm>
        </p:grpSpPr>
        <p:sp>
          <p:nvSpPr>
            <p:cNvPr name="Freeform 29" id="29"/>
            <p:cNvSpPr/>
            <p:nvPr/>
          </p:nvSpPr>
          <p:spPr>
            <a:xfrm flipH="false" flipV="false" rot="0">
              <a:off x="49530" y="49530"/>
              <a:ext cx="591820" cy="430530"/>
            </a:xfrm>
            <a:custGeom>
              <a:avLst/>
              <a:gdLst/>
              <a:ahLst/>
              <a:cxnLst/>
              <a:rect r="r" b="b" t="t" l="l"/>
              <a:pathLst>
                <a:path h="430530" w="591820">
                  <a:moveTo>
                    <a:pt x="378460" y="1270"/>
                  </a:moveTo>
                  <a:cubicBezTo>
                    <a:pt x="563880" y="151130"/>
                    <a:pt x="579120" y="165100"/>
                    <a:pt x="584200" y="181610"/>
                  </a:cubicBezTo>
                  <a:cubicBezTo>
                    <a:pt x="586740" y="193040"/>
                    <a:pt x="586740" y="209550"/>
                    <a:pt x="580390" y="215900"/>
                  </a:cubicBezTo>
                  <a:cubicBezTo>
                    <a:pt x="575310" y="222250"/>
                    <a:pt x="558800" y="223520"/>
                    <a:pt x="552450" y="220980"/>
                  </a:cubicBezTo>
                  <a:cubicBezTo>
                    <a:pt x="544830" y="218440"/>
                    <a:pt x="543560" y="204470"/>
                    <a:pt x="537210" y="201930"/>
                  </a:cubicBezTo>
                  <a:cubicBezTo>
                    <a:pt x="530860" y="199390"/>
                    <a:pt x="523240" y="210820"/>
                    <a:pt x="510540" y="209550"/>
                  </a:cubicBezTo>
                  <a:cubicBezTo>
                    <a:pt x="471170" y="205740"/>
                    <a:pt x="306070" y="133350"/>
                    <a:pt x="287020" y="102870"/>
                  </a:cubicBezTo>
                  <a:cubicBezTo>
                    <a:pt x="280670" y="92710"/>
                    <a:pt x="283210" y="81280"/>
                    <a:pt x="287020" y="73660"/>
                  </a:cubicBezTo>
                  <a:cubicBezTo>
                    <a:pt x="292100" y="67310"/>
                    <a:pt x="302260" y="63500"/>
                    <a:pt x="314960" y="63500"/>
                  </a:cubicBezTo>
                  <a:cubicBezTo>
                    <a:pt x="339090" y="66040"/>
                    <a:pt x="387350" y="102870"/>
                    <a:pt x="424180" y="127000"/>
                  </a:cubicBezTo>
                  <a:cubicBezTo>
                    <a:pt x="466090" y="154940"/>
                    <a:pt x="523240" y="198120"/>
                    <a:pt x="551180" y="224790"/>
                  </a:cubicBezTo>
                  <a:cubicBezTo>
                    <a:pt x="567690" y="241300"/>
                    <a:pt x="584200" y="254000"/>
                    <a:pt x="586740" y="267970"/>
                  </a:cubicBezTo>
                  <a:cubicBezTo>
                    <a:pt x="588010" y="276860"/>
                    <a:pt x="584200" y="290830"/>
                    <a:pt x="577850" y="295910"/>
                  </a:cubicBezTo>
                  <a:cubicBezTo>
                    <a:pt x="571500" y="299720"/>
                    <a:pt x="562610" y="299720"/>
                    <a:pt x="549910" y="297180"/>
                  </a:cubicBezTo>
                  <a:cubicBezTo>
                    <a:pt x="518160" y="290830"/>
                    <a:pt x="450850" y="245110"/>
                    <a:pt x="401320" y="213360"/>
                  </a:cubicBezTo>
                  <a:cubicBezTo>
                    <a:pt x="346710" y="180340"/>
                    <a:pt x="248920" y="125730"/>
                    <a:pt x="236220" y="99060"/>
                  </a:cubicBezTo>
                  <a:cubicBezTo>
                    <a:pt x="232410" y="88900"/>
                    <a:pt x="234950" y="81280"/>
                    <a:pt x="238760" y="74930"/>
                  </a:cubicBezTo>
                  <a:cubicBezTo>
                    <a:pt x="243840" y="68580"/>
                    <a:pt x="255270" y="62230"/>
                    <a:pt x="265430" y="64770"/>
                  </a:cubicBezTo>
                  <a:cubicBezTo>
                    <a:pt x="289560" y="67310"/>
                    <a:pt x="328930" y="110490"/>
                    <a:pt x="364490" y="143510"/>
                  </a:cubicBezTo>
                  <a:cubicBezTo>
                    <a:pt x="410210" y="186690"/>
                    <a:pt x="500380" y="278130"/>
                    <a:pt x="514350" y="309880"/>
                  </a:cubicBezTo>
                  <a:cubicBezTo>
                    <a:pt x="519430" y="320040"/>
                    <a:pt x="519430" y="326390"/>
                    <a:pt x="516890" y="332740"/>
                  </a:cubicBezTo>
                  <a:cubicBezTo>
                    <a:pt x="514350" y="339090"/>
                    <a:pt x="508000" y="346710"/>
                    <a:pt x="499110" y="347980"/>
                  </a:cubicBezTo>
                  <a:cubicBezTo>
                    <a:pt x="486410" y="350520"/>
                    <a:pt x="469900" y="340360"/>
                    <a:pt x="447040" y="326390"/>
                  </a:cubicBezTo>
                  <a:cubicBezTo>
                    <a:pt x="396240" y="298450"/>
                    <a:pt x="281940" y="194310"/>
                    <a:pt x="219710" y="154940"/>
                  </a:cubicBezTo>
                  <a:cubicBezTo>
                    <a:pt x="179070" y="129540"/>
                    <a:pt x="148590" y="114300"/>
                    <a:pt x="113030" y="101600"/>
                  </a:cubicBezTo>
                  <a:cubicBezTo>
                    <a:pt x="82550" y="88900"/>
                    <a:pt x="40640" y="90170"/>
                    <a:pt x="22860" y="76200"/>
                  </a:cubicBezTo>
                  <a:cubicBezTo>
                    <a:pt x="11430" y="66040"/>
                    <a:pt x="10160" y="36830"/>
                    <a:pt x="6350" y="36830"/>
                  </a:cubicBezTo>
                  <a:cubicBezTo>
                    <a:pt x="3810" y="36830"/>
                    <a:pt x="1270" y="52070"/>
                    <a:pt x="1270" y="52070"/>
                  </a:cubicBezTo>
                  <a:cubicBezTo>
                    <a:pt x="1270" y="52070"/>
                    <a:pt x="2540" y="34290"/>
                    <a:pt x="6350" y="29210"/>
                  </a:cubicBezTo>
                  <a:cubicBezTo>
                    <a:pt x="11430" y="24130"/>
                    <a:pt x="21590" y="20320"/>
                    <a:pt x="29210" y="21590"/>
                  </a:cubicBezTo>
                  <a:cubicBezTo>
                    <a:pt x="36830" y="22860"/>
                    <a:pt x="38100" y="34290"/>
                    <a:pt x="50800" y="40640"/>
                  </a:cubicBezTo>
                  <a:cubicBezTo>
                    <a:pt x="81280" y="53340"/>
                    <a:pt x="184150" y="49530"/>
                    <a:pt x="232410" y="60960"/>
                  </a:cubicBezTo>
                  <a:cubicBezTo>
                    <a:pt x="267970" y="68580"/>
                    <a:pt x="289560" y="77470"/>
                    <a:pt x="318770" y="91440"/>
                  </a:cubicBezTo>
                  <a:cubicBezTo>
                    <a:pt x="354330" y="107950"/>
                    <a:pt x="393700" y="130810"/>
                    <a:pt x="430530" y="160020"/>
                  </a:cubicBezTo>
                  <a:cubicBezTo>
                    <a:pt x="473710" y="195580"/>
                    <a:pt x="533400" y="247650"/>
                    <a:pt x="558800" y="293370"/>
                  </a:cubicBezTo>
                  <a:cubicBezTo>
                    <a:pt x="579120" y="328930"/>
                    <a:pt x="591820" y="379730"/>
                    <a:pt x="588010" y="402590"/>
                  </a:cubicBezTo>
                  <a:cubicBezTo>
                    <a:pt x="586740" y="414020"/>
                    <a:pt x="579120" y="424180"/>
                    <a:pt x="572770" y="426720"/>
                  </a:cubicBezTo>
                  <a:cubicBezTo>
                    <a:pt x="566420" y="430530"/>
                    <a:pt x="558800" y="429260"/>
                    <a:pt x="548640" y="425450"/>
                  </a:cubicBezTo>
                  <a:cubicBezTo>
                    <a:pt x="521970" y="412750"/>
                    <a:pt x="478790" y="346710"/>
                    <a:pt x="427990" y="302260"/>
                  </a:cubicBezTo>
                  <a:cubicBezTo>
                    <a:pt x="355600" y="240030"/>
                    <a:pt x="170180" y="137160"/>
                    <a:pt x="144780" y="92710"/>
                  </a:cubicBezTo>
                  <a:cubicBezTo>
                    <a:pt x="137160" y="78740"/>
                    <a:pt x="135890" y="66040"/>
                    <a:pt x="140970" y="59690"/>
                  </a:cubicBezTo>
                  <a:cubicBezTo>
                    <a:pt x="144780" y="52070"/>
                    <a:pt x="166370" y="46990"/>
                    <a:pt x="172720" y="50800"/>
                  </a:cubicBezTo>
                  <a:cubicBezTo>
                    <a:pt x="180340" y="55880"/>
                    <a:pt x="185420" y="83820"/>
                    <a:pt x="180340" y="90170"/>
                  </a:cubicBezTo>
                  <a:cubicBezTo>
                    <a:pt x="175260" y="96520"/>
                    <a:pt x="151130" y="97790"/>
                    <a:pt x="143510" y="92710"/>
                  </a:cubicBezTo>
                  <a:cubicBezTo>
                    <a:pt x="137160" y="87630"/>
                    <a:pt x="134620" y="68580"/>
                    <a:pt x="138430" y="62230"/>
                  </a:cubicBezTo>
                  <a:cubicBezTo>
                    <a:pt x="142240" y="54610"/>
                    <a:pt x="158750" y="46990"/>
                    <a:pt x="166370" y="48260"/>
                  </a:cubicBezTo>
                  <a:cubicBezTo>
                    <a:pt x="175260" y="50800"/>
                    <a:pt x="187960" y="72390"/>
                    <a:pt x="185420" y="80010"/>
                  </a:cubicBezTo>
                  <a:cubicBezTo>
                    <a:pt x="184150" y="88900"/>
                    <a:pt x="161290" y="100330"/>
                    <a:pt x="153670" y="97790"/>
                  </a:cubicBezTo>
                  <a:cubicBezTo>
                    <a:pt x="144780" y="95250"/>
                    <a:pt x="138430" y="63500"/>
                    <a:pt x="137160" y="64770"/>
                  </a:cubicBezTo>
                  <a:cubicBezTo>
                    <a:pt x="137160" y="64770"/>
                    <a:pt x="149860" y="96520"/>
                    <a:pt x="149860" y="96520"/>
                  </a:cubicBezTo>
                  <a:cubicBezTo>
                    <a:pt x="149860" y="96520"/>
                    <a:pt x="134620" y="72390"/>
                    <a:pt x="137160" y="64770"/>
                  </a:cubicBezTo>
                  <a:cubicBezTo>
                    <a:pt x="139700" y="57150"/>
                    <a:pt x="149860" y="48260"/>
                    <a:pt x="161290" y="48260"/>
                  </a:cubicBezTo>
                  <a:cubicBezTo>
                    <a:pt x="182880" y="46990"/>
                    <a:pt x="226060" y="82550"/>
                    <a:pt x="264160" y="109220"/>
                  </a:cubicBezTo>
                  <a:cubicBezTo>
                    <a:pt x="318770" y="146050"/>
                    <a:pt x="396240" y="208280"/>
                    <a:pt x="450850" y="256540"/>
                  </a:cubicBezTo>
                  <a:cubicBezTo>
                    <a:pt x="497840" y="298450"/>
                    <a:pt x="554990" y="351790"/>
                    <a:pt x="574040" y="379730"/>
                  </a:cubicBezTo>
                  <a:cubicBezTo>
                    <a:pt x="582930" y="392430"/>
                    <a:pt x="589280" y="401320"/>
                    <a:pt x="588010" y="408940"/>
                  </a:cubicBezTo>
                  <a:cubicBezTo>
                    <a:pt x="585470" y="417830"/>
                    <a:pt x="568960" y="429260"/>
                    <a:pt x="560070" y="429260"/>
                  </a:cubicBezTo>
                  <a:cubicBezTo>
                    <a:pt x="553720" y="429260"/>
                    <a:pt x="547370" y="424180"/>
                    <a:pt x="541020" y="416560"/>
                  </a:cubicBezTo>
                  <a:cubicBezTo>
                    <a:pt x="525780" y="397510"/>
                    <a:pt x="523240" y="328930"/>
                    <a:pt x="500380" y="293370"/>
                  </a:cubicBezTo>
                  <a:cubicBezTo>
                    <a:pt x="478790" y="259080"/>
                    <a:pt x="440690" y="232410"/>
                    <a:pt x="407670" y="207010"/>
                  </a:cubicBezTo>
                  <a:cubicBezTo>
                    <a:pt x="372110" y="179070"/>
                    <a:pt x="326390" y="151130"/>
                    <a:pt x="292100" y="135890"/>
                  </a:cubicBezTo>
                  <a:cubicBezTo>
                    <a:pt x="267970" y="123190"/>
                    <a:pt x="256540" y="118110"/>
                    <a:pt x="228600" y="111760"/>
                  </a:cubicBezTo>
                  <a:cubicBezTo>
                    <a:pt x="179070" y="97790"/>
                    <a:pt x="48260" y="97790"/>
                    <a:pt x="17780" y="78740"/>
                  </a:cubicBezTo>
                  <a:cubicBezTo>
                    <a:pt x="6350" y="71120"/>
                    <a:pt x="2540" y="60960"/>
                    <a:pt x="1270" y="52070"/>
                  </a:cubicBezTo>
                  <a:cubicBezTo>
                    <a:pt x="0" y="44450"/>
                    <a:pt x="5080" y="30480"/>
                    <a:pt x="11430" y="25400"/>
                  </a:cubicBezTo>
                  <a:cubicBezTo>
                    <a:pt x="16510" y="21590"/>
                    <a:pt x="27940" y="20320"/>
                    <a:pt x="34290" y="22860"/>
                  </a:cubicBezTo>
                  <a:cubicBezTo>
                    <a:pt x="40640" y="25400"/>
                    <a:pt x="49530" y="34290"/>
                    <a:pt x="50800" y="40640"/>
                  </a:cubicBezTo>
                  <a:cubicBezTo>
                    <a:pt x="50800" y="45720"/>
                    <a:pt x="43180" y="57150"/>
                    <a:pt x="43180" y="57150"/>
                  </a:cubicBezTo>
                  <a:cubicBezTo>
                    <a:pt x="43180" y="57150"/>
                    <a:pt x="49530" y="36830"/>
                    <a:pt x="55880" y="34290"/>
                  </a:cubicBezTo>
                  <a:cubicBezTo>
                    <a:pt x="60960" y="30480"/>
                    <a:pt x="68580" y="35560"/>
                    <a:pt x="81280" y="39370"/>
                  </a:cubicBezTo>
                  <a:cubicBezTo>
                    <a:pt x="113030" y="49530"/>
                    <a:pt x="189230" y="78740"/>
                    <a:pt x="248920" y="114300"/>
                  </a:cubicBezTo>
                  <a:cubicBezTo>
                    <a:pt x="328930" y="160020"/>
                    <a:pt x="483870" y="269240"/>
                    <a:pt x="510540" y="304800"/>
                  </a:cubicBezTo>
                  <a:cubicBezTo>
                    <a:pt x="518160" y="313690"/>
                    <a:pt x="519430" y="320040"/>
                    <a:pt x="518160" y="326390"/>
                  </a:cubicBezTo>
                  <a:cubicBezTo>
                    <a:pt x="516890" y="334010"/>
                    <a:pt x="506730" y="346710"/>
                    <a:pt x="499110" y="347980"/>
                  </a:cubicBezTo>
                  <a:cubicBezTo>
                    <a:pt x="492760" y="350520"/>
                    <a:pt x="486410" y="347980"/>
                    <a:pt x="476250" y="342900"/>
                  </a:cubicBezTo>
                  <a:cubicBezTo>
                    <a:pt x="436880" y="320040"/>
                    <a:pt x="248920" y="142240"/>
                    <a:pt x="236220" y="99060"/>
                  </a:cubicBezTo>
                  <a:cubicBezTo>
                    <a:pt x="233680" y="86360"/>
                    <a:pt x="237490" y="76200"/>
                    <a:pt x="242570" y="69850"/>
                  </a:cubicBezTo>
                  <a:cubicBezTo>
                    <a:pt x="248920" y="64770"/>
                    <a:pt x="257810" y="63500"/>
                    <a:pt x="271780" y="66040"/>
                  </a:cubicBezTo>
                  <a:cubicBezTo>
                    <a:pt x="320040" y="76200"/>
                    <a:pt x="556260" y="212090"/>
                    <a:pt x="580390" y="257810"/>
                  </a:cubicBezTo>
                  <a:cubicBezTo>
                    <a:pt x="588010" y="271780"/>
                    <a:pt x="584200" y="289560"/>
                    <a:pt x="577850" y="295910"/>
                  </a:cubicBezTo>
                  <a:cubicBezTo>
                    <a:pt x="572770" y="300990"/>
                    <a:pt x="561340" y="300990"/>
                    <a:pt x="549910" y="297180"/>
                  </a:cubicBezTo>
                  <a:cubicBezTo>
                    <a:pt x="525780" y="289560"/>
                    <a:pt x="490220" y="238760"/>
                    <a:pt x="452120" y="209550"/>
                  </a:cubicBezTo>
                  <a:cubicBezTo>
                    <a:pt x="406400" y="173990"/>
                    <a:pt x="302260" y="130810"/>
                    <a:pt x="287020" y="102870"/>
                  </a:cubicBezTo>
                  <a:cubicBezTo>
                    <a:pt x="281940" y="92710"/>
                    <a:pt x="281940" y="80010"/>
                    <a:pt x="287020" y="73660"/>
                  </a:cubicBezTo>
                  <a:cubicBezTo>
                    <a:pt x="292100" y="67310"/>
                    <a:pt x="304800" y="64770"/>
                    <a:pt x="320040" y="66040"/>
                  </a:cubicBezTo>
                  <a:cubicBezTo>
                    <a:pt x="364490" y="69850"/>
                    <a:pt x="535940" y="148590"/>
                    <a:pt x="570230" y="173990"/>
                  </a:cubicBezTo>
                  <a:cubicBezTo>
                    <a:pt x="580390" y="181610"/>
                    <a:pt x="585470" y="185420"/>
                    <a:pt x="588010" y="193040"/>
                  </a:cubicBezTo>
                  <a:cubicBezTo>
                    <a:pt x="589280" y="200660"/>
                    <a:pt x="585470" y="212090"/>
                    <a:pt x="580390" y="215900"/>
                  </a:cubicBezTo>
                  <a:cubicBezTo>
                    <a:pt x="574040" y="220980"/>
                    <a:pt x="560070" y="222250"/>
                    <a:pt x="546100" y="217170"/>
                  </a:cubicBezTo>
                  <a:cubicBezTo>
                    <a:pt x="518160" y="207010"/>
                    <a:pt x="474980" y="133350"/>
                    <a:pt x="438150" y="102870"/>
                  </a:cubicBezTo>
                  <a:cubicBezTo>
                    <a:pt x="407670" y="76200"/>
                    <a:pt x="356870" y="60960"/>
                    <a:pt x="345440" y="40640"/>
                  </a:cubicBezTo>
                  <a:cubicBezTo>
                    <a:pt x="340360" y="29210"/>
                    <a:pt x="339090" y="12700"/>
                    <a:pt x="345440" y="6350"/>
                  </a:cubicBezTo>
                  <a:cubicBezTo>
                    <a:pt x="350520" y="0"/>
                    <a:pt x="378460" y="1270"/>
                    <a:pt x="378460" y="1270"/>
                  </a:cubicBezTo>
                </a:path>
              </a:pathLst>
            </a:custGeom>
            <a:solidFill>
              <a:srgbClr val="051D40"/>
            </a:solidFill>
            <a:ln cap="sq">
              <a:noFill/>
              <a:prstDash val="solid"/>
              <a:miter/>
            </a:ln>
          </p:spPr>
        </p:sp>
      </p:grpSp>
      <p:grpSp>
        <p:nvGrpSpPr>
          <p:cNvPr name="Group 30" id="30"/>
          <p:cNvGrpSpPr/>
          <p:nvPr/>
        </p:nvGrpSpPr>
        <p:grpSpPr>
          <a:xfrm rot="0">
            <a:off x="7398068" y="2618669"/>
            <a:ext cx="556260" cy="422910"/>
            <a:chOff x="0" y="0"/>
            <a:chExt cx="741680" cy="563880"/>
          </a:xfrm>
        </p:grpSpPr>
        <p:sp>
          <p:nvSpPr>
            <p:cNvPr name="Freeform 31" id="31"/>
            <p:cNvSpPr/>
            <p:nvPr/>
          </p:nvSpPr>
          <p:spPr>
            <a:xfrm flipH="false" flipV="false" rot="0">
              <a:off x="48260" y="44450"/>
              <a:ext cx="643890" cy="472440"/>
            </a:xfrm>
            <a:custGeom>
              <a:avLst/>
              <a:gdLst/>
              <a:ahLst/>
              <a:cxnLst/>
              <a:rect r="r" b="b" t="t" l="l"/>
              <a:pathLst>
                <a:path h="472440" w="643890">
                  <a:moveTo>
                    <a:pt x="579120" y="393700"/>
                  </a:moveTo>
                  <a:cubicBezTo>
                    <a:pt x="508000" y="365760"/>
                    <a:pt x="500380" y="330200"/>
                    <a:pt x="481330" y="309880"/>
                  </a:cubicBezTo>
                  <a:cubicBezTo>
                    <a:pt x="461010" y="288290"/>
                    <a:pt x="422910" y="274320"/>
                    <a:pt x="410210" y="254000"/>
                  </a:cubicBezTo>
                  <a:cubicBezTo>
                    <a:pt x="402590" y="241300"/>
                    <a:pt x="403860" y="214630"/>
                    <a:pt x="401320" y="214630"/>
                  </a:cubicBezTo>
                  <a:cubicBezTo>
                    <a:pt x="400050" y="214630"/>
                    <a:pt x="397510" y="238760"/>
                    <a:pt x="397510" y="238760"/>
                  </a:cubicBezTo>
                  <a:cubicBezTo>
                    <a:pt x="397510" y="238760"/>
                    <a:pt x="397510" y="212090"/>
                    <a:pt x="403860" y="205740"/>
                  </a:cubicBezTo>
                  <a:cubicBezTo>
                    <a:pt x="410210" y="200660"/>
                    <a:pt x="421640" y="200660"/>
                    <a:pt x="433070" y="205740"/>
                  </a:cubicBezTo>
                  <a:cubicBezTo>
                    <a:pt x="459740" y="215900"/>
                    <a:pt x="518160" y="290830"/>
                    <a:pt x="541020" y="322580"/>
                  </a:cubicBezTo>
                  <a:cubicBezTo>
                    <a:pt x="553720" y="342900"/>
                    <a:pt x="563880" y="359410"/>
                    <a:pt x="566420" y="374650"/>
                  </a:cubicBezTo>
                  <a:cubicBezTo>
                    <a:pt x="568960" y="384810"/>
                    <a:pt x="570230" y="397510"/>
                    <a:pt x="565150" y="403860"/>
                  </a:cubicBezTo>
                  <a:cubicBezTo>
                    <a:pt x="560070" y="410210"/>
                    <a:pt x="548640" y="416560"/>
                    <a:pt x="537210" y="412750"/>
                  </a:cubicBezTo>
                  <a:cubicBezTo>
                    <a:pt x="502920" y="402590"/>
                    <a:pt x="429260" y="262890"/>
                    <a:pt x="370840" y="207010"/>
                  </a:cubicBezTo>
                  <a:cubicBezTo>
                    <a:pt x="318770" y="158750"/>
                    <a:pt x="269240" y="116840"/>
                    <a:pt x="210820" y="90170"/>
                  </a:cubicBezTo>
                  <a:cubicBezTo>
                    <a:pt x="149860" y="63500"/>
                    <a:pt x="29210" y="72390"/>
                    <a:pt x="7620" y="49530"/>
                  </a:cubicBezTo>
                  <a:cubicBezTo>
                    <a:pt x="0" y="40640"/>
                    <a:pt x="0" y="26670"/>
                    <a:pt x="3810" y="20320"/>
                  </a:cubicBezTo>
                  <a:cubicBezTo>
                    <a:pt x="8890" y="12700"/>
                    <a:pt x="20320" y="6350"/>
                    <a:pt x="35560" y="6350"/>
                  </a:cubicBezTo>
                  <a:cubicBezTo>
                    <a:pt x="81280" y="7620"/>
                    <a:pt x="229870" y="86360"/>
                    <a:pt x="311150" y="137160"/>
                  </a:cubicBezTo>
                  <a:cubicBezTo>
                    <a:pt x="387350" y="182880"/>
                    <a:pt x="461010" y="245110"/>
                    <a:pt x="513080" y="292100"/>
                  </a:cubicBezTo>
                  <a:cubicBezTo>
                    <a:pt x="551180" y="325120"/>
                    <a:pt x="580390" y="358140"/>
                    <a:pt x="603250" y="384810"/>
                  </a:cubicBezTo>
                  <a:cubicBezTo>
                    <a:pt x="619760" y="403860"/>
                    <a:pt x="640080" y="419100"/>
                    <a:pt x="642620" y="435610"/>
                  </a:cubicBezTo>
                  <a:cubicBezTo>
                    <a:pt x="643890" y="447040"/>
                    <a:pt x="635000" y="464820"/>
                    <a:pt x="626110" y="468630"/>
                  </a:cubicBezTo>
                  <a:cubicBezTo>
                    <a:pt x="621030" y="472440"/>
                    <a:pt x="608330" y="468630"/>
                    <a:pt x="603250" y="464820"/>
                  </a:cubicBezTo>
                  <a:cubicBezTo>
                    <a:pt x="598170" y="461010"/>
                    <a:pt x="593090" y="450850"/>
                    <a:pt x="593090" y="443230"/>
                  </a:cubicBezTo>
                  <a:cubicBezTo>
                    <a:pt x="593090" y="436880"/>
                    <a:pt x="599440" y="425450"/>
                    <a:pt x="605790" y="422910"/>
                  </a:cubicBezTo>
                  <a:cubicBezTo>
                    <a:pt x="612140" y="419100"/>
                    <a:pt x="629920" y="420370"/>
                    <a:pt x="636270" y="425450"/>
                  </a:cubicBezTo>
                  <a:cubicBezTo>
                    <a:pt x="641350" y="433070"/>
                    <a:pt x="641350" y="455930"/>
                    <a:pt x="636270" y="462280"/>
                  </a:cubicBezTo>
                  <a:cubicBezTo>
                    <a:pt x="631190" y="468630"/>
                    <a:pt x="617220" y="471170"/>
                    <a:pt x="605790" y="466090"/>
                  </a:cubicBezTo>
                  <a:cubicBezTo>
                    <a:pt x="577850" y="455930"/>
                    <a:pt x="538480" y="384810"/>
                    <a:pt x="492760" y="341630"/>
                  </a:cubicBezTo>
                  <a:cubicBezTo>
                    <a:pt x="435610" y="288290"/>
                    <a:pt x="361950" y="226060"/>
                    <a:pt x="284480" y="177800"/>
                  </a:cubicBezTo>
                  <a:cubicBezTo>
                    <a:pt x="200660" y="127000"/>
                    <a:pt x="35560" y="78740"/>
                    <a:pt x="8890" y="48260"/>
                  </a:cubicBezTo>
                  <a:cubicBezTo>
                    <a:pt x="1270" y="39370"/>
                    <a:pt x="1270" y="31750"/>
                    <a:pt x="2540" y="25400"/>
                  </a:cubicBezTo>
                  <a:cubicBezTo>
                    <a:pt x="3810" y="19050"/>
                    <a:pt x="8890" y="11430"/>
                    <a:pt x="16510" y="7620"/>
                  </a:cubicBezTo>
                  <a:cubicBezTo>
                    <a:pt x="34290" y="0"/>
                    <a:pt x="76200" y="7620"/>
                    <a:pt x="109220" y="15240"/>
                  </a:cubicBezTo>
                  <a:cubicBezTo>
                    <a:pt x="152400" y="24130"/>
                    <a:pt x="207010" y="40640"/>
                    <a:pt x="252730" y="63500"/>
                  </a:cubicBezTo>
                  <a:cubicBezTo>
                    <a:pt x="303530" y="88900"/>
                    <a:pt x="353060" y="123190"/>
                    <a:pt x="400050" y="166370"/>
                  </a:cubicBezTo>
                  <a:cubicBezTo>
                    <a:pt x="455930" y="218440"/>
                    <a:pt x="541020" y="317500"/>
                    <a:pt x="558800" y="360680"/>
                  </a:cubicBezTo>
                  <a:cubicBezTo>
                    <a:pt x="567690" y="378460"/>
                    <a:pt x="570230" y="394970"/>
                    <a:pt x="565150" y="403860"/>
                  </a:cubicBezTo>
                  <a:cubicBezTo>
                    <a:pt x="561340" y="410210"/>
                    <a:pt x="549910" y="414020"/>
                    <a:pt x="543560" y="414020"/>
                  </a:cubicBezTo>
                  <a:cubicBezTo>
                    <a:pt x="535940" y="414020"/>
                    <a:pt x="529590" y="408940"/>
                    <a:pt x="523240" y="401320"/>
                  </a:cubicBezTo>
                  <a:cubicBezTo>
                    <a:pt x="510540" y="387350"/>
                    <a:pt x="501650" y="349250"/>
                    <a:pt x="483870" y="323850"/>
                  </a:cubicBezTo>
                  <a:cubicBezTo>
                    <a:pt x="462280" y="294640"/>
                    <a:pt x="406400" y="260350"/>
                    <a:pt x="397510" y="238760"/>
                  </a:cubicBezTo>
                  <a:cubicBezTo>
                    <a:pt x="393700" y="229870"/>
                    <a:pt x="393700" y="222250"/>
                    <a:pt x="396240" y="215900"/>
                  </a:cubicBezTo>
                  <a:cubicBezTo>
                    <a:pt x="400050" y="209550"/>
                    <a:pt x="406400" y="201930"/>
                    <a:pt x="415290" y="201930"/>
                  </a:cubicBezTo>
                  <a:cubicBezTo>
                    <a:pt x="435610" y="201930"/>
                    <a:pt x="487680" y="247650"/>
                    <a:pt x="515620" y="273050"/>
                  </a:cubicBezTo>
                  <a:cubicBezTo>
                    <a:pt x="537210" y="294640"/>
                    <a:pt x="552450" y="327660"/>
                    <a:pt x="568960" y="340360"/>
                  </a:cubicBezTo>
                  <a:cubicBezTo>
                    <a:pt x="580390" y="347980"/>
                    <a:pt x="596900" y="345440"/>
                    <a:pt x="603250" y="351790"/>
                  </a:cubicBezTo>
                  <a:cubicBezTo>
                    <a:pt x="608330" y="359410"/>
                    <a:pt x="608330" y="374650"/>
                    <a:pt x="604520" y="381000"/>
                  </a:cubicBezTo>
                  <a:cubicBezTo>
                    <a:pt x="600710" y="387350"/>
                    <a:pt x="579120" y="393700"/>
                    <a:pt x="579120" y="393700"/>
                  </a:cubicBezTo>
                </a:path>
              </a:pathLst>
            </a:custGeom>
            <a:solidFill>
              <a:srgbClr val="051D40"/>
            </a:solidFill>
            <a:ln cap="sq">
              <a:noFill/>
              <a:prstDash val="solid"/>
              <a:miter/>
            </a:ln>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7240513" y="5380770"/>
            <a:ext cx="4161751" cy="1184729"/>
            <a:chOff x="0" y="0"/>
            <a:chExt cx="2565722" cy="730386"/>
          </a:xfrm>
        </p:grpSpPr>
        <p:sp>
          <p:nvSpPr>
            <p:cNvPr name="Freeform 3" id="3"/>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p:spPr>
        </p:sp>
        <p:sp>
          <p:nvSpPr>
            <p:cNvPr name="TextBox 4" id="4"/>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5" id="5"/>
          <p:cNvGrpSpPr/>
          <p:nvPr/>
        </p:nvGrpSpPr>
        <p:grpSpPr>
          <a:xfrm rot="0">
            <a:off x="7561301" y="4207468"/>
            <a:ext cx="4161751" cy="1184729"/>
            <a:chOff x="0" y="0"/>
            <a:chExt cx="2565722" cy="730386"/>
          </a:xfrm>
        </p:grpSpPr>
        <p:sp>
          <p:nvSpPr>
            <p:cNvPr name="Freeform 6" id="6"/>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p:spPr>
        </p:sp>
        <p:sp>
          <p:nvSpPr>
            <p:cNvPr name="TextBox 7" id="7"/>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8" id="8"/>
          <p:cNvGrpSpPr/>
          <p:nvPr/>
        </p:nvGrpSpPr>
        <p:grpSpPr>
          <a:xfrm rot="0">
            <a:off x="7561301" y="6550616"/>
            <a:ext cx="4161751" cy="1184729"/>
            <a:chOff x="0" y="0"/>
            <a:chExt cx="2565722" cy="730386"/>
          </a:xfrm>
        </p:grpSpPr>
        <p:sp>
          <p:nvSpPr>
            <p:cNvPr name="Freeform 9" id="9"/>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CFF4FF"/>
            </a:solidFill>
          </p:spPr>
        </p:sp>
        <p:sp>
          <p:nvSpPr>
            <p:cNvPr name="TextBox 10" id="10"/>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sp>
        <p:nvSpPr>
          <p:cNvPr name="TextBox 11" id="11"/>
          <p:cNvSpPr txBox="true"/>
          <p:nvPr/>
        </p:nvSpPr>
        <p:spPr>
          <a:xfrm rot="0">
            <a:off x="7948748" y="5630322"/>
            <a:ext cx="2745282" cy="628474"/>
          </a:xfrm>
          <a:prstGeom prst="rect">
            <a:avLst/>
          </a:prstGeom>
        </p:spPr>
        <p:txBody>
          <a:bodyPr anchor="t" rtlCol="false" tIns="0" lIns="0" bIns="0" rIns="0">
            <a:spAutoFit/>
          </a:bodyPr>
          <a:lstStyle/>
          <a:p>
            <a:pPr algn="ctr" marL="0" indent="0" lvl="0">
              <a:lnSpc>
                <a:spcPts val="5185"/>
              </a:lnSpc>
              <a:spcBef>
                <a:spcPct val="0"/>
              </a:spcBef>
            </a:pPr>
            <a:r>
              <a:rPr lang="en-US" b="true" sz="3757">
                <a:solidFill>
                  <a:srgbClr val="051D40"/>
                </a:solidFill>
                <a:latin typeface="DM Sans Bold"/>
                <a:ea typeface="DM Sans Bold"/>
                <a:cs typeface="DM Sans Bold"/>
                <a:sym typeface="DM Sans Bold"/>
              </a:rPr>
              <a:t>2</a:t>
            </a:r>
          </a:p>
        </p:txBody>
      </p:sp>
      <p:sp>
        <p:nvSpPr>
          <p:cNvPr name="TextBox 12" id="12"/>
          <p:cNvSpPr txBox="true"/>
          <p:nvPr/>
        </p:nvSpPr>
        <p:spPr>
          <a:xfrm rot="0">
            <a:off x="8184279" y="4457021"/>
            <a:ext cx="2745282" cy="628474"/>
          </a:xfrm>
          <a:prstGeom prst="rect">
            <a:avLst/>
          </a:prstGeom>
        </p:spPr>
        <p:txBody>
          <a:bodyPr anchor="t" rtlCol="false" tIns="0" lIns="0" bIns="0" rIns="0">
            <a:spAutoFit/>
          </a:bodyPr>
          <a:lstStyle/>
          <a:p>
            <a:pPr algn="ctr" marL="0" indent="0" lvl="0">
              <a:lnSpc>
                <a:spcPts val="5185"/>
              </a:lnSpc>
              <a:spcBef>
                <a:spcPct val="0"/>
              </a:spcBef>
            </a:pPr>
            <a:r>
              <a:rPr lang="en-US" b="true" sz="3757">
                <a:solidFill>
                  <a:srgbClr val="051D40"/>
                </a:solidFill>
                <a:latin typeface="DM Sans Bold"/>
                <a:ea typeface="DM Sans Bold"/>
                <a:cs typeface="DM Sans Bold"/>
                <a:sym typeface="DM Sans Bold"/>
              </a:rPr>
              <a:t>1</a:t>
            </a:r>
          </a:p>
        </p:txBody>
      </p:sp>
      <p:sp>
        <p:nvSpPr>
          <p:cNvPr name="TextBox 13" id="13"/>
          <p:cNvSpPr txBox="true"/>
          <p:nvPr/>
        </p:nvSpPr>
        <p:spPr>
          <a:xfrm rot="0">
            <a:off x="8269535" y="6802446"/>
            <a:ext cx="2745282" cy="628474"/>
          </a:xfrm>
          <a:prstGeom prst="rect">
            <a:avLst/>
          </a:prstGeom>
        </p:spPr>
        <p:txBody>
          <a:bodyPr anchor="t" rtlCol="false" tIns="0" lIns="0" bIns="0" rIns="0">
            <a:spAutoFit/>
          </a:bodyPr>
          <a:lstStyle/>
          <a:p>
            <a:pPr algn="ctr" marL="0" indent="0" lvl="0">
              <a:lnSpc>
                <a:spcPts val="5185"/>
              </a:lnSpc>
              <a:spcBef>
                <a:spcPct val="0"/>
              </a:spcBef>
            </a:pPr>
            <a:r>
              <a:rPr lang="en-US" b="true" sz="3757">
                <a:solidFill>
                  <a:srgbClr val="051D40"/>
                </a:solidFill>
                <a:latin typeface="DM Sans Bold"/>
                <a:ea typeface="DM Sans Bold"/>
                <a:cs typeface="DM Sans Bold"/>
                <a:sym typeface="DM Sans Bold"/>
              </a:rPr>
              <a:t>3</a:t>
            </a:r>
          </a:p>
        </p:txBody>
      </p:sp>
      <p:sp>
        <p:nvSpPr>
          <p:cNvPr name="TextBox 14" id="14"/>
          <p:cNvSpPr txBox="true"/>
          <p:nvPr/>
        </p:nvSpPr>
        <p:spPr>
          <a:xfrm rot="0">
            <a:off x="1652966" y="5526666"/>
            <a:ext cx="5487603" cy="827380"/>
          </a:xfrm>
          <a:prstGeom prst="rect">
            <a:avLst/>
          </a:prstGeom>
        </p:spPr>
        <p:txBody>
          <a:bodyPr anchor="t" rtlCol="false" tIns="0" lIns="0" bIns="0" rIns="0">
            <a:spAutoFit/>
          </a:bodyPr>
          <a:lstStyle/>
          <a:p>
            <a:pPr algn="l" marL="0" indent="0" lvl="0">
              <a:lnSpc>
                <a:spcPts val="3364"/>
              </a:lnSpc>
            </a:pPr>
            <a:r>
              <a:rPr lang="en-US" sz="2670">
                <a:solidFill>
                  <a:srgbClr val="FFFFFF"/>
                </a:solidFill>
                <a:latin typeface="DM Sans"/>
                <a:ea typeface="DM Sans"/>
                <a:cs typeface="DM Sans"/>
                <a:sym typeface="DM Sans"/>
              </a:rPr>
              <a:t>E</a:t>
            </a:r>
            <a:r>
              <a:rPr lang="en-US" sz="2670" strike="noStrike" u="none">
                <a:solidFill>
                  <a:srgbClr val="FFFFFF"/>
                </a:solidFill>
                <a:latin typeface="DM Sans"/>
                <a:ea typeface="DM Sans"/>
                <a:cs typeface="DM Sans"/>
                <a:sym typeface="DM Sans"/>
              </a:rPr>
              <a:t>nsure compliance with labor laws</a:t>
            </a:r>
          </a:p>
          <a:p>
            <a:pPr algn="ctr" marL="0" indent="0" lvl="0">
              <a:lnSpc>
                <a:spcPts val="3364"/>
              </a:lnSpc>
            </a:pPr>
            <a:r>
              <a:rPr lang="en-US" sz="2670" strike="noStrike" u="none">
                <a:solidFill>
                  <a:srgbClr val="FFFFFF"/>
                </a:solidFill>
                <a:latin typeface="DM Sans"/>
                <a:ea typeface="DM Sans"/>
                <a:cs typeface="DM Sans"/>
                <a:sym typeface="DM Sans"/>
              </a:rPr>
              <a:t>and organizational policies.</a:t>
            </a:r>
          </a:p>
        </p:txBody>
      </p:sp>
      <p:sp>
        <p:nvSpPr>
          <p:cNvPr name="TextBox 15" id="15"/>
          <p:cNvSpPr txBox="true"/>
          <p:nvPr/>
        </p:nvSpPr>
        <p:spPr>
          <a:xfrm rot="0">
            <a:off x="11877918" y="4381378"/>
            <a:ext cx="4884918" cy="827385"/>
          </a:xfrm>
          <a:prstGeom prst="rect">
            <a:avLst/>
          </a:prstGeom>
        </p:spPr>
        <p:txBody>
          <a:bodyPr anchor="t" rtlCol="false" tIns="0" lIns="0" bIns="0" rIns="0">
            <a:spAutoFit/>
          </a:bodyPr>
          <a:lstStyle/>
          <a:p>
            <a:pPr algn="ctr" marL="0" indent="0" lvl="0">
              <a:lnSpc>
                <a:spcPts val="3363"/>
              </a:lnSpc>
            </a:pPr>
            <a:r>
              <a:rPr lang="en-US" sz="2669">
                <a:solidFill>
                  <a:srgbClr val="FFFFFF"/>
                </a:solidFill>
                <a:latin typeface="DM Sans"/>
                <a:ea typeface="DM Sans"/>
                <a:cs typeface="DM Sans"/>
                <a:sym typeface="DM Sans"/>
              </a:rPr>
              <a:t>Co</a:t>
            </a:r>
            <a:r>
              <a:rPr lang="en-US" sz="2669" strike="noStrike" u="none">
                <a:solidFill>
                  <a:srgbClr val="FFFFFF"/>
                </a:solidFill>
                <a:latin typeface="DM Sans"/>
                <a:ea typeface="DM Sans"/>
                <a:cs typeface="DM Sans"/>
                <a:sym typeface="DM Sans"/>
              </a:rPr>
              <a:t>nduct an internal audit of absence data</a:t>
            </a:r>
          </a:p>
        </p:txBody>
      </p:sp>
      <p:sp>
        <p:nvSpPr>
          <p:cNvPr name="TextBox 16" id="16"/>
          <p:cNvSpPr txBox="true"/>
          <p:nvPr/>
        </p:nvSpPr>
        <p:spPr>
          <a:xfrm rot="0">
            <a:off x="11877918" y="6735947"/>
            <a:ext cx="4500162" cy="827385"/>
          </a:xfrm>
          <a:prstGeom prst="rect">
            <a:avLst/>
          </a:prstGeom>
        </p:spPr>
        <p:txBody>
          <a:bodyPr anchor="t" rtlCol="false" tIns="0" lIns="0" bIns="0" rIns="0">
            <a:spAutoFit/>
          </a:bodyPr>
          <a:lstStyle/>
          <a:p>
            <a:pPr algn="ctr" marL="0" indent="0" lvl="0">
              <a:lnSpc>
                <a:spcPts val="3363"/>
              </a:lnSpc>
            </a:pPr>
            <a:r>
              <a:rPr lang="en-US" sz="2669">
                <a:solidFill>
                  <a:srgbClr val="FFFFFF"/>
                </a:solidFill>
                <a:latin typeface="DM Sans"/>
                <a:ea typeface="DM Sans"/>
                <a:cs typeface="DM Sans"/>
                <a:sym typeface="DM Sans"/>
              </a:rPr>
              <a:t>Address any discrepancie</a:t>
            </a:r>
            <a:r>
              <a:rPr lang="en-US" sz="2669" strike="noStrike" u="none">
                <a:solidFill>
                  <a:srgbClr val="FFFFFF"/>
                </a:solidFill>
                <a:latin typeface="DM Sans"/>
                <a:ea typeface="DM Sans"/>
                <a:cs typeface="DM Sans"/>
                <a:sym typeface="DM Sans"/>
              </a:rPr>
              <a:t>s or missing leave data</a:t>
            </a:r>
          </a:p>
        </p:txBody>
      </p:sp>
      <p:sp>
        <p:nvSpPr>
          <p:cNvPr name="Freeform 17" id="17"/>
          <p:cNvSpPr/>
          <p:nvPr/>
        </p:nvSpPr>
        <p:spPr>
          <a:xfrm flipH="false" flipV="false" rot="0">
            <a:off x="-2519628" y="7227483"/>
            <a:ext cx="7086596" cy="7086596"/>
          </a:xfrm>
          <a:custGeom>
            <a:avLst/>
            <a:gdLst/>
            <a:ahLst/>
            <a:cxnLst/>
            <a:rect r="r" b="b" t="t" l="l"/>
            <a:pathLst>
              <a:path h="7086596" w="7086596">
                <a:moveTo>
                  <a:pt x="0" y="0"/>
                </a:moveTo>
                <a:lnTo>
                  <a:pt x="7086596" y="0"/>
                </a:lnTo>
                <a:lnTo>
                  <a:pt x="7086596" y="7086596"/>
                </a:lnTo>
                <a:lnTo>
                  <a:pt x="0" y="7086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0436461">
            <a:off x="14152110" y="-4118246"/>
            <a:ext cx="6566182" cy="6566182"/>
          </a:xfrm>
          <a:custGeom>
            <a:avLst/>
            <a:gdLst/>
            <a:ahLst/>
            <a:cxnLst/>
            <a:rect r="r" b="b" t="t" l="l"/>
            <a:pathLst>
              <a:path h="6566182" w="6566182">
                <a:moveTo>
                  <a:pt x="0" y="0"/>
                </a:moveTo>
                <a:lnTo>
                  <a:pt x="6566182" y="0"/>
                </a:lnTo>
                <a:lnTo>
                  <a:pt x="6566182" y="6566183"/>
                </a:lnTo>
                <a:lnTo>
                  <a:pt x="0" y="6566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2451624" y="619125"/>
            <a:ext cx="13384753" cy="819150"/>
          </a:xfrm>
          <a:prstGeom prst="rect">
            <a:avLst/>
          </a:prstGeom>
        </p:spPr>
        <p:txBody>
          <a:bodyPr anchor="t" rtlCol="false" tIns="0" lIns="0" bIns="0" rIns="0">
            <a:spAutoFit/>
          </a:bodyPr>
          <a:lstStyle/>
          <a:p>
            <a:pPr algn="ctr" marL="0" indent="0" lvl="0">
              <a:lnSpc>
                <a:spcPts val="6359"/>
              </a:lnSpc>
              <a:spcBef>
                <a:spcPct val="0"/>
              </a:spcBef>
            </a:pPr>
            <a:r>
              <a:rPr lang="en-US" b="true" sz="5299">
                <a:solidFill>
                  <a:srgbClr val="F5FFF5"/>
                </a:solidFill>
                <a:latin typeface="Now Bold"/>
                <a:ea typeface="Now Bold"/>
                <a:cs typeface="Now Bold"/>
                <a:sym typeface="Now Bold"/>
              </a:rPr>
              <a:t>Audit Absence Data</a:t>
            </a:r>
          </a:p>
        </p:txBody>
      </p:sp>
      <p:sp>
        <p:nvSpPr>
          <p:cNvPr name="TextBox 20" id="20"/>
          <p:cNvSpPr txBox="true"/>
          <p:nvPr/>
        </p:nvSpPr>
        <p:spPr>
          <a:xfrm rot="0">
            <a:off x="4368193" y="1476375"/>
            <a:ext cx="10001845" cy="455295"/>
          </a:xfrm>
          <a:prstGeom prst="rect">
            <a:avLst/>
          </a:prstGeom>
        </p:spPr>
        <p:txBody>
          <a:bodyPr anchor="t" rtlCol="false" tIns="0" lIns="0" bIns="0" rIns="0">
            <a:spAutoFit/>
          </a:bodyPr>
          <a:lstStyle/>
          <a:p>
            <a:pPr algn="ctr">
              <a:lnSpc>
                <a:spcPts val="3780"/>
              </a:lnSpc>
              <a:spcBef>
                <a:spcPct val="0"/>
              </a:spcBef>
            </a:pPr>
            <a:r>
              <a:rPr lang="en-US" sz="2700">
                <a:solidFill>
                  <a:srgbClr val="FFFFFF"/>
                </a:solidFill>
                <a:latin typeface="DM Sans"/>
                <a:ea typeface="DM Sans"/>
                <a:cs typeface="DM Sans"/>
                <a:sym typeface="DM Sans"/>
              </a:rPr>
              <a:t>Goal: Internal audit of a</a:t>
            </a:r>
            <a:r>
              <a:rPr lang="en-US" sz="2700">
                <a:solidFill>
                  <a:srgbClr val="FFFFFF"/>
                </a:solidFill>
                <a:latin typeface="DM Sans"/>
                <a:ea typeface="DM Sans"/>
                <a:cs typeface="DM Sans"/>
                <a:sym typeface="DM Sans"/>
              </a:rPr>
              <a:t>bsence data completed for compliance.</a:t>
            </a:r>
          </a:p>
        </p:txBody>
      </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4" id="14"/>
          <p:cNvSpPr txBox="true"/>
          <p:nvPr/>
        </p:nvSpPr>
        <p:spPr>
          <a:xfrm rot="0">
            <a:off x="524367" y="830250"/>
            <a:ext cx="11283167" cy="819150"/>
          </a:xfrm>
          <a:prstGeom prst="rect">
            <a:avLst/>
          </a:prstGeom>
        </p:spPr>
        <p:txBody>
          <a:bodyPr anchor="t" rtlCol="false" tIns="0" lIns="0" bIns="0" rIns="0">
            <a:spAutoFit/>
          </a:bodyPr>
          <a:lstStyle/>
          <a:p>
            <a:pPr algn="l">
              <a:lnSpc>
                <a:spcPts val="3265"/>
              </a:lnSpc>
            </a:pPr>
            <a:r>
              <a:rPr lang="en-US" sz="2721" b="true">
                <a:solidFill>
                  <a:srgbClr val="FFFFFF"/>
                </a:solidFill>
                <a:latin typeface="Now Bold"/>
                <a:ea typeface="Now Bold"/>
                <a:cs typeface="Now Bold"/>
                <a:sym typeface="Now Bold"/>
              </a:rPr>
              <a:t>AUDIT ABSENCE DATA:</a:t>
            </a:r>
          </a:p>
          <a:p>
            <a:pPr algn="l" marL="0" indent="0" lvl="0">
              <a:lnSpc>
                <a:spcPts val="3265"/>
              </a:lnSpc>
              <a:spcBef>
                <a:spcPct val="0"/>
              </a:spcBef>
            </a:pPr>
            <a:r>
              <a:rPr lang="en-US" b="true" sz="2721">
                <a:solidFill>
                  <a:srgbClr val="FFFFFF"/>
                </a:solidFill>
                <a:latin typeface="Now Bold"/>
                <a:ea typeface="Now Bold"/>
                <a:cs typeface="Now Bold"/>
                <a:sym typeface="Now Bold"/>
              </a:rPr>
              <a:t>CONDUCT AN INTERNAL AUDIT</a:t>
            </a:r>
          </a:p>
        </p:txBody>
      </p:sp>
      <p:sp>
        <p:nvSpPr>
          <p:cNvPr name="TextBox 15" id="15"/>
          <p:cNvSpPr txBox="true"/>
          <p:nvPr/>
        </p:nvSpPr>
        <p:spPr>
          <a:xfrm rot="0">
            <a:off x="5350947" y="2918790"/>
            <a:ext cx="7731995" cy="452268"/>
          </a:xfrm>
          <a:prstGeom prst="rect">
            <a:avLst/>
          </a:prstGeom>
        </p:spPr>
        <p:txBody>
          <a:bodyPr anchor="t" rtlCol="false" tIns="0" lIns="0" bIns="0" rIns="0">
            <a:spAutoFit/>
          </a:bodyPr>
          <a:lstStyle/>
          <a:p>
            <a:pPr algn="ctr" marL="0" indent="0" lvl="0">
              <a:lnSpc>
                <a:spcPts val="3747"/>
              </a:lnSpc>
              <a:spcBef>
                <a:spcPct val="0"/>
              </a:spcBef>
            </a:pPr>
            <a:r>
              <a:rPr lang="en-US" b="true" sz="2715">
                <a:solidFill>
                  <a:srgbClr val="FFFFFF"/>
                </a:solidFill>
                <a:latin typeface="DM Sans Bold"/>
                <a:ea typeface="DM Sans Bold"/>
                <a:cs typeface="DM Sans Bold"/>
                <a:sym typeface="DM Sans Bold"/>
              </a:rPr>
              <a:t>POLICY OVERVIEW:</a:t>
            </a:r>
          </a:p>
        </p:txBody>
      </p:sp>
      <p:sp>
        <p:nvSpPr>
          <p:cNvPr name="TextBox 16" id="16"/>
          <p:cNvSpPr txBox="true"/>
          <p:nvPr/>
        </p:nvSpPr>
        <p:spPr>
          <a:xfrm rot="0">
            <a:off x="5350947" y="3556283"/>
            <a:ext cx="7731995" cy="4559829"/>
          </a:xfrm>
          <a:prstGeom prst="rect">
            <a:avLst/>
          </a:prstGeom>
        </p:spPr>
        <p:txBody>
          <a:bodyPr anchor="t" rtlCol="false" tIns="0" lIns="0" bIns="0" rIns="0">
            <a:spAutoFit/>
          </a:bodyPr>
          <a:lstStyle/>
          <a:p>
            <a:pPr algn="just">
              <a:lnSpc>
                <a:spcPts val="3609"/>
              </a:lnSpc>
            </a:pPr>
            <a:r>
              <a:rPr lang="en-US" sz="2615">
                <a:solidFill>
                  <a:srgbClr val="FFFFFF"/>
                </a:solidFill>
                <a:latin typeface="DM Sans"/>
                <a:ea typeface="DM Sans"/>
                <a:cs typeface="DM Sans"/>
                <a:sym typeface="DM Sans"/>
              </a:rPr>
              <a:t>           Leave</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Com</a:t>
            </a:r>
            <a:r>
              <a:rPr lang="en-US" sz="2615" strike="noStrike" u="none">
                <a:solidFill>
                  <a:srgbClr val="FFFFFF"/>
                </a:solidFill>
                <a:latin typeface="DM Sans"/>
                <a:ea typeface="DM Sans"/>
                <a:cs typeface="DM Sans"/>
                <a:sym typeface="DM Sans"/>
              </a:rPr>
              <a:t>p</a:t>
            </a:r>
            <a:r>
              <a:rPr lang="en-US" sz="2615" strike="noStrike" u="none">
                <a:solidFill>
                  <a:srgbClr val="FFFFFF"/>
                </a:solidFill>
                <a:latin typeface="DM Sans"/>
                <a:ea typeface="DM Sans"/>
                <a:cs typeface="DM Sans"/>
                <a:sym typeface="DM Sans"/>
              </a:rPr>
              <a:t>ens</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t</a:t>
            </a:r>
            <a:r>
              <a:rPr lang="en-US" sz="2615" strike="noStrike" u="none">
                <a:solidFill>
                  <a:srgbClr val="FFFFFF"/>
                </a:solidFill>
                <a:latin typeface="DM Sans"/>
                <a:ea typeface="DM Sans"/>
                <a:cs typeface="DM Sans"/>
                <a:sym typeface="DM Sans"/>
              </a:rPr>
              <a:t>i</a:t>
            </a:r>
            <a:r>
              <a:rPr lang="en-US" sz="2615" strike="noStrike" u="none">
                <a:solidFill>
                  <a:srgbClr val="FFFFFF"/>
                </a:solidFill>
                <a:latin typeface="DM Sans"/>
                <a:ea typeface="DM Sans"/>
                <a:cs typeface="DM Sans"/>
                <a:sym typeface="DM Sans"/>
              </a:rPr>
              <a:t>on</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Po</a:t>
            </a:r>
            <a:r>
              <a:rPr lang="en-US" sz="2615" strike="noStrike" u="none">
                <a:solidFill>
                  <a:srgbClr val="FFFFFF"/>
                </a:solidFill>
                <a:latin typeface="DM Sans"/>
                <a:ea typeface="DM Sans"/>
                <a:cs typeface="DM Sans"/>
                <a:sym typeface="DM Sans"/>
              </a:rPr>
              <a:t>l</a:t>
            </a:r>
            <a:r>
              <a:rPr lang="en-US" sz="2615" strike="noStrike" u="none">
                <a:solidFill>
                  <a:srgbClr val="FFFFFF"/>
                </a:solidFill>
                <a:latin typeface="DM Sans"/>
                <a:ea typeface="DM Sans"/>
                <a:cs typeface="DM Sans"/>
                <a:sym typeface="DM Sans"/>
              </a:rPr>
              <a:t>icy B</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s</a:t>
            </a:r>
            <a:r>
              <a:rPr lang="en-US" sz="2615" strike="noStrike" u="none">
                <a:solidFill>
                  <a:srgbClr val="FFFFFF"/>
                </a:solidFill>
                <a:latin typeface="DM Sans"/>
                <a:ea typeface="DM Sans"/>
                <a:cs typeface="DM Sans"/>
                <a:sym typeface="DM Sans"/>
              </a:rPr>
              <a:t>e</a:t>
            </a:r>
            <a:r>
              <a:rPr lang="en-US" sz="2615" strike="noStrike" u="none">
                <a:solidFill>
                  <a:srgbClr val="FFFFFF"/>
                </a:solidFill>
                <a:latin typeface="DM Sans"/>
                <a:ea typeface="DM Sans"/>
                <a:cs typeface="DM Sans"/>
                <a:sym typeface="DM Sans"/>
              </a:rPr>
              <a:t>d</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on A</a:t>
            </a:r>
            <a:r>
              <a:rPr lang="en-US" sz="2615" strike="noStrike" u="none">
                <a:solidFill>
                  <a:srgbClr val="FFFFFF"/>
                </a:solidFill>
                <a:latin typeface="DM Sans"/>
                <a:ea typeface="DM Sans"/>
                <a:cs typeface="DM Sans"/>
                <a:sym typeface="DM Sans"/>
              </a:rPr>
              <a:t>g</a:t>
            </a:r>
            <a:r>
              <a:rPr lang="en-US" sz="2615" strike="noStrike" u="none">
                <a:solidFill>
                  <a:srgbClr val="FFFFFF"/>
                </a:solidFill>
                <a:latin typeface="DM Sans"/>
                <a:ea typeface="DM Sans"/>
                <a:cs typeface="DM Sans"/>
                <a:sym typeface="DM Sans"/>
              </a:rPr>
              <a:t>e</a:t>
            </a:r>
          </a:p>
          <a:p>
            <a:pPr algn="just" marL="564736" indent="-282368" lvl="1">
              <a:lnSpc>
                <a:spcPts val="3609"/>
              </a:lnSpc>
              <a:buFont typeface="Arial"/>
              <a:buChar char="•"/>
            </a:pPr>
            <a:r>
              <a:rPr lang="en-US" sz="2615" strike="noStrike" u="none">
                <a:solidFill>
                  <a:srgbClr val="FFFFFF"/>
                </a:solidFill>
                <a:latin typeface="DM Sans"/>
                <a:ea typeface="DM Sans"/>
                <a:cs typeface="DM Sans"/>
                <a:sym typeface="DM Sans"/>
              </a:rPr>
              <a:t>In</a:t>
            </a:r>
            <a:r>
              <a:rPr lang="en-US" sz="2615" strike="noStrike" u="none">
                <a:solidFill>
                  <a:srgbClr val="FFFFFF"/>
                </a:solidFill>
                <a:latin typeface="DM Sans"/>
                <a:ea typeface="DM Sans"/>
                <a:cs typeface="DM Sans"/>
                <a:sym typeface="DM Sans"/>
              </a:rPr>
              <a:t> a</a:t>
            </a:r>
            <a:r>
              <a:rPr lang="en-US" sz="2615" strike="noStrike" u="none">
                <a:solidFill>
                  <a:srgbClr val="FFFFFF"/>
                </a:solidFill>
                <a:latin typeface="DM Sans"/>
                <a:ea typeface="DM Sans"/>
                <a:cs typeface="DM Sans"/>
                <a:sym typeface="DM Sans"/>
              </a:rPr>
              <a:t>ccorda</a:t>
            </a:r>
            <a:r>
              <a:rPr lang="en-US" sz="2615" strike="noStrike" u="none">
                <a:solidFill>
                  <a:srgbClr val="FFFFFF"/>
                </a:solidFill>
                <a:latin typeface="DM Sans"/>
                <a:ea typeface="DM Sans"/>
                <a:cs typeface="DM Sans"/>
                <a:sym typeface="DM Sans"/>
              </a:rPr>
              <a:t>n</a:t>
            </a:r>
            <a:r>
              <a:rPr lang="en-US" sz="2615" strike="noStrike" u="none">
                <a:solidFill>
                  <a:srgbClr val="FFFFFF"/>
                </a:solidFill>
                <a:latin typeface="DM Sans"/>
                <a:ea typeface="DM Sans"/>
                <a:cs typeface="DM Sans"/>
                <a:sym typeface="DM Sans"/>
              </a:rPr>
              <a:t>ce with compa</a:t>
            </a:r>
            <a:r>
              <a:rPr lang="en-US" sz="2615" strike="noStrike" u="none">
                <a:solidFill>
                  <a:srgbClr val="FFFFFF"/>
                </a:solidFill>
                <a:latin typeface="DM Sans"/>
                <a:ea typeface="DM Sans"/>
                <a:cs typeface="DM Sans"/>
                <a:sym typeface="DM Sans"/>
              </a:rPr>
              <a:t>n</a:t>
            </a:r>
            <a:r>
              <a:rPr lang="en-US" sz="2615" strike="noStrike" u="none">
                <a:solidFill>
                  <a:srgbClr val="FFFFFF"/>
                </a:solidFill>
                <a:latin typeface="DM Sans"/>
                <a:ea typeface="DM Sans"/>
                <a:cs typeface="DM Sans"/>
                <a:sym typeface="DM Sans"/>
              </a:rPr>
              <a:t>y reg</a:t>
            </a:r>
            <a:r>
              <a:rPr lang="en-US" sz="2615" strike="noStrike" u="none">
                <a:solidFill>
                  <a:srgbClr val="FFFFFF"/>
                </a:solidFill>
                <a:latin typeface="DM Sans"/>
                <a:ea typeface="DM Sans"/>
                <a:cs typeface="DM Sans"/>
                <a:sym typeface="DM Sans"/>
              </a:rPr>
              <a:t>ul</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t</a:t>
            </a:r>
            <a:r>
              <a:rPr lang="en-US" sz="2615" strike="noStrike" u="none">
                <a:solidFill>
                  <a:srgbClr val="FFFFFF"/>
                </a:solidFill>
                <a:latin typeface="DM Sans"/>
                <a:ea typeface="DM Sans"/>
                <a:cs typeface="DM Sans"/>
                <a:sym typeface="DM Sans"/>
              </a:rPr>
              <a:t>ions</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and employe</a:t>
            </a:r>
            <a:r>
              <a:rPr lang="en-US" sz="2615" strike="noStrike" u="none">
                <a:solidFill>
                  <a:srgbClr val="FFFFFF"/>
                </a:solidFill>
                <a:latin typeface="DM Sans"/>
                <a:ea typeface="DM Sans"/>
                <a:cs typeface="DM Sans"/>
                <a:sym typeface="DM Sans"/>
              </a:rPr>
              <a:t>e </a:t>
            </a:r>
            <a:r>
              <a:rPr lang="en-US" sz="2615" strike="noStrike" u="none">
                <a:solidFill>
                  <a:srgbClr val="FFFFFF"/>
                </a:solidFill>
                <a:latin typeface="DM Sans"/>
                <a:ea typeface="DM Sans"/>
                <a:cs typeface="DM Sans"/>
                <a:sym typeface="DM Sans"/>
              </a:rPr>
              <a:t>welf</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re </a:t>
            </a:r>
            <a:r>
              <a:rPr lang="en-US" sz="2615" strike="noStrike" u="none">
                <a:solidFill>
                  <a:srgbClr val="FFFFFF"/>
                </a:solidFill>
                <a:latin typeface="DM Sans"/>
                <a:ea typeface="DM Sans"/>
                <a:cs typeface="DM Sans"/>
                <a:sym typeface="DM Sans"/>
              </a:rPr>
              <a:t>c</a:t>
            </a:r>
            <a:r>
              <a:rPr lang="en-US" sz="2615" strike="noStrike" u="none">
                <a:solidFill>
                  <a:srgbClr val="FFFFFF"/>
                </a:solidFill>
                <a:latin typeface="DM Sans"/>
                <a:ea typeface="DM Sans"/>
                <a:cs typeface="DM Sans"/>
                <a:sym typeface="DM Sans"/>
              </a:rPr>
              <a:t>onside</a:t>
            </a:r>
            <a:r>
              <a:rPr lang="en-US" sz="2615" strike="noStrike" u="none">
                <a:solidFill>
                  <a:srgbClr val="FFFFFF"/>
                </a:solidFill>
                <a:latin typeface="DM Sans"/>
                <a:ea typeface="DM Sans"/>
                <a:cs typeface="DM Sans"/>
                <a:sym typeface="DM Sans"/>
              </a:rPr>
              <a:t>rat</a:t>
            </a:r>
            <a:r>
              <a:rPr lang="en-US" sz="2615" strike="noStrike" u="none">
                <a:solidFill>
                  <a:srgbClr val="FFFFFF"/>
                </a:solidFill>
                <a:latin typeface="DM Sans"/>
                <a:ea typeface="DM Sans"/>
                <a:cs typeface="DM Sans"/>
                <a:sym typeface="DM Sans"/>
              </a:rPr>
              <a:t>ions, th</a:t>
            </a:r>
            <a:r>
              <a:rPr lang="en-US" sz="2615" strike="noStrike" u="none">
                <a:solidFill>
                  <a:srgbClr val="FFFFFF"/>
                </a:solidFill>
                <a:latin typeface="DM Sans"/>
                <a:ea typeface="DM Sans"/>
                <a:cs typeface="DM Sans"/>
                <a:sym typeface="DM Sans"/>
              </a:rPr>
              <a:t>e</a:t>
            </a:r>
            <a:r>
              <a:rPr lang="en-US" sz="2615" strike="noStrike" u="none">
                <a:solidFill>
                  <a:srgbClr val="FFFFFF"/>
                </a:solidFill>
                <a:latin typeface="DM Sans"/>
                <a:ea typeface="DM Sans"/>
                <a:cs typeface="DM Sans"/>
                <a:sym typeface="DM Sans"/>
              </a:rPr>
              <a:t> annua</a:t>
            </a:r>
            <a:r>
              <a:rPr lang="en-US" sz="2615" strike="noStrike" u="none">
                <a:solidFill>
                  <a:srgbClr val="FFFFFF"/>
                </a:solidFill>
                <a:latin typeface="DM Sans"/>
                <a:ea typeface="DM Sans"/>
                <a:cs typeface="DM Sans"/>
                <a:sym typeface="DM Sans"/>
              </a:rPr>
              <a:t>l </a:t>
            </a:r>
            <a:r>
              <a:rPr lang="en-US" sz="2615" strike="noStrike" u="none">
                <a:solidFill>
                  <a:srgbClr val="FFFFFF"/>
                </a:solidFill>
                <a:latin typeface="DM Sans"/>
                <a:ea typeface="DM Sans"/>
                <a:cs typeface="DM Sans"/>
                <a:sym typeface="DM Sans"/>
              </a:rPr>
              <a:t>l</a:t>
            </a:r>
            <a:r>
              <a:rPr lang="en-US" sz="2615" strike="noStrike" u="none">
                <a:solidFill>
                  <a:srgbClr val="FFFFFF"/>
                </a:solidFill>
                <a:latin typeface="DM Sans"/>
                <a:ea typeface="DM Sans"/>
                <a:cs typeface="DM Sans"/>
                <a:sym typeface="DM Sans"/>
              </a:rPr>
              <a:t>e</a:t>
            </a:r>
            <a:r>
              <a:rPr lang="en-US" sz="2615" strike="noStrike" u="none">
                <a:solidFill>
                  <a:srgbClr val="FFFFFF"/>
                </a:solidFill>
                <a:latin typeface="DM Sans"/>
                <a:ea typeface="DM Sans"/>
                <a:cs typeface="DM Sans"/>
                <a:sym typeface="DM Sans"/>
              </a:rPr>
              <a:t>ave </a:t>
            </a:r>
            <a:r>
              <a:rPr lang="en-US" sz="2615" strike="noStrike" u="none">
                <a:solidFill>
                  <a:srgbClr val="FFFFFF"/>
                </a:solidFill>
                <a:latin typeface="DM Sans"/>
                <a:ea typeface="DM Sans"/>
                <a:cs typeface="DM Sans"/>
                <a:sym typeface="DM Sans"/>
              </a:rPr>
              <a:t>co</a:t>
            </a:r>
            <a:r>
              <a:rPr lang="en-US" sz="2615" strike="noStrike" u="none">
                <a:solidFill>
                  <a:srgbClr val="FFFFFF"/>
                </a:solidFill>
                <a:latin typeface="DM Sans"/>
                <a:ea typeface="DM Sans"/>
                <a:cs typeface="DM Sans"/>
                <a:sym typeface="DM Sans"/>
              </a:rPr>
              <a:t>mp</a:t>
            </a:r>
            <a:r>
              <a:rPr lang="en-US" sz="2615" strike="noStrike" u="none">
                <a:solidFill>
                  <a:srgbClr val="FFFFFF"/>
                </a:solidFill>
                <a:latin typeface="DM Sans"/>
                <a:ea typeface="DM Sans"/>
                <a:cs typeface="DM Sans"/>
                <a:sym typeface="DM Sans"/>
              </a:rPr>
              <a:t>e</a:t>
            </a:r>
            <a:r>
              <a:rPr lang="en-US" sz="2615" strike="noStrike" u="none">
                <a:solidFill>
                  <a:srgbClr val="FFFFFF"/>
                </a:solidFill>
                <a:latin typeface="DM Sans"/>
                <a:ea typeface="DM Sans"/>
                <a:cs typeface="DM Sans"/>
                <a:sym typeface="DM Sans"/>
              </a:rPr>
              <a:t>nsation</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sh</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ll be</a:t>
            </a:r>
            <a:r>
              <a:rPr lang="en-US" sz="2615" strike="noStrike" u="none">
                <a:solidFill>
                  <a:srgbClr val="FFFFFF"/>
                </a:solidFill>
                <a:latin typeface="DM Sans"/>
                <a:ea typeface="DM Sans"/>
                <a:cs typeface="DM Sans"/>
                <a:sym typeface="DM Sans"/>
              </a:rPr>
              <a:t> det</a:t>
            </a:r>
            <a:r>
              <a:rPr lang="en-US" sz="2615" strike="noStrike" u="none">
                <a:solidFill>
                  <a:srgbClr val="FFFFFF"/>
                </a:solidFill>
                <a:latin typeface="DM Sans"/>
                <a:ea typeface="DM Sans"/>
                <a:cs typeface="DM Sans"/>
                <a:sym typeface="DM Sans"/>
              </a:rPr>
              <a:t>ermin</a:t>
            </a:r>
            <a:r>
              <a:rPr lang="en-US" sz="2615" strike="noStrike" u="none">
                <a:solidFill>
                  <a:srgbClr val="FFFFFF"/>
                </a:solidFill>
                <a:latin typeface="DM Sans"/>
                <a:ea typeface="DM Sans"/>
                <a:cs typeface="DM Sans"/>
                <a:sym typeface="DM Sans"/>
              </a:rPr>
              <a:t>ed </a:t>
            </a:r>
            <a:r>
              <a:rPr lang="en-US" sz="2615" strike="noStrike" u="none">
                <a:solidFill>
                  <a:srgbClr val="FFFFFF"/>
                </a:solidFill>
                <a:latin typeface="DM Sans"/>
                <a:ea typeface="DM Sans"/>
                <a:cs typeface="DM Sans"/>
                <a:sym typeface="DM Sans"/>
              </a:rPr>
              <a:t>based </a:t>
            </a:r>
            <a:r>
              <a:rPr lang="en-US" sz="2615" strike="noStrike" u="none">
                <a:solidFill>
                  <a:srgbClr val="FFFFFF"/>
                </a:solidFill>
                <a:latin typeface="DM Sans"/>
                <a:ea typeface="DM Sans"/>
                <a:cs typeface="DM Sans"/>
                <a:sym typeface="DM Sans"/>
              </a:rPr>
              <a:t>o</a:t>
            </a:r>
            <a:r>
              <a:rPr lang="en-US" sz="2615" strike="noStrike" u="none">
                <a:solidFill>
                  <a:srgbClr val="FFFFFF"/>
                </a:solidFill>
                <a:latin typeface="DM Sans"/>
                <a:ea typeface="DM Sans"/>
                <a:cs typeface="DM Sans"/>
                <a:sym typeface="DM Sans"/>
              </a:rPr>
              <a:t>n</a:t>
            </a:r>
            <a:r>
              <a:rPr lang="en-US" sz="2615" strike="noStrike" u="none">
                <a:solidFill>
                  <a:srgbClr val="FFFFFF"/>
                </a:solidFill>
                <a:latin typeface="DM Sans"/>
                <a:ea typeface="DM Sans"/>
                <a:cs typeface="DM Sans"/>
                <a:sym typeface="DM Sans"/>
              </a:rPr>
              <a:t> the employee’s </a:t>
            </a:r>
            <a:r>
              <a:rPr lang="en-US" sz="2615" strike="noStrike" u="none">
                <a:solidFill>
                  <a:srgbClr val="FFFFFF"/>
                </a:solidFill>
                <a:latin typeface="DM Sans"/>
                <a:ea typeface="DM Sans"/>
                <a:cs typeface="DM Sans"/>
                <a:sym typeface="DM Sans"/>
              </a:rPr>
              <a:t>age </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s fo</a:t>
            </a:r>
            <a:r>
              <a:rPr lang="en-US" sz="2615" strike="noStrike" u="none">
                <a:solidFill>
                  <a:srgbClr val="FFFFFF"/>
                </a:solidFill>
                <a:latin typeface="DM Sans"/>
                <a:ea typeface="DM Sans"/>
                <a:cs typeface="DM Sans"/>
                <a:sym typeface="DM Sans"/>
              </a:rPr>
              <a:t>l</a:t>
            </a:r>
            <a:r>
              <a:rPr lang="en-US" sz="2615" strike="noStrike" u="none">
                <a:solidFill>
                  <a:srgbClr val="FFFFFF"/>
                </a:solidFill>
                <a:latin typeface="DM Sans"/>
                <a:ea typeface="DM Sans"/>
                <a:cs typeface="DM Sans"/>
                <a:sym typeface="DM Sans"/>
              </a:rPr>
              <a:t>lows:</a:t>
            </a:r>
          </a:p>
          <a:p>
            <a:pPr algn="just">
              <a:lnSpc>
                <a:spcPts val="3609"/>
              </a:lnSpc>
            </a:pPr>
          </a:p>
          <a:p>
            <a:pPr algn="just" marL="564736" indent="-282368" lvl="1">
              <a:lnSpc>
                <a:spcPts val="3609"/>
              </a:lnSpc>
              <a:buFont typeface="Arial"/>
              <a:buChar char="•"/>
            </a:pPr>
            <a:r>
              <a:rPr lang="en-US" sz="2615" strike="noStrike" u="none">
                <a:solidFill>
                  <a:srgbClr val="FFFFFF"/>
                </a:solidFill>
                <a:latin typeface="DM Sans"/>
                <a:ea typeface="DM Sans"/>
                <a:cs typeface="DM Sans"/>
                <a:sym typeface="DM Sans"/>
              </a:rPr>
              <a:t>Employees </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g</a:t>
            </a:r>
            <a:r>
              <a:rPr lang="en-US" sz="2615" strike="noStrike" u="none">
                <a:solidFill>
                  <a:srgbClr val="FFFFFF"/>
                </a:solidFill>
                <a:latin typeface="DM Sans"/>
                <a:ea typeface="DM Sans"/>
                <a:cs typeface="DM Sans"/>
                <a:sym typeface="DM Sans"/>
              </a:rPr>
              <a:t>e</a:t>
            </a:r>
            <a:r>
              <a:rPr lang="en-US" sz="2615" strike="noStrike" u="none">
                <a:solidFill>
                  <a:srgbClr val="FFFFFF"/>
                </a:solidFill>
                <a:latin typeface="DM Sans"/>
                <a:ea typeface="DM Sans"/>
                <a:cs typeface="DM Sans"/>
                <a:sym typeface="DM Sans"/>
              </a:rPr>
              <a:t>d</a:t>
            </a:r>
            <a:r>
              <a:rPr lang="en-US" sz="2615" strike="noStrike" u="none">
                <a:solidFill>
                  <a:srgbClr val="FFFFFF"/>
                </a:solidFill>
                <a:latin typeface="DM Sans"/>
                <a:ea typeface="DM Sans"/>
                <a:cs typeface="DM Sans"/>
                <a:sym typeface="DM Sans"/>
              </a:rPr>
              <a:t> o</a:t>
            </a:r>
            <a:r>
              <a:rPr lang="en-US" sz="2615" strike="noStrike" u="none">
                <a:solidFill>
                  <a:srgbClr val="FFFFFF"/>
                </a:solidFill>
                <a:latin typeface="DM Sans"/>
                <a:ea typeface="DM Sans"/>
                <a:cs typeface="DM Sans"/>
                <a:sym typeface="DM Sans"/>
              </a:rPr>
              <a:t>ver 50</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ye</a:t>
            </a:r>
            <a:r>
              <a:rPr lang="en-US" sz="2615" strike="noStrike" u="none">
                <a:solidFill>
                  <a:srgbClr val="FFFFFF"/>
                </a:solidFill>
                <a:latin typeface="DM Sans"/>
                <a:ea typeface="DM Sans"/>
                <a:cs typeface="DM Sans"/>
                <a:sym typeface="DM Sans"/>
              </a:rPr>
              <a:t>ar</a:t>
            </a:r>
            <a:r>
              <a:rPr lang="en-US" sz="2615" strike="noStrike" u="none">
                <a:solidFill>
                  <a:srgbClr val="FFFFFF"/>
                </a:solidFill>
                <a:latin typeface="DM Sans"/>
                <a:ea typeface="DM Sans"/>
                <a:cs typeface="DM Sans"/>
                <a:sym typeface="DM Sans"/>
              </a:rPr>
              <a:t>s: Entitled t</a:t>
            </a:r>
            <a:r>
              <a:rPr lang="en-US" sz="2615" strike="noStrike" u="none">
                <a:solidFill>
                  <a:srgbClr val="FFFFFF"/>
                </a:solidFill>
                <a:latin typeface="DM Sans"/>
                <a:ea typeface="DM Sans"/>
                <a:cs typeface="DM Sans"/>
                <a:sym typeface="DM Sans"/>
              </a:rPr>
              <a:t>o</a:t>
            </a:r>
            <a:r>
              <a:rPr lang="en-US" sz="2615" strike="noStrike" u="none">
                <a:solidFill>
                  <a:srgbClr val="FFFFFF"/>
                </a:solidFill>
                <a:latin typeface="DM Sans"/>
                <a:ea typeface="DM Sans"/>
                <a:cs typeface="DM Sans"/>
                <a:sym typeface="DM Sans"/>
              </a:rPr>
              <a:t> 30 d</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ys</a:t>
            </a:r>
            <a:r>
              <a:rPr lang="en-US" sz="2615" strike="noStrike" u="none">
                <a:solidFill>
                  <a:srgbClr val="FFFFFF"/>
                </a:solidFill>
                <a:latin typeface="DM Sans"/>
                <a:ea typeface="DM Sans"/>
                <a:cs typeface="DM Sans"/>
                <a:sym typeface="DM Sans"/>
              </a:rPr>
              <a:t> </a:t>
            </a:r>
            <a:r>
              <a:rPr lang="en-US" sz="2615" strike="noStrike" u="none">
                <a:solidFill>
                  <a:srgbClr val="FFFFFF"/>
                </a:solidFill>
                <a:latin typeface="DM Sans"/>
                <a:ea typeface="DM Sans"/>
                <a:cs typeface="DM Sans"/>
                <a:sym typeface="DM Sans"/>
              </a:rPr>
              <a:t>of p</a:t>
            </a:r>
            <a:r>
              <a:rPr lang="en-US" sz="2615" strike="noStrike" u="none">
                <a:solidFill>
                  <a:srgbClr val="FFFFFF"/>
                </a:solidFill>
                <a:latin typeface="DM Sans"/>
                <a:ea typeface="DM Sans"/>
                <a:cs typeface="DM Sans"/>
                <a:sym typeface="DM Sans"/>
              </a:rPr>
              <a:t>a</a:t>
            </a:r>
            <a:r>
              <a:rPr lang="en-US" sz="2615" strike="noStrike" u="none">
                <a:solidFill>
                  <a:srgbClr val="FFFFFF"/>
                </a:solidFill>
                <a:latin typeface="DM Sans"/>
                <a:ea typeface="DM Sans"/>
                <a:cs typeface="DM Sans"/>
                <a:sym typeface="DM Sans"/>
              </a:rPr>
              <a:t>i</a:t>
            </a:r>
            <a:r>
              <a:rPr lang="en-US" sz="2615" strike="noStrike" u="none">
                <a:solidFill>
                  <a:srgbClr val="FFFFFF"/>
                </a:solidFill>
                <a:latin typeface="DM Sans"/>
                <a:ea typeface="DM Sans"/>
                <a:cs typeface="DM Sans"/>
                <a:sym typeface="DM Sans"/>
              </a:rPr>
              <a:t>d </a:t>
            </a:r>
            <a:r>
              <a:rPr lang="en-US" sz="2615" strike="noStrike" u="none">
                <a:solidFill>
                  <a:srgbClr val="FFFFFF"/>
                </a:solidFill>
                <a:latin typeface="DM Sans"/>
                <a:ea typeface="DM Sans"/>
                <a:cs typeface="DM Sans"/>
                <a:sym typeface="DM Sans"/>
              </a:rPr>
              <a:t>ann</a:t>
            </a:r>
            <a:r>
              <a:rPr lang="en-US" sz="2615" strike="noStrike" u="none">
                <a:solidFill>
                  <a:srgbClr val="FFFFFF"/>
                </a:solidFill>
                <a:latin typeface="DM Sans"/>
                <a:ea typeface="DM Sans"/>
                <a:cs typeface="DM Sans"/>
                <a:sym typeface="DM Sans"/>
              </a:rPr>
              <a:t>ua</a:t>
            </a:r>
            <a:r>
              <a:rPr lang="en-US" sz="2615" strike="noStrike" u="none">
                <a:solidFill>
                  <a:srgbClr val="FFFFFF"/>
                </a:solidFill>
                <a:latin typeface="DM Sans"/>
                <a:ea typeface="DM Sans"/>
                <a:cs typeface="DM Sans"/>
                <a:sym typeface="DM Sans"/>
              </a:rPr>
              <a:t>l leav</a:t>
            </a:r>
            <a:r>
              <a:rPr lang="en-US" sz="2615" strike="noStrike" u="none">
                <a:solidFill>
                  <a:srgbClr val="FFFFFF"/>
                </a:solidFill>
                <a:latin typeface="DM Sans"/>
                <a:ea typeface="DM Sans"/>
                <a:cs typeface="DM Sans"/>
                <a:sym typeface="DM Sans"/>
              </a:rPr>
              <a:t>e.</a:t>
            </a:r>
          </a:p>
          <a:p>
            <a:pPr algn="just" marL="564736" indent="-282368" lvl="1">
              <a:lnSpc>
                <a:spcPts val="3609"/>
              </a:lnSpc>
              <a:buFont typeface="Arial"/>
              <a:buChar char="•"/>
            </a:pPr>
            <a:r>
              <a:rPr lang="en-US" sz="2615" strike="noStrike" u="none">
                <a:solidFill>
                  <a:srgbClr val="FFFFFF"/>
                </a:solidFill>
                <a:latin typeface="DM Sans"/>
                <a:ea typeface="DM Sans"/>
                <a:cs typeface="DM Sans"/>
                <a:sym typeface="DM Sans"/>
              </a:rPr>
              <a:t>Employees aged 50 years or younger: Entitled to 21 days of paid annual leave.</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10800000">
            <a:off x="81160" y="9258300"/>
            <a:ext cx="13457996" cy="3264379"/>
            <a:chOff x="0" y="0"/>
            <a:chExt cx="17943995" cy="4352506"/>
          </a:xfrm>
        </p:grpSpPr>
        <p:sp>
          <p:nvSpPr>
            <p:cNvPr name="Freeform 3" id="3"/>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5" id="5"/>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7" id="7"/>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sp>
        <p:nvSpPr>
          <p:cNvPr name="Freeform 8" id="8"/>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9" id="9"/>
          <p:cNvGrpSpPr/>
          <p:nvPr/>
        </p:nvGrpSpPr>
        <p:grpSpPr>
          <a:xfrm rot="-10800000">
            <a:off x="15966396" y="9258300"/>
            <a:ext cx="13457996" cy="3264379"/>
            <a:chOff x="0" y="0"/>
            <a:chExt cx="17943995" cy="4352506"/>
          </a:xfrm>
        </p:grpSpPr>
        <p:sp>
          <p:nvSpPr>
            <p:cNvPr name="Freeform 10" id="10"/>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2" id="12"/>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14" id="14"/>
          <p:cNvSpPr/>
          <p:nvPr/>
        </p:nvSpPr>
        <p:spPr>
          <a:xfrm flipH="false" flipV="false" rot="0">
            <a:off x="4642543" y="5446493"/>
            <a:ext cx="9002915" cy="2099876"/>
          </a:xfrm>
          <a:custGeom>
            <a:avLst/>
            <a:gdLst/>
            <a:ahLst/>
            <a:cxnLst/>
            <a:rect r="r" b="b" t="t" l="l"/>
            <a:pathLst>
              <a:path h="2099876" w="9002915">
                <a:moveTo>
                  <a:pt x="0" y="0"/>
                </a:moveTo>
                <a:lnTo>
                  <a:pt x="9002914" y="0"/>
                </a:lnTo>
                <a:lnTo>
                  <a:pt x="9002914" y="2099876"/>
                </a:lnTo>
                <a:lnTo>
                  <a:pt x="0" y="2099876"/>
                </a:lnTo>
                <a:lnTo>
                  <a:pt x="0" y="0"/>
                </a:lnTo>
                <a:close/>
              </a:path>
            </a:pathLst>
          </a:custGeom>
          <a:blipFill>
            <a:blip r:embed="rId5"/>
            <a:stretch>
              <a:fillRect l="0" t="0" r="0" b="0"/>
            </a:stretch>
          </a:blipFill>
        </p:spPr>
      </p:sp>
      <p:graphicFrame>
        <p:nvGraphicFramePr>
          <p:cNvPr name="Table 15" id="15"/>
          <p:cNvGraphicFramePr>
            <a:graphicFrameLocks noGrp="true"/>
          </p:cNvGraphicFramePr>
          <p:nvPr/>
        </p:nvGraphicFramePr>
        <p:xfrm>
          <a:off x="4982532" y="7889269"/>
          <a:ext cx="8221718" cy="2116443"/>
        </p:xfrm>
        <a:graphic>
          <a:graphicData uri="http://schemas.openxmlformats.org/drawingml/2006/table">
            <a:tbl>
              <a:tblPr/>
              <a:tblGrid>
                <a:gridCol w="2371952"/>
                <a:gridCol w="3297789"/>
                <a:gridCol w="2551976"/>
              </a:tblGrid>
              <a:tr h="1058221">
                <a:tc>
                  <a:txBody>
                    <a:bodyPr anchor="t" rtlCol="false"/>
                    <a:lstStyle/>
                    <a:p>
                      <a:pPr algn="l">
                        <a:lnSpc>
                          <a:spcPts val="2660"/>
                        </a:lnSpc>
                        <a:defRPr/>
                      </a:pPr>
                      <a:r>
                        <a:rPr lang="en-US" sz="1900">
                          <a:solidFill>
                            <a:srgbClr val="FFFFFF"/>
                          </a:solidFill>
                          <a:latin typeface="Canva Sans"/>
                          <a:ea typeface="Canva Sans"/>
                          <a:cs typeface="Canva Sans"/>
                          <a:sym typeface="Canva Sans"/>
                        </a:rPr>
                        <a:t>Leave Type</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Accrual Plan</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Entitlement (Days)</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1058221">
                <a:tc>
                  <a:txBody>
                    <a:bodyPr anchor="t" rtlCol="false"/>
                    <a:lstStyle/>
                    <a:p>
                      <a:pPr algn="l">
                        <a:lnSpc>
                          <a:spcPts val="2660"/>
                        </a:lnSpc>
                        <a:defRPr/>
                      </a:pPr>
                      <a:r>
                        <a:rPr lang="en-US" sz="1900">
                          <a:solidFill>
                            <a:srgbClr val="FFFFFF"/>
                          </a:solidFill>
                          <a:latin typeface="Canva Sans"/>
                          <a:ea typeface="Canva Sans"/>
                          <a:cs typeface="Canva Sans"/>
                          <a:sym typeface="Canva Sans"/>
                        </a:rPr>
                        <a:t>Annual Leave</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Annual_Accrual Plan</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21</a:t>
                      </a:r>
                      <a:endParaRPr lang="en-US" sz="1100"/>
                    </a:p>
                  </a:txBody>
                  <a:tcPr marL="161925" marR="161925" marT="161925" marB="1619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bl>
          </a:graphicData>
        </a:graphic>
      </p:graphicFrame>
      <p:sp>
        <p:nvSpPr>
          <p:cNvPr name="TextBox 16" id="16"/>
          <p:cNvSpPr txBox="true"/>
          <p:nvPr/>
        </p:nvSpPr>
        <p:spPr>
          <a:xfrm rot="0">
            <a:off x="524367" y="830250"/>
            <a:ext cx="11283167" cy="819150"/>
          </a:xfrm>
          <a:prstGeom prst="rect">
            <a:avLst/>
          </a:prstGeom>
        </p:spPr>
        <p:txBody>
          <a:bodyPr anchor="t" rtlCol="false" tIns="0" lIns="0" bIns="0" rIns="0">
            <a:spAutoFit/>
          </a:bodyPr>
          <a:lstStyle/>
          <a:p>
            <a:pPr algn="just">
              <a:lnSpc>
                <a:spcPts val="3265"/>
              </a:lnSpc>
            </a:pPr>
            <a:r>
              <a:rPr lang="en-US" b="true" sz="2721">
                <a:solidFill>
                  <a:srgbClr val="FFFFFF"/>
                </a:solidFill>
                <a:latin typeface="Now Bold"/>
                <a:ea typeface="Now Bold"/>
                <a:cs typeface="Now Bold"/>
                <a:sym typeface="Now Bold"/>
              </a:rPr>
              <a:t>AUDIT ABSENCE DATA:</a:t>
            </a:r>
          </a:p>
          <a:p>
            <a:pPr algn="just" marL="0" indent="0" lvl="0">
              <a:lnSpc>
                <a:spcPts val="3265"/>
              </a:lnSpc>
              <a:spcBef>
                <a:spcPct val="0"/>
              </a:spcBef>
            </a:pPr>
            <a:r>
              <a:rPr lang="en-US" b="true" sz="2721">
                <a:solidFill>
                  <a:srgbClr val="FFFFFF"/>
                </a:solidFill>
                <a:latin typeface="Now Bold"/>
                <a:ea typeface="Now Bold"/>
                <a:cs typeface="Now Bold"/>
                <a:sym typeface="Now Bold"/>
              </a:rPr>
              <a:t>ADDRESS ANY DISCREPANCIES OR MISSING LEAVE DATA</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37</a:t>
            </a:r>
          </a:p>
        </p:txBody>
      </p:sp>
      <p:sp>
        <p:nvSpPr>
          <p:cNvPr name="TextBox 18" id="18"/>
          <p:cNvSpPr txBox="true"/>
          <p:nvPr/>
        </p:nvSpPr>
        <p:spPr>
          <a:xfrm rot="0">
            <a:off x="5238198" y="3434792"/>
            <a:ext cx="7710385" cy="1668801"/>
          </a:xfrm>
          <a:prstGeom prst="rect">
            <a:avLst/>
          </a:prstGeom>
        </p:spPr>
        <p:txBody>
          <a:bodyPr anchor="t" rtlCol="false" tIns="0" lIns="0" bIns="0" rIns="0">
            <a:spAutoFit/>
          </a:bodyPr>
          <a:lstStyle/>
          <a:p>
            <a:pPr algn="ctr">
              <a:lnSpc>
                <a:spcPts val="3333"/>
              </a:lnSpc>
            </a:pPr>
            <a:r>
              <a:rPr lang="en-US" sz="2415">
                <a:solidFill>
                  <a:srgbClr val="FFFFFF"/>
                </a:solidFill>
                <a:latin typeface="DM Sans"/>
                <a:ea typeface="DM Sans"/>
                <a:cs typeface="DM Sans"/>
                <a:sym typeface="DM Sans"/>
              </a:rPr>
              <a:t>Duri</a:t>
            </a:r>
            <a:r>
              <a:rPr lang="en-US" sz="2415" strike="noStrike" u="none">
                <a:solidFill>
                  <a:srgbClr val="FFFFFF"/>
                </a:solidFill>
                <a:latin typeface="DM Sans"/>
                <a:ea typeface="DM Sans"/>
                <a:cs typeface="DM Sans"/>
                <a:sym typeface="DM Sans"/>
              </a:rPr>
              <a:t>n</a:t>
            </a:r>
            <a:r>
              <a:rPr lang="en-US" sz="2415" strike="noStrike" u="none">
                <a:solidFill>
                  <a:srgbClr val="FFFFFF"/>
                </a:solidFill>
                <a:latin typeface="DM Sans"/>
                <a:ea typeface="DM Sans"/>
                <a:cs typeface="DM Sans"/>
                <a:sym typeface="DM Sans"/>
              </a:rPr>
              <a:t>g</a:t>
            </a:r>
            <a:r>
              <a:rPr lang="en-US" sz="2415" strike="noStrike" u="none">
                <a:solidFill>
                  <a:srgbClr val="FFFFFF"/>
                </a:solidFill>
                <a:latin typeface="DM Sans"/>
                <a:ea typeface="DM Sans"/>
                <a:cs typeface="DM Sans"/>
                <a:sym typeface="DM Sans"/>
              </a:rPr>
              <a:t> a </a:t>
            </a:r>
            <a:r>
              <a:rPr lang="en-US" sz="2415" strike="noStrike" u="none">
                <a:solidFill>
                  <a:srgbClr val="FFFFFF"/>
                </a:solidFill>
                <a:latin typeface="DM Sans"/>
                <a:ea typeface="DM Sans"/>
                <a:cs typeface="DM Sans"/>
                <a:sym typeface="DM Sans"/>
              </a:rPr>
              <a:t>rou</a:t>
            </a:r>
            <a:r>
              <a:rPr lang="en-US" sz="2415" strike="noStrike" u="none">
                <a:solidFill>
                  <a:srgbClr val="FFFFFF"/>
                </a:solidFill>
                <a:latin typeface="DM Sans"/>
                <a:ea typeface="DM Sans"/>
                <a:cs typeface="DM Sans"/>
                <a:sym typeface="DM Sans"/>
              </a:rPr>
              <a:t>t</a:t>
            </a:r>
            <a:r>
              <a:rPr lang="en-US" sz="2415" strike="noStrike" u="none">
                <a:solidFill>
                  <a:srgbClr val="FFFFFF"/>
                </a:solidFill>
                <a:latin typeface="DM Sans"/>
                <a:ea typeface="DM Sans"/>
                <a:cs typeface="DM Sans"/>
                <a:sym typeface="DM Sans"/>
              </a:rPr>
              <a:t>in</a:t>
            </a:r>
            <a:r>
              <a:rPr lang="en-US" sz="2415" strike="noStrike" u="none">
                <a:solidFill>
                  <a:srgbClr val="FFFFFF"/>
                </a:solidFill>
                <a:latin typeface="DM Sans"/>
                <a:ea typeface="DM Sans"/>
                <a:cs typeface="DM Sans"/>
                <a:sym typeface="DM Sans"/>
              </a:rPr>
              <a:t>e </a:t>
            </a:r>
            <a:r>
              <a:rPr lang="en-US" sz="2415" strike="noStrike" u="none">
                <a:solidFill>
                  <a:srgbClr val="FFFFFF"/>
                </a:solidFill>
                <a:latin typeface="DM Sans"/>
                <a:ea typeface="DM Sans"/>
                <a:cs typeface="DM Sans"/>
                <a:sym typeface="DM Sans"/>
              </a:rPr>
              <a:t>review</a:t>
            </a:r>
            <a:r>
              <a:rPr lang="en-US" sz="2415" strike="noStrike" u="none">
                <a:solidFill>
                  <a:srgbClr val="FFFFFF"/>
                </a:solidFill>
                <a:latin typeface="DM Sans"/>
                <a:ea typeface="DM Sans"/>
                <a:cs typeface="DM Sans"/>
                <a:sym typeface="DM Sans"/>
              </a:rPr>
              <a:t> of </a:t>
            </a:r>
            <a:r>
              <a:rPr lang="en-US" sz="2415" strike="noStrike" u="none">
                <a:solidFill>
                  <a:srgbClr val="FFFFFF"/>
                </a:solidFill>
                <a:latin typeface="DM Sans"/>
                <a:ea typeface="DM Sans"/>
                <a:cs typeface="DM Sans"/>
                <a:sym typeface="DM Sans"/>
              </a:rPr>
              <a:t>em</a:t>
            </a:r>
            <a:r>
              <a:rPr lang="en-US" sz="2415" strike="noStrike" u="none">
                <a:solidFill>
                  <a:srgbClr val="FFFFFF"/>
                </a:solidFill>
                <a:latin typeface="DM Sans"/>
                <a:ea typeface="DM Sans"/>
                <a:cs typeface="DM Sans"/>
                <a:sym typeface="DM Sans"/>
              </a:rPr>
              <a:t>pl</a:t>
            </a:r>
            <a:r>
              <a:rPr lang="en-US" sz="2415" strike="noStrike" u="none">
                <a:solidFill>
                  <a:srgbClr val="FFFFFF"/>
                </a:solidFill>
                <a:latin typeface="DM Sans"/>
                <a:ea typeface="DM Sans"/>
                <a:cs typeface="DM Sans"/>
                <a:sym typeface="DM Sans"/>
              </a:rPr>
              <a:t>oyee</a:t>
            </a:r>
            <a:r>
              <a:rPr lang="en-US" sz="2415" strike="noStrike" u="none">
                <a:solidFill>
                  <a:srgbClr val="FFFFFF"/>
                </a:solidFill>
                <a:latin typeface="DM Sans"/>
                <a:ea typeface="DM Sans"/>
                <a:cs typeface="DM Sans"/>
                <a:sym typeface="DM Sans"/>
              </a:rPr>
              <a:t> </a:t>
            </a:r>
            <a:r>
              <a:rPr lang="en-US" sz="2415" strike="noStrike" u="none">
                <a:solidFill>
                  <a:srgbClr val="FFFFFF"/>
                </a:solidFill>
                <a:latin typeface="DM Sans"/>
                <a:ea typeface="DM Sans"/>
                <a:cs typeface="DM Sans"/>
                <a:sym typeface="DM Sans"/>
              </a:rPr>
              <a:t>r</a:t>
            </a:r>
            <a:r>
              <a:rPr lang="en-US" sz="2415" strike="noStrike" u="none">
                <a:solidFill>
                  <a:srgbClr val="FFFFFF"/>
                </a:solidFill>
                <a:latin typeface="DM Sans"/>
                <a:ea typeface="DM Sans"/>
                <a:cs typeface="DM Sans"/>
                <a:sym typeface="DM Sans"/>
              </a:rPr>
              <a:t>e</a:t>
            </a:r>
            <a:r>
              <a:rPr lang="en-US" sz="2415" strike="noStrike" u="none">
                <a:solidFill>
                  <a:srgbClr val="FFFFFF"/>
                </a:solidFill>
                <a:latin typeface="DM Sans"/>
                <a:ea typeface="DM Sans"/>
                <a:cs typeface="DM Sans"/>
                <a:sym typeface="DM Sans"/>
              </a:rPr>
              <a:t>cords</a:t>
            </a:r>
            <a:r>
              <a:rPr lang="en-US" sz="2415" strike="noStrike" u="none">
                <a:solidFill>
                  <a:srgbClr val="FFFFFF"/>
                </a:solidFill>
                <a:latin typeface="DM Sans"/>
                <a:ea typeface="DM Sans"/>
                <a:cs typeface="DM Sans"/>
                <a:sym typeface="DM Sans"/>
              </a:rPr>
              <a:t>,</a:t>
            </a:r>
            <a:r>
              <a:rPr lang="en-US" sz="2415" strike="noStrike" u="none">
                <a:solidFill>
                  <a:srgbClr val="FFFFFF"/>
                </a:solidFill>
                <a:latin typeface="DM Sans"/>
                <a:ea typeface="DM Sans"/>
                <a:cs typeface="DM Sans"/>
                <a:sym typeface="DM Sans"/>
              </a:rPr>
              <a:t> </a:t>
            </a:r>
            <a:r>
              <a:rPr lang="en-US" sz="2415" strike="noStrike" u="none">
                <a:solidFill>
                  <a:srgbClr val="FFFFFF"/>
                </a:solidFill>
                <a:latin typeface="DM Sans"/>
                <a:ea typeface="DM Sans"/>
                <a:cs typeface="DM Sans"/>
                <a:sym typeface="DM Sans"/>
              </a:rPr>
              <a:t>it was i</a:t>
            </a:r>
            <a:r>
              <a:rPr lang="en-US" sz="2415">
                <a:solidFill>
                  <a:srgbClr val="FFFFFF"/>
                </a:solidFill>
                <a:latin typeface="DM Sans"/>
                <a:ea typeface="DM Sans"/>
                <a:cs typeface="DM Sans"/>
                <a:sym typeface="DM Sans"/>
              </a:rPr>
              <a:t>dentified that an employee over</a:t>
            </a:r>
            <a:r>
              <a:rPr lang="en-US" sz="2415" strike="noStrike" u="none">
                <a:solidFill>
                  <a:srgbClr val="FFFFFF"/>
                </a:solidFill>
                <a:latin typeface="DM Sans"/>
                <a:ea typeface="DM Sans"/>
                <a:cs typeface="DM Sans"/>
                <a:sym typeface="DM Sans"/>
              </a:rPr>
              <a:t> </a:t>
            </a:r>
            <a:r>
              <a:rPr lang="en-US" sz="2415" strike="noStrike" u="none">
                <a:solidFill>
                  <a:srgbClr val="FFFFFF"/>
                </a:solidFill>
                <a:latin typeface="DM Sans"/>
                <a:ea typeface="DM Sans"/>
                <a:cs typeface="DM Sans"/>
                <a:sym typeface="DM Sans"/>
              </a:rPr>
              <a:t>the age of 50 was incorrectly assigned only</a:t>
            </a:r>
            <a:r>
              <a:rPr lang="en-US" sz="2415" strike="noStrike" u="none">
                <a:solidFill>
                  <a:srgbClr val="FFFFFF"/>
                </a:solidFill>
                <a:latin typeface="DM Sans"/>
                <a:ea typeface="DM Sans"/>
                <a:cs typeface="DM Sans"/>
                <a:sym typeface="DM Sans"/>
              </a:rPr>
              <a:t> </a:t>
            </a:r>
            <a:r>
              <a:rPr lang="en-US" sz="2415" strike="noStrike" u="none">
                <a:solidFill>
                  <a:srgbClr val="FFFFFF"/>
                </a:solidFill>
                <a:latin typeface="DM Sans"/>
                <a:ea typeface="DM Sans"/>
                <a:cs typeface="DM Sans"/>
                <a:sym typeface="DM Sans"/>
              </a:rPr>
              <a:t>21</a:t>
            </a:r>
            <a:r>
              <a:rPr lang="en-US" sz="2415" strike="noStrike" u="none">
                <a:solidFill>
                  <a:srgbClr val="FFFFFF"/>
                </a:solidFill>
                <a:latin typeface="DM Sans"/>
                <a:ea typeface="DM Sans"/>
                <a:cs typeface="DM Sans"/>
                <a:sym typeface="DM Sans"/>
              </a:rPr>
              <a:t> days </a:t>
            </a:r>
            <a:r>
              <a:rPr lang="en-US" sz="2415" strike="noStrike" u="none">
                <a:solidFill>
                  <a:srgbClr val="FFFFFF"/>
                </a:solidFill>
                <a:latin typeface="DM Sans"/>
                <a:ea typeface="DM Sans"/>
                <a:cs typeface="DM Sans"/>
                <a:sym typeface="DM Sans"/>
              </a:rPr>
              <a:t>of paid l</a:t>
            </a:r>
            <a:r>
              <a:rPr lang="en-US" sz="2415" strike="noStrike" u="none">
                <a:solidFill>
                  <a:srgbClr val="FFFFFF"/>
                </a:solidFill>
                <a:latin typeface="DM Sans"/>
                <a:ea typeface="DM Sans"/>
                <a:cs typeface="DM Sans"/>
                <a:sym typeface="DM Sans"/>
              </a:rPr>
              <a:t>e</a:t>
            </a:r>
            <a:r>
              <a:rPr lang="en-US" sz="2415" strike="noStrike" u="none">
                <a:solidFill>
                  <a:srgbClr val="FFFFFF"/>
                </a:solidFill>
                <a:latin typeface="DM Sans"/>
                <a:ea typeface="DM Sans"/>
                <a:cs typeface="DM Sans"/>
                <a:sym typeface="DM Sans"/>
              </a:rPr>
              <a:t>av</a:t>
            </a:r>
            <a:r>
              <a:rPr lang="en-US" sz="2415" strike="noStrike" u="none">
                <a:solidFill>
                  <a:srgbClr val="FFFFFF"/>
                </a:solidFill>
                <a:latin typeface="DM Sans"/>
                <a:ea typeface="DM Sans"/>
                <a:cs typeface="DM Sans"/>
                <a:sym typeface="DM Sans"/>
              </a:rPr>
              <a:t>e </a:t>
            </a:r>
            <a:r>
              <a:rPr lang="en-US" sz="2415" strike="noStrike" u="none">
                <a:solidFill>
                  <a:srgbClr val="FFFFFF"/>
                </a:solidFill>
                <a:latin typeface="DM Sans"/>
                <a:ea typeface="DM Sans"/>
                <a:cs typeface="DM Sans"/>
                <a:sym typeface="DM Sans"/>
              </a:rPr>
              <a:t>i</a:t>
            </a:r>
            <a:r>
              <a:rPr lang="en-US" sz="2415" strike="noStrike" u="none">
                <a:solidFill>
                  <a:srgbClr val="FFFFFF"/>
                </a:solidFill>
                <a:latin typeface="DM Sans"/>
                <a:ea typeface="DM Sans"/>
                <a:cs typeface="DM Sans"/>
                <a:sym typeface="DM Sans"/>
              </a:rPr>
              <a:t>n</a:t>
            </a:r>
            <a:r>
              <a:rPr lang="en-US" sz="2415" strike="noStrike" u="none">
                <a:solidFill>
                  <a:srgbClr val="FFFFFF"/>
                </a:solidFill>
                <a:latin typeface="DM Sans"/>
                <a:ea typeface="DM Sans"/>
                <a:cs typeface="DM Sans"/>
                <a:sym typeface="DM Sans"/>
              </a:rPr>
              <a:t>s</a:t>
            </a:r>
            <a:r>
              <a:rPr lang="en-US" sz="2415" strike="noStrike" u="none">
                <a:solidFill>
                  <a:srgbClr val="FFFFFF"/>
                </a:solidFill>
                <a:latin typeface="DM Sans"/>
                <a:ea typeface="DM Sans"/>
                <a:cs typeface="DM Sans"/>
                <a:sym typeface="DM Sans"/>
              </a:rPr>
              <a:t>te</a:t>
            </a:r>
            <a:r>
              <a:rPr lang="en-US" sz="2415" strike="noStrike" u="none">
                <a:solidFill>
                  <a:srgbClr val="FFFFFF"/>
                </a:solidFill>
                <a:latin typeface="DM Sans"/>
                <a:ea typeface="DM Sans"/>
                <a:cs typeface="DM Sans"/>
                <a:sym typeface="DM Sans"/>
              </a:rPr>
              <a:t>a</a:t>
            </a:r>
            <a:r>
              <a:rPr lang="en-US" sz="2415" strike="noStrike" u="none">
                <a:solidFill>
                  <a:srgbClr val="FFFFFF"/>
                </a:solidFill>
                <a:latin typeface="DM Sans"/>
                <a:ea typeface="DM Sans"/>
                <a:cs typeface="DM Sans"/>
                <a:sym typeface="DM Sans"/>
              </a:rPr>
              <a:t>d </a:t>
            </a:r>
            <a:r>
              <a:rPr lang="en-US" sz="2415" strike="noStrike" u="none">
                <a:solidFill>
                  <a:srgbClr val="FFFFFF"/>
                </a:solidFill>
                <a:latin typeface="DM Sans"/>
                <a:ea typeface="DM Sans"/>
                <a:cs typeface="DM Sans"/>
                <a:sym typeface="DM Sans"/>
              </a:rPr>
              <a:t>o</a:t>
            </a:r>
            <a:r>
              <a:rPr lang="en-US" sz="2415" strike="noStrike" u="none">
                <a:solidFill>
                  <a:srgbClr val="FFFFFF"/>
                </a:solidFill>
                <a:latin typeface="DM Sans"/>
                <a:ea typeface="DM Sans"/>
                <a:cs typeface="DM Sans"/>
                <a:sym typeface="DM Sans"/>
              </a:rPr>
              <a:t>f the entitle</a:t>
            </a:r>
            <a:r>
              <a:rPr lang="en-US" sz="2415" strike="noStrike" u="none">
                <a:solidFill>
                  <a:srgbClr val="FFFFFF"/>
                </a:solidFill>
                <a:latin typeface="DM Sans"/>
                <a:ea typeface="DM Sans"/>
                <a:cs typeface="DM Sans"/>
                <a:sym typeface="DM Sans"/>
              </a:rPr>
              <a:t>d 30 days</a:t>
            </a:r>
            <a:r>
              <a:rPr lang="en-US" sz="2415" strike="noStrike" u="none">
                <a:solidFill>
                  <a:srgbClr val="FFFFFF"/>
                </a:solidFill>
                <a:latin typeface="DM Sans"/>
                <a:ea typeface="DM Sans"/>
                <a:cs typeface="DM Sans"/>
                <a:sym typeface="DM Sans"/>
              </a:rPr>
              <a:t>.</a:t>
            </a:r>
          </a:p>
        </p:txBody>
      </p:sp>
      <p:sp>
        <p:nvSpPr>
          <p:cNvPr name="TextBox 19" id="19"/>
          <p:cNvSpPr txBox="true"/>
          <p:nvPr/>
        </p:nvSpPr>
        <p:spPr>
          <a:xfrm rot="0">
            <a:off x="7396368" y="2879007"/>
            <a:ext cx="2789337" cy="385212"/>
          </a:xfrm>
          <a:prstGeom prst="rect">
            <a:avLst/>
          </a:prstGeom>
        </p:spPr>
        <p:txBody>
          <a:bodyPr anchor="t" rtlCol="false" tIns="0" lIns="0" bIns="0" rIns="0">
            <a:spAutoFit/>
          </a:bodyPr>
          <a:lstStyle/>
          <a:p>
            <a:pPr algn="ctr" marL="0" indent="0" lvl="0">
              <a:lnSpc>
                <a:spcPts val="3195"/>
              </a:lnSpc>
              <a:spcBef>
                <a:spcPct val="0"/>
              </a:spcBef>
            </a:pPr>
            <a:r>
              <a:rPr lang="en-US" b="true" sz="2315" strike="noStrike" u="none">
                <a:solidFill>
                  <a:srgbClr val="FFFFFF"/>
                </a:solidFill>
                <a:latin typeface="DM Sans Bold"/>
                <a:ea typeface="DM Sans Bold"/>
                <a:cs typeface="DM Sans Bold"/>
                <a:sym typeface="DM Sans Bold"/>
              </a:rPr>
              <a:t>DISCOVERED ISSUE:</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67961" y="8098371"/>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sp>
        <p:nvSpPr>
          <p:cNvPr name="Freeform 4" id="4"/>
          <p:cNvSpPr/>
          <p:nvPr/>
        </p:nvSpPr>
        <p:spPr>
          <a:xfrm flipH="false" flipV="false" rot="0">
            <a:off x="6984095" y="8098371"/>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5" id="5"/>
          <p:cNvSpPr/>
          <p:nvPr/>
        </p:nvSpPr>
        <p:spPr>
          <a:xfrm flipH="false" flipV="false" rot="0">
            <a:off x="11703955" y="8098371"/>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grpSp>
        <p:nvGrpSpPr>
          <p:cNvPr name="Group 6" id="6"/>
          <p:cNvGrpSpPr/>
          <p:nvPr/>
        </p:nvGrpSpPr>
        <p:grpSpPr>
          <a:xfrm rot="0">
            <a:off x="2290722" y="3751525"/>
            <a:ext cx="4297048" cy="4206015"/>
            <a:chOff x="0" y="0"/>
            <a:chExt cx="1131733" cy="1107757"/>
          </a:xfrm>
        </p:grpSpPr>
        <p:sp>
          <p:nvSpPr>
            <p:cNvPr name="Freeform 7" id="7"/>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FFFBFB"/>
            </a:solidFill>
            <a:ln w="19050" cap="sq">
              <a:solidFill>
                <a:srgbClr val="FFFFFF"/>
              </a:solidFill>
              <a:prstDash val="solid"/>
              <a:miter/>
            </a:ln>
          </p:spPr>
        </p:sp>
        <p:sp>
          <p:nvSpPr>
            <p:cNvPr name="TextBox 8" id="8"/>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9" id="9"/>
          <p:cNvGrpSpPr/>
          <p:nvPr/>
        </p:nvGrpSpPr>
        <p:grpSpPr>
          <a:xfrm rot="0">
            <a:off x="6993607" y="3751525"/>
            <a:ext cx="4297048" cy="4206015"/>
            <a:chOff x="0" y="0"/>
            <a:chExt cx="1131733" cy="1107757"/>
          </a:xfrm>
        </p:grpSpPr>
        <p:sp>
          <p:nvSpPr>
            <p:cNvPr name="Freeform 10" id="10"/>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FFFBFB"/>
            </a:solidFill>
            <a:ln w="19050" cap="sq">
              <a:solidFill>
                <a:srgbClr val="FFFFFF"/>
              </a:solidFill>
              <a:prstDash val="solid"/>
              <a:miter/>
            </a:ln>
          </p:spPr>
        </p:sp>
        <p:sp>
          <p:nvSpPr>
            <p:cNvPr name="TextBox 11" id="11"/>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12" id="12"/>
          <p:cNvGrpSpPr/>
          <p:nvPr/>
        </p:nvGrpSpPr>
        <p:grpSpPr>
          <a:xfrm rot="0">
            <a:off x="11700230" y="3751525"/>
            <a:ext cx="4297048" cy="4206015"/>
            <a:chOff x="0" y="0"/>
            <a:chExt cx="1131733" cy="1107757"/>
          </a:xfrm>
        </p:grpSpPr>
        <p:sp>
          <p:nvSpPr>
            <p:cNvPr name="Freeform 13" id="13"/>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FFFBFB"/>
            </a:solidFill>
            <a:ln w="19050" cap="sq">
              <a:solidFill>
                <a:srgbClr val="FFFFFF"/>
              </a:solidFill>
              <a:prstDash val="solid"/>
              <a:miter/>
            </a:ln>
          </p:spPr>
        </p:sp>
        <p:sp>
          <p:nvSpPr>
            <p:cNvPr name="TextBox 14" id="14"/>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sp>
        <p:nvSpPr>
          <p:cNvPr name="Freeform 15" id="15"/>
          <p:cNvSpPr/>
          <p:nvPr/>
        </p:nvSpPr>
        <p:spPr>
          <a:xfrm flipH="false" flipV="false" rot="1313163">
            <a:off x="14330817" y="-1655690"/>
            <a:ext cx="9085628" cy="5368780"/>
          </a:xfrm>
          <a:custGeom>
            <a:avLst/>
            <a:gdLst/>
            <a:ahLst/>
            <a:cxnLst/>
            <a:rect r="r" b="b" t="t" l="l"/>
            <a:pathLst>
              <a:path h="5368780" w="9085628">
                <a:moveTo>
                  <a:pt x="0" y="0"/>
                </a:moveTo>
                <a:lnTo>
                  <a:pt x="9085629" y="0"/>
                </a:lnTo>
                <a:lnTo>
                  <a:pt x="9085629" y="5368780"/>
                </a:lnTo>
                <a:lnTo>
                  <a:pt x="0" y="53687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5045356" y="1718581"/>
            <a:ext cx="8197288" cy="1652337"/>
          </a:xfrm>
          <a:prstGeom prst="rect">
            <a:avLst/>
          </a:prstGeom>
        </p:spPr>
        <p:txBody>
          <a:bodyPr anchor="t" rtlCol="false" tIns="0" lIns="0" bIns="0" rIns="0">
            <a:spAutoFit/>
          </a:bodyPr>
          <a:lstStyle/>
          <a:p>
            <a:pPr algn="ctr" marL="0" indent="0" lvl="0">
              <a:lnSpc>
                <a:spcPts val="6451"/>
              </a:lnSpc>
              <a:spcBef>
                <a:spcPct val="0"/>
              </a:spcBef>
            </a:pPr>
            <a:r>
              <a:rPr lang="en-US" b="true" sz="5376">
                <a:solidFill>
                  <a:srgbClr val="FFFFFF"/>
                </a:solidFill>
                <a:latin typeface="Now Bold"/>
                <a:ea typeface="Now Bold"/>
                <a:cs typeface="Now Bold"/>
                <a:sym typeface="Now Bold"/>
              </a:rPr>
              <a:t>RESULTS OF USING ORACLE SYSTEM</a:t>
            </a:r>
          </a:p>
        </p:txBody>
      </p:sp>
      <p:sp>
        <p:nvSpPr>
          <p:cNvPr name="TextBox 17" id="17"/>
          <p:cNvSpPr txBox="true"/>
          <p:nvPr/>
        </p:nvSpPr>
        <p:spPr>
          <a:xfrm rot="0">
            <a:off x="2472462" y="4259356"/>
            <a:ext cx="3876419" cy="2786433"/>
          </a:xfrm>
          <a:prstGeom prst="rect">
            <a:avLst/>
          </a:prstGeom>
        </p:spPr>
        <p:txBody>
          <a:bodyPr anchor="t" rtlCol="false" tIns="0" lIns="0" bIns="0" rIns="0">
            <a:spAutoFit/>
          </a:bodyPr>
          <a:lstStyle/>
          <a:p>
            <a:pPr algn="l" marL="581230" indent="-290615" lvl="1">
              <a:lnSpc>
                <a:spcPts val="3715"/>
              </a:lnSpc>
              <a:spcBef>
                <a:spcPct val="0"/>
              </a:spcBef>
              <a:buFont typeface="Arial"/>
              <a:buChar char="•"/>
            </a:pPr>
            <a:r>
              <a:rPr lang="en-US" b="true" sz="2692" strike="noStrike" u="none">
                <a:solidFill>
                  <a:srgbClr val="051D40"/>
                </a:solidFill>
                <a:latin typeface="DM Sans Bold"/>
                <a:ea typeface="DM Sans Bold"/>
                <a:cs typeface="DM Sans Bold"/>
                <a:sym typeface="DM Sans Bold"/>
              </a:rPr>
              <a:t>Absence types, plans, and eligibility profiles configured. </a:t>
            </a:r>
            <a:r>
              <a:rPr lang="en-US" b="true" sz="2692" strike="noStrike" u="none">
                <a:solidFill>
                  <a:srgbClr val="051D40"/>
                </a:solidFill>
                <a:latin typeface="DM Sans Bold"/>
                <a:ea typeface="DM Sans Bold"/>
                <a:cs typeface="DM Sans Bold"/>
                <a:sym typeface="DM Sans Bold"/>
              </a:rPr>
              <a:t>Approval workflow for leave r</a:t>
            </a:r>
            <a:r>
              <a:rPr lang="en-US" b="true" sz="2692" strike="noStrike" u="none">
                <a:solidFill>
                  <a:srgbClr val="051D40"/>
                </a:solidFill>
                <a:latin typeface="DM Sans Bold"/>
                <a:ea typeface="DM Sans Bold"/>
                <a:cs typeface="DM Sans Bold"/>
                <a:sym typeface="DM Sans Bold"/>
              </a:rPr>
              <a:t>equests set up.</a:t>
            </a:r>
          </a:p>
        </p:txBody>
      </p:sp>
      <p:sp>
        <p:nvSpPr>
          <p:cNvPr name="TextBox 18" id="18"/>
          <p:cNvSpPr txBox="true"/>
          <p:nvPr/>
        </p:nvSpPr>
        <p:spPr>
          <a:xfrm rot="0">
            <a:off x="6831695" y="4259356"/>
            <a:ext cx="4701861" cy="2786433"/>
          </a:xfrm>
          <a:prstGeom prst="rect">
            <a:avLst/>
          </a:prstGeom>
        </p:spPr>
        <p:txBody>
          <a:bodyPr anchor="t" rtlCol="false" tIns="0" lIns="0" bIns="0" rIns="0">
            <a:spAutoFit/>
          </a:bodyPr>
          <a:lstStyle/>
          <a:p>
            <a:pPr algn="l" marL="581230" indent="-290615" lvl="1">
              <a:lnSpc>
                <a:spcPts val="3715"/>
              </a:lnSpc>
              <a:spcBef>
                <a:spcPct val="0"/>
              </a:spcBef>
              <a:buFont typeface="Arial"/>
              <a:buChar char="•"/>
            </a:pPr>
            <a:r>
              <a:rPr lang="en-US" b="true" sz="2692" strike="noStrike" u="none">
                <a:solidFill>
                  <a:srgbClr val="051D40"/>
                </a:solidFill>
                <a:latin typeface="DM Sans Bold"/>
                <a:ea typeface="DM Sans Bold"/>
                <a:cs typeface="DM Sans Bold"/>
                <a:sym typeface="DM Sans Bold"/>
              </a:rPr>
              <a:t>Leave requests processed, approvals managed, leave balances tracked, and leave encashment configured.</a:t>
            </a:r>
          </a:p>
        </p:txBody>
      </p:sp>
      <p:sp>
        <p:nvSpPr>
          <p:cNvPr name="TextBox 19" id="19"/>
          <p:cNvSpPr txBox="true"/>
          <p:nvPr/>
        </p:nvSpPr>
        <p:spPr>
          <a:xfrm rot="0">
            <a:off x="11595455" y="4259356"/>
            <a:ext cx="4297048" cy="3253158"/>
          </a:xfrm>
          <a:prstGeom prst="rect">
            <a:avLst/>
          </a:prstGeom>
        </p:spPr>
        <p:txBody>
          <a:bodyPr anchor="t" rtlCol="false" tIns="0" lIns="0" bIns="0" rIns="0">
            <a:spAutoFit/>
          </a:bodyPr>
          <a:lstStyle/>
          <a:p>
            <a:pPr algn="l" marL="581230" indent="-290615" lvl="1">
              <a:lnSpc>
                <a:spcPts val="3715"/>
              </a:lnSpc>
              <a:spcBef>
                <a:spcPct val="0"/>
              </a:spcBef>
              <a:buFont typeface="Arial"/>
              <a:buChar char="•"/>
            </a:pPr>
            <a:r>
              <a:rPr lang="en-US" b="true" sz="2692" strike="noStrike" u="none">
                <a:solidFill>
                  <a:srgbClr val="051D40"/>
                </a:solidFill>
                <a:latin typeface="DM Sans Bold"/>
                <a:ea typeface="DM Sans Bold"/>
                <a:cs typeface="DM Sans Bold"/>
                <a:sym typeface="DM Sans Bold"/>
              </a:rPr>
              <a:t> Absence reports generated, absence data reconciled with payroll, absence period closed, and internal audit conducted.</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16683520" y="1590911"/>
            <a:ext cx="2651835" cy="2651835"/>
          </a:xfrm>
          <a:custGeom>
            <a:avLst/>
            <a:gdLst/>
            <a:ahLst/>
            <a:cxnLst/>
            <a:rect r="r" b="b" t="t" l="l"/>
            <a:pathLst>
              <a:path h="2651835" w="2651835">
                <a:moveTo>
                  <a:pt x="0" y="0"/>
                </a:moveTo>
                <a:lnTo>
                  <a:pt x="2651835" y="0"/>
                </a:lnTo>
                <a:lnTo>
                  <a:pt x="2651835"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0637321" y="2636321"/>
            <a:ext cx="7650679" cy="7650679"/>
            <a:chOff x="0" y="0"/>
            <a:chExt cx="3331210" cy="3331210"/>
          </a:xfrm>
        </p:grpSpPr>
        <p:sp>
          <p:nvSpPr>
            <p:cNvPr name="Freeform 4" id="4"/>
            <p:cNvSpPr/>
            <p:nvPr/>
          </p:nvSpPr>
          <p:spPr>
            <a:xfrm flipH="false" flipV="false" rot="0">
              <a:off x="0" y="0"/>
              <a:ext cx="3331210" cy="3331210"/>
            </a:xfrm>
            <a:custGeom>
              <a:avLst/>
              <a:gdLst/>
              <a:ahLst/>
              <a:cxnLst/>
              <a:rect r="r" b="b" t="t" l="l"/>
              <a:pathLst>
                <a:path h="3331210" w="3331210">
                  <a:moveTo>
                    <a:pt x="3331210" y="3331210"/>
                  </a:moveTo>
                  <a:lnTo>
                    <a:pt x="0" y="3331210"/>
                  </a:lnTo>
                  <a:cubicBezTo>
                    <a:pt x="0" y="1490980"/>
                    <a:pt x="1490980" y="0"/>
                    <a:pt x="3331210" y="0"/>
                  </a:cubicBezTo>
                  <a:lnTo>
                    <a:pt x="3331210" y="3331210"/>
                  </a:lnTo>
                  <a:close/>
                </a:path>
              </a:pathLst>
            </a:custGeom>
            <a:blipFill>
              <a:blip r:embed="rId4"/>
              <a:stretch>
                <a:fillRect l="-25000" t="0" r="-25000" b="0"/>
              </a:stretch>
            </a:blipFill>
          </p:spPr>
        </p:sp>
      </p:grpSp>
      <p:sp>
        <p:nvSpPr>
          <p:cNvPr name="TextBox 5" id="5"/>
          <p:cNvSpPr txBox="true"/>
          <p:nvPr/>
        </p:nvSpPr>
        <p:spPr>
          <a:xfrm rot="0">
            <a:off x="2529824" y="3434813"/>
            <a:ext cx="6450353" cy="1297002"/>
          </a:xfrm>
          <a:prstGeom prst="rect">
            <a:avLst/>
          </a:prstGeom>
        </p:spPr>
        <p:txBody>
          <a:bodyPr anchor="t" rtlCol="false" tIns="0" lIns="0" bIns="0" rIns="0">
            <a:spAutoFit/>
          </a:bodyPr>
          <a:lstStyle/>
          <a:p>
            <a:pPr algn="l" marL="0" indent="0" lvl="0">
              <a:lnSpc>
                <a:spcPts val="10543"/>
              </a:lnSpc>
            </a:pPr>
            <a:r>
              <a:rPr lang="en-US" b="true" sz="7530" spc="459">
                <a:solidFill>
                  <a:srgbClr val="FFFFFF"/>
                </a:solidFill>
                <a:latin typeface="Now Bold"/>
                <a:ea typeface="Now Bold"/>
                <a:cs typeface="Now Bold"/>
                <a:sym typeface="Now Bold"/>
              </a:rPr>
              <a:t>THANK YOU</a:t>
            </a:r>
          </a:p>
        </p:txBody>
      </p:sp>
      <p:sp>
        <p:nvSpPr>
          <p:cNvPr name="Freeform 6" id="6"/>
          <p:cNvSpPr/>
          <p:nvPr/>
        </p:nvSpPr>
        <p:spPr>
          <a:xfrm flipH="false" flipV="false" rot="0">
            <a:off x="-789475" y="-570381"/>
            <a:ext cx="2651835" cy="2651835"/>
          </a:xfrm>
          <a:custGeom>
            <a:avLst/>
            <a:gdLst/>
            <a:ahLst/>
            <a:cxnLst/>
            <a:rect r="r" b="b" t="t" l="l"/>
            <a:pathLst>
              <a:path h="2651835" w="2651835">
                <a:moveTo>
                  <a:pt x="0" y="0"/>
                </a:moveTo>
                <a:lnTo>
                  <a:pt x="2651836" y="0"/>
                </a:lnTo>
                <a:lnTo>
                  <a:pt x="2651836"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117621" y="5024677"/>
            <a:ext cx="7400779" cy="1825986"/>
          </a:xfrm>
          <a:prstGeom prst="rect">
            <a:avLst/>
          </a:prstGeom>
        </p:spPr>
        <p:txBody>
          <a:bodyPr anchor="t" rtlCol="false" tIns="0" lIns="0" bIns="0" rIns="0">
            <a:spAutoFit/>
          </a:bodyPr>
          <a:lstStyle/>
          <a:p>
            <a:pPr algn="ctr">
              <a:lnSpc>
                <a:spcPts val="3615"/>
              </a:lnSpc>
            </a:pPr>
            <a:r>
              <a:rPr lang="en-US" sz="2869">
                <a:solidFill>
                  <a:srgbClr val="FFFFFF"/>
                </a:solidFill>
                <a:latin typeface="DM Sans"/>
                <a:ea typeface="DM Sans"/>
                <a:cs typeface="DM Sans"/>
                <a:sym typeface="DM Sans"/>
              </a:rPr>
              <a:t> Special Thanks to our instructor who helped us throughout our journey </a:t>
            </a:r>
          </a:p>
          <a:p>
            <a:pPr algn="ctr">
              <a:lnSpc>
                <a:spcPts val="3615"/>
              </a:lnSpc>
            </a:pPr>
          </a:p>
          <a:p>
            <a:pPr algn="ctr">
              <a:lnSpc>
                <a:spcPts val="3615"/>
              </a:lnSpc>
              <a:spcBef>
                <a:spcPct val="0"/>
              </a:spcBef>
            </a:pPr>
            <a:r>
              <a:rPr lang="en-US" sz="2869">
                <a:solidFill>
                  <a:srgbClr val="FFFFFF"/>
                </a:solidFill>
                <a:latin typeface="DM Sans"/>
                <a:ea typeface="DM Sans"/>
                <a:cs typeface="DM Sans"/>
                <a:sym typeface="DM Sans"/>
              </a:rPr>
              <a:t>ENG/ Mohamed Mokhtar</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DAGgnO28T9E</dc:identifier>
  <dcterms:modified xsi:type="dcterms:W3CDTF">2011-08-01T06:04:30Z</dcterms:modified>
  <cp:revision>1</cp:revision>
  <dc:title>Absence Management Project </dc:title>
</cp:coreProperties>
</file>